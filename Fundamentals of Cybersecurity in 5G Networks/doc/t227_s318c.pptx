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79" r:id="rId2"/>
    <p:sldId id="314" r:id="rId3"/>
    <p:sldId id="315" r:id="rId4"/>
    <p:sldId id="317" r:id="rId5"/>
    <p:sldId id="318" r:id="rId6"/>
    <p:sldId id="320" r:id="rId7"/>
    <p:sldId id="321" r:id="rId8"/>
    <p:sldId id="322" r:id="rId9"/>
    <p:sldId id="323" r:id="rId10"/>
    <p:sldId id="324" r:id="rId11"/>
    <p:sldId id="325" r:id="rId12"/>
  </p:sldIdLst>
  <p:sldSz cx="18288000" cy="10287000"/>
  <p:notesSz cx="6858000" cy="9144000"/>
  <p:embeddedFontLst>
    <p:embeddedFont>
      <p:font typeface="Calibri" panose="020F0502020204030204" pitchFamily="34" charset="0"/>
      <p:regular r:id="rId14"/>
      <p:bold r:id="rId15"/>
      <p:italic r:id="rId16"/>
      <p:boldItalic r:id="rId17"/>
    </p:embeddedFont>
    <p:embeddedFont>
      <p:font typeface="Montserrat" panose="00000500000000000000" pitchFamily="2"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5" roundtripDataSignature="AMtx7mgzqELEwXxyZjTYZ7hdgkqMKI7z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9F7"/>
    <a:srgbClr val="FFFFFF"/>
    <a:srgbClr val="3A91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E61ABAF-49AD-4C88-8686-DBCB7EECE15C}">
  <a:tblStyle styleId="{8E61ABAF-49AD-4C88-8686-DBCB7EECE15C}"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FF3E9"/>
          </a:solidFill>
        </a:fill>
      </a:tcStyle>
    </a:wholeTbl>
    <a:band1H>
      <a:tcTxStyle/>
      <a:tcStyle>
        <a:tcBdr/>
        <a:fill>
          <a:solidFill>
            <a:srgbClr val="DEE7D0"/>
          </a:solidFill>
        </a:fill>
      </a:tcStyle>
    </a:band1H>
    <a:band2H>
      <a:tcTxStyle/>
      <a:tcStyle>
        <a:tcBdr/>
      </a:tcStyle>
    </a:band2H>
    <a:band1V>
      <a:tcTxStyle/>
      <a:tcStyle>
        <a:tcBdr/>
        <a:fill>
          <a:solidFill>
            <a:srgbClr val="DEE7D0"/>
          </a:solidFill>
        </a:fill>
      </a:tcStyle>
    </a:band1V>
    <a:band2V>
      <a:tcTxStyle/>
      <a:tcStyle>
        <a:tcBdr/>
      </a:tcStyle>
    </a:band2V>
    <a:lastCol>
      <a:tcTxStyle b="on" i="off">
        <a:font>
          <a:latin typeface="Calibri"/>
          <a:ea typeface="Calibri"/>
          <a:cs typeface="Calibri"/>
        </a:font>
        <a:schemeClr val="lt1"/>
      </a:tcTxStyle>
      <a:tcStyle>
        <a:tcBdr/>
        <a:fill>
          <a:solidFill>
            <a:schemeClr val="accent3"/>
          </a:solidFill>
        </a:fill>
      </a:tcStyle>
    </a:lastCol>
    <a:firstCol>
      <a:tcTxStyle b="on" i="off">
        <a:font>
          <a:latin typeface="Calibri"/>
          <a:ea typeface="Calibri"/>
          <a:cs typeface="Calibri"/>
        </a:font>
        <a:schemeClr val="lt1"/>
      </a:tcTxStyle>
      <a:tcStyle>
        <a:tcBdr/>
        <a:fill>
          <a:solidFill>
            <a:schemeClr val="accent3"/>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3"/>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3"/>
          </a:solidFill>
        </a:fill>
      </a:tcStyle>
    </a:firstRow>
    <a:neCell>
      <a:tcTxStyle/>
      <a:tcStyle>
        <a:tcBdr/>
      </a:tcStyle>
    </a:neCell>
    <a:nwCell>
      <a:tcTxStyle/>
      <a:tcStyle>
        <a:tcBdr/>
      </a:tcStyle>
    </a:nwCell>
  </a:tblStyle>
  <a:tblStyle styleId="{BDBED569-4797-4DF1-A0F4-6AAB3CD982D8}" styleName="Estilo claro 3 - Acento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35758FB7-9AC5-4552-8A53-C91805E547FA}" styleName="Estilo temático 1 - Énfasis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63" autoAdjust="0"/>
    <p:restoredTop sz="53725" autoAdjust="0"/>
  </p:normalViewPr>
  <p:slideViewPr>
    <p:cSldViewPr snapToGrid="0">
      <p:cViewPr varScale="1">
        <p:scale>
          <a:sx n="59" d="100"/>
          <a:sy n="59" d="100"/>
        </p:scale>
        <p:origin x="3124" y="56"/>
      </p:cViewPr>
      <p:guideLst>
        <p:guide orient="horz" pos="2160"/>
        <p:guide pos="2880"/>
      </p:guideLst>
    </p:cSldViewPr>
  </p:slideViewPr>
  <p:notesTextViewPr>
    <p:cViewPr>
      <p:scale>
        <a:sx n="1" d="1"/>
        <a:sy n="1" d="1"/>
      </p:scale>
      <p:origin x="0" y="0"/>
    </p:cViewPr>
  </p:notesTextViewPr>
  <p:notesViewPr>
    <p:cSldViewPr snapToGrid="0">
      <p:cViewPr varScale="1">
        <p:scale>
          <a:sx n="86" d="100"/>
          <a:sy n="86" d="100"/>
        </p:scale>
        <p:origin x="3864"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font" Target="fonts/font2.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4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GB" b="1" dirty="0"/>
              <a:t>Welcome to the third and final part of this Project-Based Learning activity. Up to this point, you have been introduced to the </a:t>
            </a:r>
            <a:r>
              <a:rPr lang="en-GB" b="1" dirty="0" err="1"/>
              <a:t>NeoCity</a:t>
            </a:r>
            <a:r>
              <a:rPr lang="en-GB" b="1" dirty="0"/>
              <a:t> smart traffic signal scenario, and you have performed a structured cybersecurity risk analysis based on a realistic 5G-enabled deployment.</a:t>
            </a:r>
            <a:endParaRPr lang="en-GB" dirty="0"/>
          </a:p>
          <a:p>
            <a:r>
              <a:rPr lang="en-GB" dirty="0"/>
              <a:t>In the first part, you identified the </a:t>
            </a:r>
            <a:r>
              <a:rPr lang="en-GB" b="1" dirty="0"/>
              <a:t>assets</a:t>
            </a:r>
            <a:r>
              <a:rPr lang="en-GB" dirty="0"/>
              <a:t>, the </a:t>
            </a:r>
            <a:r>
              <a:rPr lang="en-GB" b="1" dirty="0"/>
              <a:t>threat actors</a:t>
            </a:r>
            <a:r>
              <a:rPr lang="en-GB" dirty="0"/>
              <a:t>, and the </a:t>
            </a:r>
            <a:r>
              <a:rPr lang="en-GB" b="1" dirty="0"/>
              <a:t>attack surfaces</a:t>
            </a:r>
            <a:r>
              <a:rPr lang="en-GB" dirty="0"/>
              <a:t> around the connected traffic system, especially the services hosted at the </a:t>
            </a:r>
            <a:r>
              <a:rPr lang="en-GB" b="1" dirty="0"/>
              <a:t>MEC</a:t>
            </a:r>
            <a:r>
              <a:rPr lang="en-GB" dirty="0"/>
              <a:t>. You </a:t>
            </a:r>
            <a:r>
              <a:rPr lang="en-GB" dirty="0" err="1"/>
              <a:t>analyzed</a:t>
            </a:r>
            <a:r>
              <a:rPr lang="en-GB" dirty="0"/>
              <a:t> potential risks with a focus on maintaining the </a:t>
            </a:r>
            <a:r>
              <a:rPr lang="en-GB" b="1" dirty="0"/>
              <a:t>availability</a:t>
            </a:r>
            <a:r>
              <a:rPr lang="en-GB" dirty="0"/>
              <a:t> and </a:t>
            </a:r>
            <a:r>
              <a:rPr lang="en-GB" b="1" dirty="0"/>
              <a:t>safety</a:t>
            </a:r>
            <a:r>
              <a:rPr lang="en-GB" dirty="0"/>
              <a:t> of the road infrastructure.</a:t>
            </a:r>
          </a:p>
          <a:p>
            <a:r>
              <a:rPr lang="en-GB" dirty="0"/>
              <a:t>In the second part, you validated that at least one of those threats is </a:t>
            </a:r>
            <a:r>
              <a:rPr lang="en-GB" b="1" dirty="0"/>
              <a:t>practically exploitable</a:t>
            </a:r>
            <a:r>
              <a:rPr lang="en-GB" dirty="0"/>
              <a:t>. You executed a </a:t>
            </a:r>
            <a:r>
              <a:rPr lang="en-GB" b="1" dirty="0"/>
              <a:t>DoS attack</a:t>
            </a:r>
            <a:r>
              <a:rPr lang="en-GB" dirty="0"/>
              <a:t> against the MEC API from a controlled test environment, monitored indicators of service degradation in </a:t>
            </a:r>
            <a:r>
              <a:rPr lang="en-GB" b="1" dirty="0"/>
              <a:t>Grafana</a:t>
            </a:r>
            <a:r>
              <a:rPr lang="en-GB" dirty="0"/>
              <a:t>, and confirmed that </a:t>
            </a:r>
            <a:r>
              <a:rPr lang="en-GB" b="1" dirty="0"/>
              <a:t>Suricata</a:t>
            </a:r>
            <a:r>
              <a:rPr lang="en-GB" dirty="0"/>
              <a:t> was able to detect the malicious activity. You also applied mitigation measures and evaluated their effectiveness by </a:t>
            </a:r>
            <a:r>
              <a:rPr lang="en-GB" dirty="0" err="1"/>
              <a:t>analyzing</a:t>
            </a:r>
            <a:r>
              <a:rPr lang="en-GB" dirty="0"/>
              <a:t> how much </a:t>
            </a:r>
            <a:r>
              <a:rPr lang="en-GB" b="1" dirty="0"/>
              <a:t>residual risk</a:t>
            </a:r>
            <a:r>
              <a:rPr lang="en-GB" dirty="0"/>
              <a:t> remained after the </a:t>
            </a:r>
            <a:r>
              <a:rPr lang="en-GB" dirty="0" err="1"/>
              <a:t>defense</a:t>
            </a:r>
            <a:r>
              <a:rPr lang="en-GB" dirty="0"/>
              <a:t> mechanisms were enabled.</a:t>
            </a:r>
          </a:p>
          <a:p>
            <a:r>
              <a:rPr lang="en-GB" dirty="0"/>
              <a:t>This final section focuses on what happens once you have technical evidence. It is not enough to detect and mitigate attacks. You must also </a:t>
            </a:r>
            <a:r>
              <a:rPr lang="en-GB" b="1" dirty="0"/>
              <a:t>communicate risk</a:t>
            </a:r>
            <a:r>
              <a:rPr lang="en-GB" dirty="0"/>
              <a:t> and support </a:t>
            </a:r>
            <a:r>
              <a:rPr lang="en-GB" b="1" dirty="0"/>
              <a:t>decision-making</a:t>
            </a:r>
            <a:r>
              <a:rPr lang="en-GB" dirty="0"/>
              <a:t> for stakeholders who are responsible for public services and citizen safety. In </a:t>
            </a:r>
            <a:r>
              <a:rPr lang="en-GB" dirty="0" err="1"/>
              <a:t>NeoCity</a:t>
            </a:r>
            <a:r>
              <a:rPr lang="en-GB" dirty="0"/>
              <a:t>, the ultimate goal is to understand whether the system can be deployed in real life </a:t>
            </a:r>
            <a:r>
              <a:rPr lang="en-GB" b="1" dirty="0"/>
              <a:t>safely</a:t>
            </a:r>
            <a:r>
              <a:rPr lang="en-GB" dirty="0"/>
              <a:t> and </a:t>
            </a:r>
            <a:r>
              <a:rPr lang="en-GB" b="1" dirty="0"/>
              <a:t>responsibly</a:t>
            </a:r>
            <a:r>
              <a:rPr lang="en-GB" dirty="0"/>
              <a:t>.</a:t>
            </a:r>
          </a:p>
          <a:p>
            <a:r>
              <a:rPr lang="en-GB" dirty="0"/>
              <a:t>You will now summarize the key findings, present the </a:t>
            </a:r>
            <a:r>
              <a:rPr lang="en-GB" b="1" dirty="0"/>
              <a:t>residual risk</a:t>
            </a:r>
            <a:r>
              <a:rPr lang="en-GB" dirty="0"/>
              <a:t>, define </a:t>
            </a:r>
            <a:r>
              <a:rPr lang="en-GB" b="1" dirty="0"/>
              <a:t>prioritized recommendations</a:t>
            </a:r>
            <a:r>
              <a:rPr lang="en-GB" dirty="0"/>
              <a:t>, and help city decision makers evaluate if the system is ready for operation or if more work needs to be done before going live.”**</a:t>
            </a:r>
          </a:p>
          <a:p>
            <a:endParaRPr lang="en-US" dirty="0"/>
          </a:p>
        </p:txBody>
      </p:sp>
      <p:sp>
        <p:nvSpPr>
          <p:cNvPr id="404" name="Google Shape;404;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GB" dirty="0"/>
              <a:t>In this slide, you take a moment to summarize everything you have achieved so far in the </a:t>
            </a:r>
            <a:r>
              <a:rPr lang="en-GB" dirty="0" err="1"/>
              <a:t>NeoCity</a:t>
            </a:r>
            <a:r>
              <a:rPr lang="en-GB" dirty="0"/>
              <a:t> scenario. You deployed an IDS at the network edge, executed an attack simulation, and confirmed that the MEC API is vulnerable to traffic floods. The idea is to build a clear picture of why the threat you observed matters for the connected traffic system.</a:t>
            </a:r>
          </a:p>
          <a:p>
            <a:r>
              <a:rPr lang="en-GB" dirty="0"/>
              <a:t>The first finding is related to </a:t>
            </a:r>
            <a:r>
              <a:rPr lang="en-GB" b="1" dirty="0"/>
              <a:t>threat detection</a:t>
            </a:r>
            <a:r>
              <a:rPr lang="en-GB" dirty="0"/>
              <a:t>. Suricata successfully identified abnormal traffic patterns during the DoS simulation. You saw alerts in the logs and indicators such as flow emergency mode. This proves that the system has </a:t>
            </a:r>
            <a:r>
              <a:rPr lang="en-GB" b="1" dirty="0"/>
              <a:t>visibility</a:t>
            </a:r>
            <a:r>
              <a:rPr lang="en-GB" dirty="0"/>
              <a:t> over malicious </a:t>
            </a:r>
            <a:r>
              <a:rPr lang="en-GB" dirty="0" err="1"/>
              <a:t>behavior</a:t>
            </a:r>
            <a:r>
              <a:rPr lang="en-GB" dirty="0"/>
              <a:t>.</a:t>
            </a:r>
          </a:p>
          <a:p>
            <a:r>
              <a:rPr lang="en-GB" dirty="0"/>
              <a:t>The second finding highlights the </a:t>
            </a:r>
            <a:r>
              <a:rPr lang="en-GB" b="1" dirty="0"/>
              <a:t>impact on the MEC API</a:t>
            </a:r>
            <a:r>
              <a:rPr lang="en-GB" dirty="0"/>
              <a:t>. The MEC API is essential for coordination between connected vehicles and the traffic infrastructure. If this service slows down or becomes unavailable due to an attack, mobility decisions may be delayed or lost. This means not only degraded system performance but also a potential risk to </a:t>
            </a:r>
            <a:r>
              <a:rPr lang="en-GB" b="1" dirty="0"/>
              <a:t>public safety</a:t>
            </a:r>
            <a:r>
              <a:rPr lang="en-GB" dirty="0"/>
              <a:t> in a real smart-city deployment.</a:t>
            </a:r>
          </a:p>
          <a:p>
            <a:r>
              <a:rPr lang="en-GB" dirty="0"/>
              <a:t>The third finding focuses on </a:t>
            </a:r>
            <a:r>
              <a:rPr lang="en-GB" b="1" dirty="0"/>
              <a:t>risk status</a:t>
            </a:r>
            <a:r>
              <a:rPr lang="en-GB" dirty="0"/>
              <a:t>. While detection is in place, there are still </a:t>
            </a:r>
            <a:r>
              <a:rPr lang="en-GB" b="1" dirty="0"/>
              <a:t>no automated countermeasures</a:t>
            </a:r>
            <a:r>
              <a:rPr lang="en-GB" dirty="0"/>
              <a:t> to contain the attack. That gap allows the threat to escalate quickly. The risk level increases because the system heavily depends on the availability of this single MEC service.</a:t>
            </a:r>
          </a:p>
          <a:p>
            <a:r>
              <a:rPr lang="en-GB" dirty="0"/>
              <a:t>Finally, there is </a:t>
            </a:r>
            <a:r>
              <a:rPr lang="en-GB" b="1" dirty="0"/>
              <a:t>residual risk</a:t>
            </a:r>
            <a:r>
              <a:rPr lang="en-GB" dirty="0"/>
              <a:t>. Even though you can detect the attack and observe the impact, the service can still be disrupted. Without protective measures deployed and validated, </a:t>
            </a:r>
            <a:r>
              <a:rPr lang="en-GB" dirty="0" err="1"/>
              <a:t>NeoCity</a:t>
            </a:r>
            <a:r>
              <a:rPr lang="en-GB" dirty="0"/>
              <a:t> remains exposed.</a:t>
            </a:r>
          </a:p>
          <a:p>
            <a:r>
              <a:rPr lang="en-GB" dirty="0"/>
              <a:t>This summary serves as the bridge into the next step of the activity. You will now examine how to </a:t>
            </a:r>
            <a:r>
              <a:rPr lang="en-GB" b="1" dirty="0"/>
              <a:t>communicate risk</a:t>
            </a:r>
            <a:r>
              <a:rPr lang="en-GB" dirty="0"/>
              <a:t>, how to </a:t>
            </a:r>
            <a:r>
              <a:rPr lang="en-GB" b="1" dirty="0"/>
              <a:t>prioritize mitigation actions</a:t>
            </a:r>
            <a:r>
              <a:rPr lang="en-GB" dirty="0"/>
              <a:t>, and how to support </a:t>
            </a:r>
            <a:r>
              <a:rPr lang="en-GB" b="1" dirty="0"/>
              <a:t>decision-making</a:t>
            </a:r>
            <a:r>
              <a:rPr lang="en-GB" dirty="0"/>
              <a:t> to better protect the smart-traffic infrastructure.</a:t>
            </a:r>
          </a:p>
          <a:p>
            <a:endParaRPr lang="en-US" sz="1200" dirty="0"/>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1282025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GB" dirty="0"/>
              <a:t>In this slide, you focus on </a:t>
            </a:r>
            <a:r>
              <a:rPr lang="en-GB" b="1" dirty="0"/>
              <a:t>how the detected risk</a:t>
            </a:r>
            <a:r>
              <a:rPr lang="en-GB" dirty="0"/>
              <a:t> is communicated to the people responsible for making operational decisions in </a:t>
            </a:r>
            <a:r>
              <a:rPr lang="en-GB" dirty="0" err="1"/>
              <a:t>NeoCity</a:t>
            </a:r>
            <a:r>
              <a:rPr lang="en-GB" dirty="0"/>
              <a:t>. Up to now, you have used </a:t>
            </a:r>
            <a:r>
              <a:rPr lang="en-GB" b="1" dirty="0"/>
              <a:t>Suricata</a:t>
            </a:r>
            <a:r>
              <a:rPr lang="en-GB" dirty="0"/>
              <a:t> and </a:t>
            </a:r>
            <a:r>
              <a:rPr lang="en-GB" b="1" dirty="0"/>
              <a:t>Grafana</a:t>
            </a:r>
            <a:r>
              <a:rPr lang="en-GB" dirty="0"/>
              <a:t> to uncover a security threat affecting a </a:t>
            </a:r>
            <a:r>
              <a:rPr lang="en-GB" b="1" dirty="0"/>
              <a:t>safety-critical edge service</a:t>
            </a:r>
            <a:r>
              <a:rPr lang="en-GB" dirty="0"/>
              <a:t>: the MEC API supporting smart mobility. The next step is ensuring that this information </a:t>
            </a:r>
            <a:r>
              <a:rPr lang="en-GB" b="1" dirty="0"/>
              <a:t>reaches the right stakeholders</a:t>
            </a:r>
            <a:r>
              <a:rPr lang="en-GB" dirty="0"/>
              <a:t>, clearly and quickly enough to enable protection actions.</a:t>
            </a:r>
          </a:p>
          <a:p>
            <a:r>
              <a:rPr lang="en-GB" dirty="0"/>
              <a:t>First, you should be able to </a:t>
            </a:r>
            <a:r>
              <a:rPr lang="en-GB" b="1" dirty="0"/>
              <a:t>communicate security alerts</a:t>
            </a:r>
            <a:r>
              <a:rPr lang="en-GB" dirty="0"/>
              <a:t> in a way that decision makers can understand. Technical messages about SYN flood attempts or flow emergency mode are not easy to interpret if someone does not work in cybersecurity. Good </a:t>
            </a:r>
            <a:r>
              <a:rPr lang="en-GB" b="1" dirty="0"/>
              <a:t>risk communication</a:t>
            </a:r>
            <a:r>
              <a:rPr lang="en-GB" dirty="0"/>
              <a:t> translates these signals into clear statements about </a:t>
            </a:r>
            <a:r>
              <a:rPr lang="en-GB" b="1" dirty="0"/>
              <a:t>service impact</a:t>
            </a:r>
            <a:r>
              <a:rPr lang="en-GB" dirty="0"/>
              <a:t>, such as delays in traffic operations or possible safety concerns.</a:t>
            </a:r>
          </a:p>
          <a:p>
            <a:r>
              <a:rPr lang="en-GB" dirty="0"/>
              <a:t>Second, you must </a:t>
            </a:r>
            <a:r>
              <a:rPr lang="en-GB" b="1" dirty="0"/>
              <a:t>prioritize</a:t>
            </a:r>
            <a:r>
              <a:rPr lang="en-GB" dirty="0"/>
              <a:t> risks related to </a:t>
            </a:r>
            <a:r>
              <a:rPr lang="en-GB" b="1" dirty="0"/>
              <a:t>safety-critical mobility services</a:t>
            </a:r>
            <a:r>
              <a:rPr lang="en-GB" dirty="0"/>
              <a:t>. In </a:t>
            </a:r>
            <a:r>
              <a:rPr lang="en-GB" dirty="0" err="1"/>
              <a:t>NeoCity</a:t>
            </a:r>
            <a:r>
              <a:rPr lang="en-GB" dirty="0"/>
              <a:t>, the MEC platform may support </a:t>
            </a:r>
            <a:r>
              <a:rPr lang="en-GB" b="1" dirty="0"/>
              <a:t>traffic coordination</a:t>
            </a:r>
            <a:r>
              <a:rPr lang="en-GB" dirty="0"/>
              <a:t>, </a:t>
            </a:r>
            <a:r>
              <a:rPr lang="en-GB" b="1" dirty="0"/>
              <a:t>pedestrian warning</a:t>
            </a:r>
            <a:r>
              <a:rPr lang="en-GB" dirty="0"/>
              <a:t>, and </a:t>
            </a:r>
            <a:r>
              <a:rPr lang="en-GB" b="1" dirty="0"/>
              <a:t>emergency routing</a:t>
            </a:r>
            <a:r>
              <a:rPr lang="en-GB" dirty="0"/>
              <a:t>. Any disruption to this service poses a </a:t>
            </a:r>
            <a:r>
              <a:rPr lang="en-GB" b="1" dirty="0"/>
              <a:t>high-impact risk</a:t>
            </a:r>
            <a:r>
              <a:rPr lang="en-GB" dirty="0"/>
              <a:t>, even if the attack itself is relatively simple.</a:t>
            </a:r>
          </a:p>
          <a:p>
            <a:r>
              <a:rPr lang="en-GB" dirty="0"/>
              <a:t>Then, you need to convert </a:t>
            </a:r>
            <a:r>
              <a:rPr lang="en-GB" b="1" dirty="0"/>
              <a:t>technical indicators</a:t>
            </a:r>
            <a:r>
              <a:rPr lang="en-GB" dirty="0"/>
              <a:t> into </a:t>
            </a:r>
            <a:r>
              <a:rPr lang="en-GB" b="1" dirty="0"/>
              <a:t>operational impact</a:t>
            </a:r>
            <a:r>
              <a:rPr lang="en-GB" dirty="0"/>
              <a:t>. Grafana dashboards play an important role here, because they illustrate </a:t>
            </a:r>
            <a:r>
              <a:rPr lang="en-GB" b="1" dirty="0"/>
              <a:t>how traffic changes during abnormal conditions</a:t>
            </a:r>
            <a:r>
              <a:rPr lang="en-GB" dirty="0"/>
              <a:t>. This enables </a:t>
            </a:r>
            <a:r>
              <a:rPr lang="en-GB" b="1" dirty="0"/>
              <a:t>timely decisions</a:t>
            </a:r>
            <a:r>
              <a:rPr lang="en-GB" dirty="0"/>
              <a:t>. When the dashboard shows increasing flow queue or more severe performance degradation, operators can </a:t>
            </a:r>
            <a:r>
              <a:rPr lang="en-GB" b="1" dirty="0"/>
              <a:t>trigger mitigation workflows</a:t>
            </a:r>
            <a:r>
              <a:rPr lang="en-GB" dirty="0"/>
              <a:t> earlier.</a:t>
            </a:r>
          </a:p>
          <a:p>
            <a:r>
              <a:rPr lang="en-GB" dirty="0"/>
              <a:t>Finally, </a:t>
            </a:r>
            <a:r>
              <a:rPr lang="en-GB" b="1" dirty="0"/>
              <a:t>residual risk</a:t>
            </a:r>
            <a:r>
              <a:rPr lang="en-GB" dirty="0"/>
              <a:t> must be explained. Even after detection, protection and validation are pending. Stakeholders must know that the system </a:t>
            </a:r>
            <a:r>
              <a:rPr lang="en-GB" b="1" dirty="0"/>
              <a:t>is still vulnerable</a:t>
            </a:r>
            <a:r>
              <a:rPr lang="en-GB" dirty="0"/>
              <a:t> until countermeasures are deployed and tested.</a:t>
            </a:r>
          </a:p>
          <a:p>
            <a:r>
              <a:rPr lang="en-GB" dirty="0"/>
              <a:t>Overall, this communication ensures that the right message reaches the right people at the right time. It creates a </a:t>
            </a:r>
            <a:r>
              <a:rPr lang="en-GB" b="1" dirty="0"/>
              <a:t>bridge</a:t>
            </a:r>
            <a:r>
              <a:rPr lang="en-GB" dirty="0"/>
              <a:t> between cybersecurity monitoring and </a:t>
            </a:r>
            <a:r>
              <a:rPr lang="en-GB" b="1" dirty="0"/>
              <a:t>smart-city operational safety</a:t>
            </a:r>
            <a:r>
              <a:rPr lang="en-GB" dirty="0"/>
              <a:t>, allowing </a:t>
            </a:r>
            <a:r>
              <a:rPr lang="en-GB" dirty="0" err="1"/>
              <a:t>NeoCity</a:t>
            </a:r>
            <a:r>
              <a:rPr lang="en-GB" dirty="0"/>
              <a:t> to decide effectively </a:t>
            </a:r>
            <a:r>
              <a:rPr lang="en-GB" b="1" dirty="0"/>
              <a:t>how to react</a:t>
            </a:r>
            <a:r>
              <a:rPr lang="en-GB" dirty="0"/>
              <a:t> to the detected threat.</a:t>
            </a:r>
          </a:p>
          <a:p>
            <a:endParaRPr lang="en-US" sz="1200" dirty="0"/>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21787869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GB" dirty="0"/>
              <a:t>In this slide, you explore how </a:t>
            </a:r>
            <a:r>
              <a:rPr lang="en-GB" b="1" dirty="0"/>
              <a:t>residual risk</a:t>
            </a:r>
            <a:r>
              <a:rPr lang="en-GB" dirty="0"/>
              <a:t> is monitored after a cybersecurity alert has already been detected and communicated. Suricata and Grafana give you visibility of abnormal traffic, but until the threat is mitigated, a level of risk persists that can still impact the mobility and safety services in </a:t>
            </a:r>
            <a:r>
              <a:rPr lang="en-GB" dirty="0" err="1"/>
              <a:t>NeoCity</a:t>
            </a:r>
            <a:r>
              <a:rPr lang="en-GB" dirty="0"/>
              <a:t>. That is why the monitoring phase is essential for supporting continuous operational awareness.</a:t>
            </a:r>
          </a:p>
          <a:p>
            <a:r>
              <a:rPr lang="en-GB" dirty="0"/>
              <a:t>You track how </a:t>
            </a:r>
            <a:r>
              <a:rPr lang="en-GB" b="1" dirty="0"/>
              <a:t>risk evolves over time</a:t>
            </a:r>
            <a:r>
              <a:rPr lang="en-GB" dirty="0"/>
              <a:t>. Even if the initial alert does not cause a service failure, traffic patterns may intensify and lead to performance degradation. Here, you focus on metrics that translate technical anomalies into operational impact. Examples include request timeouts, slowdown in API response times, or a decline in traffic signal update success rate. These are all direct indicators that a threat is transitioning from a technical event into a </a:t>
            </a:r>
            <a:r>
              <a:rPr lang="en-GB" b="1" dirty="0"/>
              <a:t>safety-critical issue</a:t>
            </a:r>
            <a:r>
              <a:rPr lang="en-GB" dirty="0"/>
              <a:t>.</a:t>
            </a:r>
          </a:p>
          <a:p>
            <a:r>
              <a:rPr lang="en-GB" dirty="0"/>
              <a:t>Residual risk monitoring enables decision triggers. You define </a:t>
            </a:r>
            <a:r>
              <a:rPr lang="en-GB" b="1" dirty="0"/>
              <a:t>thresholds</a:t>
            </a:r>
            <a:r>
              <a:rPr lang="en-GB" dirty="0"/>
              <a:t> that determine when action is required. Below the first threshold, the risk remains acceptable. When the system crosses into the warning zone, operators should prepare mitigation actions. If the risk enters a </a:t>
            </a:r>
            <a:r>
              <a:rPr lang="en-GB" b="1" dirty="0"/>
              <a:t>critical range</a:t>
            </a:r>
            <a:r>
              <a:rPr lang="en-GB" dirty="0"/>
              <a:t>, it becomes necessary to escalate and involve decision authorities that have the mandate to modify service </a:t>
            </a:r>
            <a:r>
              <a:rPr lang="en-GB" dirty="0" err="1"/>
              <a:t>behavior</a:t>
            </a:r>
            <a:r>
              <a:rPr lang="en-GB" dirty="0"/>
              <a:t>, such as enforcing traffic control policies or applying network protections.</a:t>
            </a:r>
          </a:p>
          <a:p>
            <a:r>
              <a:rPr lang="en-GB" dirty="0"/>
              <a:t>You also want to ensure </a:t>
            </a:r>
            <a:r>
              <a:rPr lang="en-GB" b="1" dirty="0"/>
              <a:t>timely decisions</a:t>
            </a:r>
            <a:r>
              <a:rPr lang="en-GB" dirty="0"/>
              <a:t> that reflect the urgency. In a connected traffic scenario, delays in responding to increasing risk can result in accidents, congestion, and loss of trust in smart city infrastructure.</a:t>
            </a:r>
          </a:p>
          <a:p>
            <a:r>
              <a:rPr lang="en-GB" dirty="0"/>
              <a:t>So the goal of this slide is to show that risk does not stop evolving after the alert. You need to monitor it, understand what triggers action, and who has the authority to approve each decision.</a:t>
            </a:r>
          </a:p>
          <a:p>
            <a:endParaRPr lang="en-US" sz="1200" dirty="0"/>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27157621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GB" dirty="0"/>
              <a:t>In this slide, you learn how </a:t>
            </a:r>
            <a:r>
              <a:rPr lang="en-GB" b="1" dirty="0"/>
              <a:t>rate limiting</a:t>
            </a:r>
            <a:r>
              <a:rPr lang="en-GB" dirty="0"/>
              <a:t> can be used to protect the </a:t>
            </a:r>
            <a:r>
              <a:rPr lang="en-GB" b="1" dirty="0"/>
              <a:t>MEC API</a:t>
            </a:r>
            <a:r>
              <a:rPr lang="en-GB" dirty="0"/>
              <a:t> from the kind of flooding attacks that you observed in </a:t>
            </a:r>
            <a:r>
              <a:rPr lang="en-GB" dirty="0" err="1"/>
              <a:t>NeoCity</a:t>
            </a:r>
            <a:r>
              <a:rPr lang="en-GB" dirty="0"/>
              <a:t>. The idea is simple: when abnormal traffic volumes are detected, you want to </a:t>
            </a:r>
            <a:r>
              <a:rPr lang="en-GB" b="1" dirty="0"/>
              <a:t>control excessive traffic</a:t>
            </a:r>
            <a:r>
              <a:rPr lang="en-GB" dirty="0"/>
              <a:t> before it overwhelms the edge service. Rate limiting acts as a </a:t>
            </a:r>
            <a:r>
              <a:rPr lang="en-GB" b="1" dirty="0"/>
              <a:t>buffer</a:t>
            </a:r>
            <a:r>
              <a:rPr lang="en-GB" dirty="0"/>
              <a:t> that prevents malicious or unintended load from consuming all available resources.</a:t>
            </a:r>
          </a:p>
          <a:p>
            <a:r>
              <a:rPr lang="en-GB" dirty="0"/>
              <a:t>There are </a:t>
            </a:r>
            <a:r>
              <a:rPr lang="en-GB" b="1" dirty="0"/>
              <a:t>two layers</a:t>
            </a:r>
            <a:r>
              <a:rPr lang="en-GB" dirty="0"/>
              <a:t> where rate limiting can be applied, and each brings different benefits in terms of </a:t>
            </a:r>
            <a:r>
              <a:rPr lang="en-GB" b="1" dirty="0"/>
              <a:t>performance</a:t>
            </a:r>
            <a:r>
              <a:rPr lang="en-GB" dirty="0"/>
              <a:t> and </a:t>
            </a:r>
            <a:r>
              <a:rPr lang="en-GB" b="1" dirty="0"/>
              <a:t>visibility</a:t>
            </a:r>
            <a:r>
              <a:rPr lang="en-GB" dirty="0"/>
              <a:t>.</a:t>
            </a:r>
          </a:p>
          <a:p>
            <a:r>
              <a:rPr lang="en-GB" dirty="0"/>
              <a:t>On the </a:t>
            </a:r>
            <a:r>
              <a:rPr lang="en-GB" b="1" dirty="0"/>
              <a:t>left</a:t>
            </a:r>
            <a:r>
              <a:rPr lang="en-GB" dirty="0"/>
              <a:t>, we have </a:t>
            </a:r>
            <a:r>
              <a:rPr lang="en-GB" b="1" dirty="0"/>
              <a:t>Network-level rate limiting</a:t>
            </a:r>
            <a:r>
              <a:rPr lang="en-GB" dirty="0"/>
              <a:t>. This is typically implemented on routers, firewalls, or edge infrastructure. It works at the TCP or UDP flow level, meaning it focuses on </a:t>
            </a:r>
            <a:r>
              <a:rPr lang="en-GB" b="1" dirty="0"/>
              <a:t>connections</a:t>
            </a:r>
            <a:r>
              <a:rPr lang="en-GB" dirty="0"/>
              <a:t> rather than </a:t>
            </a:r>
            <a:r>
              <a:rPr lang="en-GB" b="1" dirty="0"/>
              <a:t>application logic</a:t>
            </a:r>
            <a:r>
              <a:rPr lang="en-GB" dirty="0"/>
              <a:t>. Because it operates earlier in the path, it can stop </a:t>
            </a:r>
            <a:r>
              <a:rPr lang="en-GB" b="1" dirty="0"/>
              <a:t>high-rate DoS traffic</a:t>
            </a:r>
            <a:r>
              <a:rPr lang="en-GB" dirty="0"/>
              <a:t> very efficiently, especially low-cost attacks like SYN floods. It has a </a:t>
            </a:r>
            <a:r>
              <a:rPr lang="en-GB" b="1" dirty="0"/>
              <a:t>low processing overhead</a:t>
            </a:r>
            <a:r>
              <a:rPr lang="en-GB" dirty="0"/>
              <a:t>, so it scales well. However, it lacks </a:t>
            </a:r>
            <a:r>
              <a:rPr lang="en-GB" b="1" dirty="0"/>
              <a:t>context</a:t>
            </a:r>
            <a:r>
              <a:rPr lang="en-GB" dirty="0"/>
              <a:t>: the network layer does not know whether a flow is legitimate or part of an API misuse scenario.</a:t>
            </a:r>
          </a:p>
          <a:p>
            <a:r>
              <a:rPr lang="en-GB" dirty="0"/>
              <a:t>On the </a:t>
            </a:r>
            <a:r>
              <a:rPr lang="en-GB" b="1" dirty="0"/>
              <a:t>right</a:t>
            </a:r>
            <a:r>
              <a:rPr lang="en-GB" dirty="0"/>
              <a:t>, you see </a:t>
            </a:r>
            <a:r>
              <a:rPr lang="en-GB" b="1" dirty="0"/>
              <a:t>API Gateway rate limiting</a:t>
            </a:r>
            <a:r>
              <a:rPr lang="en-GB" dirty="0"/>
              <a:t>. This operates at the </a:t>
            </a:r>
            <a:r>
              <a:rPr lang="en-GB" b="1" dirty="0"/>
              <a:t>application layer</a:t>
            </a:r>
            <a:r>
              <a:rPr lang="en-GB" dirty="0"/>
              <a:t>, so it understands </a:t>
            </a:r>
            <a:r>
              <a:rPr lang="en-GB" b="1" dirty="0"/>
              <a:t>API requests</a:t>
            </a:r>
            <a:r>
              <a:rPr lang="en-GB" dirty="0"/>
              <a:t>, user identities, tokens, and sessions. That provides </a:t>
            </a:r>
            <a:r>
              <a:rPr lang="en-GB" b="1" dirty="0"/>
              <a:t>fine-grained control</a:t>
            </a:r>
            <a:r>
              <a:rPr lang="en-GB" dirty="0"/>
              <a:t>, making it great for stopping </a:t>
            </a:r>
            <a:r>
              <a:rPr lang="en-GB" b="1" dirty="0"/>
              <a:t>credential abuse</a:t>
            </a:r>
            <a:r>
              <a:rPr lang="en-GB" dirty="0"/>
              <a:t>, repeated unauthorized access attempts, or bot-based API misuse. The trade-off is </a:t>
            </a:r>
            <a:r>
              <a:rPr lang="en-GB" b="1" dirty="0"/>
              <a:t>higher processing cost</a:t>
            </a:r>
            <a:r>
              <a:rPr lang="en-GB" dirty="0"/>
              <a:t> and potential added </a:t>
            </a:r>
            <a:r>
              <a:rPr lang="en-GB" b="1" dirty="0"/>
              <a:t>latency</a:t>
            </a:r>
            <a:r>
              <a:rPr lang="en-GB" dirty="0"/>
              <a:t>, because every request must be inspected.</a:t>
            </a:r>
          </a:p>
          <a:p>
            <a:r>
              <a:rPr lang="en-GB" dirty="0"/>
              <a:t>The key message for you is that rate limiting should be applied </a:t>
            </a:r>
            <a:r>
              <a:rPr lang="en-GB" b="1" dirty="0"/>
              <a:t>close to the point of overload</a:t>
            </a:r>
            <a:r>
              <a:rPr lang="en-GB" dirty="0"/>
              <a:t>, and the selection depends on what threat you want to mitigate. If the traffic volume is enormous, go network-level. If the attack targets business logic, go API-level. In many real deployments, both are used </a:t>
            </a:r>
            <a:r>
              <a:rPr lang="en-GB" b="1" dirty="0"/>
              <a:t>together</a:t>
            </a:r>
            <a:r>
              <a:rPr lang="en-GB" dirty="0"/>
              <a:t>, forming a </a:t>
            </a:r>
            <a:r>
              <a:rPr lang="en-GB" b="1" dirty="0"/>
              <a:t>layered </a:t>
            </a:r>
            <a:r>
              <a:rPr lang="en-GB" b="1" dirty="0" err="1"/>
              <a:t>defense</a:t>
            </a:r>
            <a:r>
              <a:rPr lang="en-GB" dirty="0"/>
              <a:t> that improves service continuity and reduces </a:t>
            </a:r>
            <a:r>
              <a:rPr lang="en-GB" b="1" dirty="0"/>
              <a:t>residual risk</a:t>
            </a:r>
            <a:r>
              <a:rPr lang="en-GB" dirty="0"/>
              <a:t> for the connected mobility services in </a:t>
            </a:r>
            <a:r>
              <a:rPr lang="en-GB" dirty="0" err="1"/>
              <a:t>NeoCity</a:t>
            </a:r>
            <a:r>
              <a:rPr lang="en-GB" dirty="0"/>
              <a:t>.</a:t>
            </a:r>
          </a:p>
          <a:p>
            <a:endParaRPr lang="en-US" sz="1200" dirty="0"/>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15339139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GB" dirty="0"/>
              <a:t>Now, we focus on source-based blocking as a practical mitigation strategy in </a:t>
            </a:r>
            <a:r>
              <a:rPr lang="en-GB" dirty="0" err="1"/>
              <a:t>NeoCity</a:t>
            </a:r>
            <a:r>
              <a:rPr lang="en-GB" dirty="0"/>
              <a:t>. Once Suricata identifies suspicious or malicious </a:t>
            </a:r>
            <a:r>
              <a:rPr lang="en-GB" dirty="0" err="1"/>
              <a:t>behavior</a:t>
            </a:r>
            <a:r>
              <a:rPr lang="en-GB" dirty="0"/>
              <a:t>, for example, a pattern of repeated flooding attempts, the next step is to decide what we enforce against the origin of that traffic.</a:t>
            </a:r>
          </a:p>
          <a:p>
            <a:r>
              <a:rPr lang="en-GB" dirty="0"/>
              <a:t>Source blocking means we apply filtering rules at the network perimeter or edge components, such as the MEC-hosting firewall or SDN switch. You monitor where the malicious packets are coming from and </a:t>
            </a:r>
            <a:r>
              <a:rPr lang="en-GB" b="1" dirty="0"/>
              <a:t>block that communication path</a:t>
            </a:r>
            <a:r>
              <a:rPr lang="en-GB" dirty="0"/>
              <a:t>, so the attacker cannot continue stressing the MEC API infrastructure.</a:t>
            </a:r>
          </a:p>
          <a:p>
            <a:r>
              <a:rPr lang="en-GB" dirty="0"/>
              <a:t>This mitigation option is </a:t>
            </a:r>
            <a:r>
              <a:rPr lang="en-GB" b="1" dirty="0"/>
              <a:t>fast to deploy</a:t>
            </a:r>
            <a:r>
              <a:rPr lang="en-GB" dirty="0"/>
              <a:t> because it relies on simple and robust rules: deny an IP, a subnet, or a set of known malicious ports. So if the threat is persistent and originates from a small number of visible sources, blocking is a very effective way to reduce impact immediately.</a:t>
            </a:r>
          </a:p>
          <a:p>
            <a:r>
              <a:rPr lang="en-GB" dirty="0"/>
              <a:t>The visual on the slide illustrates the logic. First, </a:t>
            </a:r>
            <a:r>
              <a:rPr lang="en-GB" b="1" dirty="0"/>
              <a:t>identify the Source</a:t>
            </a:r>
            <a:r>
              <a:rPr lang="en-GB" dirty="0"/>
              <a:t>: differentiate between legitimate traffic and traffic coming from the attacker. Second, </a:t>
            </a:r>
            <a:r>
              <a:rPr lang="en-GB" b="1" dirty="0"/>
              <a:t>Apply Firewall Rules</a:t>
            </a:r>
            <a:r>
              <a:rPr lang="en-GB" dirty="0"/>
              <a:t>: enforce edge-level filtering that drops malicious requests while continuing to allow legitimate ones. Finally, </a:t>
            </a:r>
            <a:r>
              <a:rPr lang="en-GB" b="1" dirty="0"/>
              <a:t>Protect MEC API</a:t>
            </a:r>
            <a:r>
              <a:rPr lang="en-GB" dirty="0"/>
              <a:t>: ensure that only authorized and safe requests reach the critical service.</a:t>
            </a:r>
          </a:p>
          <a:p>
            <a:r>
              <a:rPr lang="en-GB" dirty="0"/>
              <a:t>This approach is a great containment measure, but it comes with caution. Attackers can spoof or rotate IP addresses. So while source blocking works well against static threats or poorly equipped adversaries, it may not be enough against sophisticated attackers who frequently change identity or come from large botnets.</a:t>
            </a:r>
          </a:p>
          <a:p>
            <a:r>
              <a:rPr lang="en-GB" dirty="0"/>
              <a:t>What source blocking offers is an </a:t>
            </a:r>
            <a:r>
              <a:rPr lang="en-GB" b="1" dirty="0"/>
              <a:t>operational win</a:t>
            </a:r>
            <a:r>
              <a:rPr lang="en-GB" dirty="0"/>
              <a:t>: we buy ourselves time, reduce the immediate damage, and allow the system to keep functioning while broader protective measures are deployed. In a real </a:t>
            </a:r>
            <a:r>
              <a:rPr lang="en-GB" dirty="0" err="1"/>
              <a:t>NeoCity</a:t>
            </a:r>
            <a:r>
              <a:rPr lang="en-GB" dirty="0"/>
              <a:t> context, traffic operators want something fast, simple, and reliable, and this option checks those boxes.</a:t>
            </a:r>
          </a:p>
          <a:p>
            <a:endParaRPr lang="en-US" sz="1200" dirty="0"/>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2286356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GB" dirty="0"/>
              <a:t>This mitigation focuses on taking Suricata beyond its role as a monitoring and alerting tool. Instead of simply detecting malicious traffic and notifying operators, we can configure Suricata to actively </a:t>
            </a:r>
            <a:r>
              <a:rPr lang="en-GB" b="1" dirty="0"/>
              <a:t>drop</a:t>
            </a:r>
            <a:r>
              <a:rPr lang="en-GB" dirty="0"/>
              <a:t> attack traffic in-line. That means packets are blocked the moment they match a rule, preventing them from ever reaching the MEC API.</a:t>
            </a:r>
          </a:p>
          <a:p>
            <a:r>
              <a:rPr lang="en-GB" dirty="0"/>
              <a:t>The main advantage here is </a:t>
            </a:r>
            <a:r>
              <a:rPr lang="en-GB" b="1" dirty="0"/>
              <a:t>single-tool automation</a:t>
            </a:r>
            <a:r>
              <a:rPr lang="en-GB" dirty="0"/>
              <a:t>. Suricata already sees the traffic and identifies anomalies; it now becomes the enforcement point too. That eliminates the delay between detection and reaction, which is crucial in a fast-moving attack scenario.</a:t>
            </a:r>
          </a:p>
          <a:p>
            <a:r>
              <a:rPr lang="en-GB" dirty="0"/>
              <a:t>This approach also helps when </a:t>
            </a:r>
            <a:r>
              <a:rPr lang="en-GB" b="1" dirty="0"/>
              <a:t>source identities change</a:t>
            </a:r>
            <a:r>
              <a:rPr lang="en-GB" dirty="0"/>
              <a:t>, such as in botnet-based floods. Since dropping is triggered by </a:t>
            </a:r>
            <a:r>
              <a:rPr lang="en-GB" dirty="0" err="1"/>
              <a:t>behavior</a:t>
            </a:r>
            <a:r>
              <a:rPr lang="en-GB" dirty="0"/>
              <a:t> rather than origin, attackers cannot bypass protection simply by changing IP addresses.</a:t>
            </a:r>
          </a:p>
          <a:p>
            <a:r>
              <a:rPr lang="en-GB" dirty="0"/>
              <a:t>However, there are important considerations. Suricata’s detection accuracy determines performance: a poorly-written rule can </a:t>
            </a:r>
            <a:r>
              <a:rPr lang="en-GB" b="1" dirty="0"/>
              <a:t>drop legitimate traffic</a:t>
            </a:r>
            <a:r>
              <a:rPr lang="en-GB" dirty="0"/>
              <a:t> and disrupt services. And during very high-rate attacks, rule matching adds </a:t>
            </a:r>
            <a:r>
              <a:rPr lang="en-GB" b="1" dirty="0"/>
              <a:t>computational load</a:t>
            </a:r>
            <a:r>
              <a:rPr lang="en-GB" dirty="0"/>
              <a:t>, which could stress edge nodes if not properly tuned.</a:t>
            </a:r>
          </a:p>
          <a:p>
            <a:r>
              <a:rPr lang="en-GB" dirty="0"/>
              <a:t>The takeaway for </a:t>
            </a:r>
            <a:r>
              <a:rPr lang="en-GB" dirty="0" err="1"/>
              <a:t>NeoCity</a:t>
            </a:r>
            <a:r>
              <a:rPr lang="en-GB" dirty="0"/>
              <a:t> is that Suricata drop rules provide </a:t>
            </a:r>
            <a:r>
              <a:rPr lang="en-GB" b="1" dirty="0"/>
              <a:t>excellent precision</a:t>
            </a:r>
            <a:r>
              <a:rPr lang="en-GB" dirty="0"/>
              <a:t> and near-instant reaction, making them a strong option, especially if the threat evolves or remains unpredictable. Operators must ensure that rules are continuously updated and validated to avoid unintended service degradation.</a:t>
            </a:r>
          </a:p>
          <a:p>
            <a:endParaRPr lang="en-US" sz="1200" dirty="0"/>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9953126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GB" dirty="0"/>
              <a:t>Operational App Freeze means that instead of trying to block the incoming attack traffic, we temporarily </a:t>
            </a:r>
            <a:r>
              <a:rPr lang="en-GB" b="1" dirty="0"/>
              <a:t>limit what the MEC API is allowed to serve</a:t>
            </a:r>
            <a:r>
              <a:rPr lang="en-GB" dirty="0"/>
              <a:t>. This mitigation works by prioritizing critical capabilities and pausing anything optional or resource-intensive.</a:t>
            </a:r>
          </a:p>
          <a:p>
            <a:r>
              <a:rPr lang="en-GB" dirty="0"/>
              <a:t>This approach is often used in safety-critical environments such as </a:t>
            </a:r>
            <a:r>
              <a:rPr lang="en-GB" dirty="0" err="1"/>
              <a:t>NeoCity’s</a:t>
            </a:r>
            <a:r>
              <a:rPr lang="en-GB" dirty="0"/>
              <a:t> </a:t>
            </a:r>
            <a:r>
              <a:rPr lang="en-GB" b="1" dirty="0"/>
              <a:t>traffic mobility services</a:t>
            </a:r>
            <a:r>
              <a:rPr lang="en-GB" dirty="0"/>
              <a:t>. For example, while under attack, the system could continue providing traffic signal coordination and congestion safety alerts, while temporarily suspending data-heavy features like analytics or non-urgent control services.</a:t>
            </a:r>
          </a:p>
          <a:p>
            <a:r>
              <a:rPr lang="en-GB" dirty="0"/>
              <a:t>The benefits are focused on </a:t>
            </a:r>
            <a:r>
              <a:rPr lang="en-GB" b="1" dirty="0"/>
              <a:t>resilience</a:t>
            </a:r>
            <a:r>
              <a:rPr lang="en-GB" dirty="0"/>
              <a:t>: the service doesn’t crash, and essential operations continue even if the API is being hammered. It also gives engineers time to </a:t>
            </a:r>
            <a:r>
              <a:rPr lang="en-GB" dirty="0" err="1"/>
              <a:t>analyze</a:t>
            </a:r>
            <a:r>
              <a:rPr lang="en-GB" dirty="0"/>
              <a:t> the threat and adjust protections without losing availability where it matters most.</a:t>
            </a:r>
          </a:p>
          <a:p>
            <a:r>
              <a:rPr lang="en-GB" dirty="0"/>
              <a:t>However, it is not a primary protection method in itself. Attack traffic still arrives, it’s just that the system decides to </a:t>
            </a:r>
            <a:r>
              <a:rPr lang="en-GB" b="1" dirty="0"/>
              <a:t>do less</a:t>
            </a:r>
            <a:r>
              <a:rPr lang="en-GB" dirty="0"/>
              <a:t> to stay alive. This also means attackers may </a:t>
            </a:r>
            <a:r>
              <a:rPr lang="en-GB" b="1" dirty="0"/>
              <a:t>intentionally push the system into freeze mode</a:t>
            </a:r>
            <a:r>
              <a:rPr lang="en-GB" dirty="0"/>
              <a:t> to degrade user service quality.</a:t>
            </a:r>
          </a:p>
          <a:p>
            <a:r>
              <a:rPr lang="en-GB" dirty="0"/>
              <a:t>So, the message for </a:t>
            </a:r>
            <a:r>
              <a:rPr lang="en-GB" dirty="0" err="1"/>
              <a:t>NeoCity</a:t>
            </a:r>
            <a:r>
              <a:rPr lang="en-GB" dirty="0"/>
              <a:t>: operational freeze acts as a </a:t>
            </a:r>
            <a:r>
              <a:rPr lang="en-GB" b="1" dirty="0"/>
              <a:t>short-term safety net</a:t>
            </a:r>
            <a:r>
              <a:rPr lang="en-GB" dirty="0"/>
              <a:t>. It doesn’t solve the cyber threat but prevents cascading failures that could disrupt smart city mobility infrastructure. It works best when combined with detection and enforcement methods like those we saw in previous slides.</a:t>
            </a:r>
          </a:p>
          <a:p>
            <a:endParaRPr lang="en-US" sz="1200" dirty="0"/>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787432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GB" dirty="0"/>
              <a:t>On this slide, you can see a structured comparison of all four mitigation strategies we studied. The idea is to support a decision that is not subjective but grounded in clear operational needs of </a:t>
            </a:r>
            <a:r>
              <a:rPr lang="en-GB" dirty="0" err="1"/>
              <a:t>NeoCity</a:t>
            </a:r>
            <a:r>
              <a:rPr lang="en-GB" dirty="0"/>
              <a:t>.</a:t>
            </a:r>
          </a:p>
          <a:p>
            <a:r>
              <a:rPr lang="en-GB" dirty="0"/>
              <a:t>We evaluated each option using four criteria:</a:t>
            </a:r>
          </a:p>
          <a:p>
            <a:pPr>
              <a:buAutoNum type="arabicParenR"/>
            </a:pPr>
            <a:r>
              <a:rPr lang="en-GB" b="1" dirty="0"/>
              <a:t>Threat Handling Capability:</a:t>
            </a:r>
            <a:r>
              <a:rPr lang="en-GB" dirty="0"/>
              <a:t> How well does the method stop malicious traffic?</a:t>
            </a:r>
          </a:p>
          <a:p>
            <a:pPr>
              <a:buAutoNum type="arabicParenR"/>
            </a:pPr>
            <a:r>
              <a:rPr lang="en-GB" b="1" dirty="0"/>
              <a:t>Service Continuity: </a:t>
            </a:r>
            <a:r>
              <a:rPr lang="en-GB" dirty="0"/>
              <a:t> Does the city mobility service remain available?</a:t>
            </a:r>
          </a:p>
          <a:p>
            <a:pPr>
              <a:buAutoNum type="arabicParenR"/>
            </a:pPr>
            <a:r>
              <a:rPr lang="en-GB" b="1" dirty="0"/>
              <a:t>Deployment Feasibility:</a:t>
            </a:r>
            <a:r>
              <a:rPr lang="en-GB" dirty="0"/>
              <a:t> Can we implement it quickly with the assets already deployed?</a:t>
            </a:r>
          </a:p>
          <a:p>
            <a:pPr>
              <a:buAutoNum type="arabicParenR"/>
            </a:pPr>
            <a:r>
              <a:rPr lang="en-GB" b="1" dirty="0"/>
              <a:t>Fit for MEC Edge Context:</a:t>
            </a:r>
            <a:r>
              <a:rPr lang="en-GB" dirty="0"/>
              <a:t> Does it work effectively close to users?</a:t>
            </a:r>
          </a:p>
          <a:p>
            <a:r>
              <a:rPr lang="en-GB" dirty="0"/>
              <a:t>Each criterion has a different </a:t>
            </a:r>
            <a:r>
              <a:rPr lang="en-GB" b="1" dirty="0"/>
              <a:t>weight</a:t>
            </a:r>
            <a:r>
              <a:rPr lang="en-GB" dirty="0"/>
              <a:t> based on the priority in public-safety mobility systems:</a:t>
            </a:r>
          </a:p>
          <a:p>
            <a:pPr>
              <a:buFont typeface="Arial" panose="020B0604020202020204" pitchFamily="34" charset="0"/>
              <a:buChar char="•"/>
            </a:pPr>
            <a:r>
              <a:rPr lang="en-GB" b="1" dirty="0"/>
              <a:t>Handling the attack</a:t>
            </a:r>
            <a:r>
              <a:rPr lang="en-GB" dirty="0"/>
              <a:t> and </a:t>
            </a:r>
            <a:r>
              <a:rPr lang="en-GB" b="1" dirty="0"/>
              <a:t>staying online</a:t>
            </a:r>
            <a:r>
              <a:rPr lang="en-GB" dirty="0"/>
              <a:t> are top priorities</a:t>
            </a:r>
          </a:p>
          <a:p>
            <a:pPr>
              <a:buFont typeface="Arial" panose="020B0604020202020204" pitchFamily="34" charset="0"/>
              <a:buChar char="•"/>
            </a:pPr>
            <a:r>
              <a:rPr lang="en-GB" dirty="0"/>
              <a:t>Deployment requirements and complexity matter, but slightly less</a:t>
            </a:r>
          </a:p>
          <a:p>
            <a:r>
              <a:rPr lang="en-GB" dirty="0"/>
              <a:t>When applying both qualitative and weighted scoring models:</a:t>
            </a:r>
          </a:p>
          <a:p>
            <a:r>
              <a:rPr lang="en-GB" b="1" dirty="0"/>
              <a:t>Option C (Suricata Drop Rules)</a:t>
            </a:r>
            <a:r>
              <a:rPr lang="en-GB" dirty="0"/>
              <a:t> ranks highest</a:t>
            </a:r>
            <a:br>
              <a:rPr lang="en-GB" dirty="0"/>
            </a:br>
            <a:r>
              <a:rPr lang="en-GB" dirty="0"/>
              <a:t>because it delivers strong protective action </a:t>
            </a:r>
            <a:r>
              <a:rPr lang="en-GB" b="1" dirty="0"/>
              <a:t>without stopping legitimate traffic</a:t>
            </a:r>
            <a:r>
              <a:rPr lang="en-GB" dirty="0"/>
              <a:t> and </a:t>
            </a:r>
            <a:r>
              <a:rPr lang="en-GB" b="1" dirty="0"/>
              <a:t>leverages the existing Suricata deployment</a:t>
            </a:r>
            <a:r>
              <a:rPr lang="en-GB" dirty="0"/>
              <a:t>.</a:t>
            </a:r>
          </a:p>
          <a:p>
            <a:r>
              <a:rPr lang="en-GB" dirty="0"/>
              <a:t>Option A (API Rate-Limiting) is not far behind and would be a good </a:t>
            </a:r>
            <a:r>
              <a:rPr lang="en-GB" b="1" dirty="0"/>
              <a:t>complement</a:t>
            </a:r>
            <a:r>
              <a:rPr lang="en-GB" dirty="0"/>
              <a:t>, especially for flood resilience.</a:t>
            </a:r>
          </a:p>
          <a:p>
            <a:r>
              <a:rPr lang="en-GB" dirty="0"/>
              <a:t>Options B and D help in specific cases but are either too disruptive or too complex for first deployment.</a:t>
            </a:r>
          </a:p>
          <a:p>
            <a:r>
              <a:rPr lang="en-GB" dirty="0"/>
              <a:t>This prepares us for the </a:t>
            </a:r>
            <a:r>
              <a:rPr lang="en-GB" b="1" dirty="0"/>
              <a:t>final decision</a:t>
            </a:r>
            <a:r>
              <a:rPr lang="en-GB" dirty="0"/>
              <a:t> on our mitigation plan.</a:t>
            </a:r>
          </a:p>
          <a:p>
            <a:endParaRPr lang="en-US" sz="1200" dirty="0"/>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22349908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GB" dirty="0"/>
              <a:t>Now that we have compared the options, we can justify a final mitigation decision for the </a:t>
            </a:r>
            <a:r>
              <a:rPr lang="en-GB" dirty="0" err="1"/>
              <a:t>NeoCity</a:t>
            </a:r>
            <a:r>
              <a:rPr lang="en-GB" dirty="0"/>
              <a:t> scenario.</a:t>
            </a:r>
          </a:p>
          <a:p>
            <a:r>
              <a:rPr lang="en-GB" dirty="0"/>
              <a:t>The recommended </a:t>
            </a:r>
            <a:r>
              <a:rPr lang="en-GB" dirty="0" err="1"/>
              <a:t>defense</a:t>
            </a:r>
            <a:r>
              <a:rPr lang="en-GB" dirty="0"/>
              <a:t> follows a </a:t>
            </a:r>
            <a:r>
              <a:rPr lang="en-GB" b="1" dirty="0"/>
              <a:t>layered security approach</a:t>
            </a:r>
            <a:r>
              <a:rPr lang="en-GB" dirty="0"/>
              <a:t>, which is a standard in critical infrastructures:</a:t>
            </a:r>
          </a:p>
          <a:p>
            <a:r>
              <a:rPr lang="en-GB" b="1" dirty="0"/>
              <a:t>1. Suricata Active Drop Rules</a:t>
            </a:r>
            <a:br>
              <a:rPr lang="en-GB" dirty="0"/>
            </a:br>
            <a:r>
              <a:rPr lang="en-GB" dirty="0"/>
              <a:t>Suricata is already deployed and detecting the threat.</a:t>
            </a:r>
            <a:br>
              <a:rPr lang="en-GB" dirty="0"/>
            </a:br>
            <a:r>
              <a:rPr lang="en-GB" dirty="0"/>
              <a:t>By enabling drop rules, you go from purely monitoring to </a:t>
            </a:r>
            <a:r>
              <a:rPr lang="en-GB" b="1" dirty="0"/>
              <a:t>active mitigation</a:t>
            </a:r>
            <a:r>
              <a:rPr lang="en-GB" dirty="0"/>
              <a:t>.</a:t>
            </a:r>
            <a:br>
              <a:rPr lang="en-GB" dirty="0"/>
            </a:br>
            <a:r>
              <a:rPr lang="en-GB" dirty="0"/>
              <a:t>Suspicious packets are discarded before they overload the MEC API.</a:t>
            </a:r>
            <a:br>
              <a:rPr lang="en-GB" dirty="0"/>
            </a:br>
            <a:r>
              <a:rPr lang="en-GB" dirty="0"/>
              <a:t>This keeps malicious floods from consuming resources and degrading service quality.</a:t>
            </a:r>
          </a:p>
          <a:p>
            <a:r>
              <a:rPr lang="en-GB" b="1" dirty="0"/>
              <a:t>2. API Rate-Limiting</a:t>
            </a:r>
            <a:br>
              <a:rPr lang="en-GB" dirty="0"/>
            </a:br>
            <a:r>
              <a:rPr lang="en-GB" dirty="0"/>
              <a:t>This acts as a </a:t>
            </a:r>
            <a:r>
              <a:rPr lang="en-GB" b="1" dirty="0"/>
              <a:t>backup control</a:t>
            </a:r>
            <a:r>
              <a:rPr lang="en-GB" dirty="0"/>
              <a:t> when request volume spikes.</a:t>
            </a:r>
            <a:br>
              <a:rPr lang="en-GB" dirty="0"/>
            </a:br>
            <a:r>
              <a:rPr lang="en-GB" dirty="0"/>
              <a:t>If abnormal traffic still reaches the MEC service, the gateway responds by prioritizing legitimate users.</a:t>
            </a:r>
            <a:br>
              <a:rPr lang="en-GB" dirty="0"/>
            </a:br>
            <a:r>
              <a:rPr lang="en-GB" dirty="0"/>
              <a:t>This allows emergency vehicles and mobility automation to continue operating safely.</a:t>
            </a:r>
          </a:p>
          <a:p>
            <a:r>
              <a:rPr lang="en-GB" dirty="0"/>
              <a:t>Together, these two measures give you both </a:t>
            </a:r>
            <a:r>
              <a:rPr lang="en-GB" b="1" dirty="0"/>
              <a:t>speed</a:t>
            </a:r>
            <a:r>
              <a:rPr lang="en-GB" dirty="0"/>
              <a:t> and </a:t>
            </a:r>
            <a:r>
              <a:rPr lang="en-GB" b="1" dirty="0"/>
              <a:t>resilience</a:t>
            </a:r>
            <a:r>
              <a:rPr lang="en-GB" dirty="0"/>
              <a:t>:</a:t>
            </a:r>
          </a:p>
          <a:p>
            <a:pPr>
              <a:buFont typeface="Arial" panose="020B0604020202020204" pitchFamily="34" charset="0"/>
              <a:buChar char="•"/>
            </a:pPr>
            <a:r>
              <a:rPr lang="en-GB" dirty="0"/>
              <a:t>Suricata handles the attack directly at the network edge</a:t>
            </a:r>
          </a:p>
          <a:p>
            <a:pPr>
              <a:buFont typeface="Arial" panose="020B0604020202020204" pitchFamily="34" charset="0"/>
              <a:buChar char="•"/>
            </a:pPr>
            <a:r>
              <a:rPr lang="en-GB" dirty="0"/>
              <a:t>API rate-limiting protects the application logic and preserves availability</a:t>
            </a:r>
          </a:p>
          <a:p>
            <a:r>
              <a:rPr lang="en-GB" dirty="0" err="1"/>
              <a:t>NeoCity</a:t>
            </a:r>
            <a:r>
              <a:rPr lang="en-GB" dirty="0"/>
              <a:t> benefits immediately because:</a:t>
            </a:r>
          </a:p>
          <a:p>
            <a:r>
              <a:rPr lang="en-GB" dirty="0"/>
              <a:t>✓ No additional hardware required</a:t>
            </a:r>
          </a:p>
          <a:p>
            <a:r>
              <a:rPr lang="en-GB" dirty="0"/>
              <a:t>✓ Fast to deploy with existing security stack</a:t>
            </a:r>
          </a:p>
          <a:p>
            <a:r>
              <a:rPr lang="en-GB" dirty="0"/>
              <a:t>✓ Minimal disruption to legitimate users</a:t>
            </a:r>
          </a:p>
          <a:p>
            <a:r>
              <a:rPr lang="en-GB" dirty="0"/>
              <a:t>✓ Supports ongoing risk monitoring and alerts</a:t>
            </a:r>
          </a:p>
          <a:p>
            <a:r>
              <a:rPr lang="en-GB" dirty="0"/>
              <a:t>This concludes the </a:t>
            </a:r>
            <a:r>
              <a:rPr lang="en-GB" b="1" dirty="0"/>
              <a:t>risk mitigation</a:t>
            </a:r>
            <a:r>
              <a:rPr lang="en-GB" dirty="0"/>
              <a:t> phase and transitions into </a:t>
            </a:r>
            <a:r>
              <a:rPr lang="en-GB" b="1" dirty="0"/>
              <a:t>risk governance, </a:t>
            </a:r>
            <a:r>
              <a:rPr lang="en-GB" dirty="0"/>
              <a:t>confirming the protection works and communicating the outcome to city decision makers.</a:t>
            </a:r>
          </a:p>
          <a:p>
            <a:r>
              <a:rPr lang="en-GB" dirty="0"/>
              <a:t>We are now ready for a final wrap-up slide summarizing the </a:t>
            </a:r>
            <a:r>
              <a:rPr lang="en-GB" b="1" dirty="0"/>
              <a:t>learning outcomes</a:t>
            </a:r>
            <a:r>
              <a:rPr lang="en-GB" dirty="0"/>
              <a:t> from the whole Part 3.</a:t>
            </a:r>
          </a:p>
          <a:p>
            <a:endParaRPr lang="en-US" sz="1200" dirty="0"/>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6897365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GB" dirty="0"/>
              <a:t>This slide brings together what you have achieved throughout Part 3 and why it matters for a real smart-city deployment like </a:t>
            </a:r>
            <a:r>
              <a:rPr lang="en-GB" dirty="0" err="1"/>
              <a:t>NeoCity</a:t>
            </a:r>
            <a:r>
              <a:rPr lang="en-GB" dirty="0"/>
              <a:t>.</a:t>
            </a:r>
          </a:p>
          <a:p>
            <a:r>
              <a:rPr lang="en-GB" dirty="0"/>
              <a:t>You started by building on the technical findings already discovered: a denial-of-service attack could disrupt the </a:t>
            </a:r>
            <a:r>
              <a:rPr lang="en-GB" b="1" dirty="0"/>
              <a:t>MEC API</a:t>
            </a:r>
            <a:r>
              <a:rPr lang="en-GB" dirty="0"/>
              <a:t> that helps control connected traffic signals. Instead of stopping at detection, you investigated how to communicate </a:t>
            </a:r>
            <a:r>
              <a:rPr lang="en-GB" b="1" dirty="0"/>
              <a:t>risk and operational impact</a:t>
            </a:r>
            <a:r>
              <a:rPr lang="en-GB" dirty="0"/>
              <a:t> to the people who need to make decisions.</a:t>
            </a:r>
          </a:p>
          <a:p>
            <a:r>
              <a:rPr lang="en-GB" dirty="0"/>
              <a:t>Then, you evaluated several </a:t>
            </a:r>
            <a:r>
              <a:rPr lang="en-GB" b="1" dirty="0"/>
              <a:t>mitigation strategies</a:t>
            </a:r>
            <a:r>
              <a:rPr lang="en-GB" dirty="0"/>
              <a:t>, not simply on technical merit, but based on their contribution to </a:t>
            </a:r>
            <a:r>
              <a:rPr lang="en-GB" b="1" dirty="0"/>
              <a:t>public safety</a:t>
            </a:r>
            <a:r>
              <a:rPr lang="en-GB" dirty="0"/>
              <a:t>, </a:t>
            </a:r>
            <a:r>
              <a:rPr lang="en-GB" b="1" dirty="0"/>
              <a:t>availability</a:t>
            </a:r>
            <a:r>
              <a:rPr lang="en-GB" dirty="0"/>
              <a:t>, and </a:t>
            </a:r>
            <a:r>
              <a:rPr lang="en-GB" b="1" dirty="0"/>
              <a:t>deployment feasibility</a:t>
            </a:r>
            <a:r>
              <a:rPr lang="en-GB" dirty="0"/>
              <a:t>. You compared </a:t>
            </a:r>
            <a:r>
              <a:rPr lang="en-GB" dirty="0" err="1"/>
              <a:t>defense</a:t>
            </a:r>
            <a:r>
              <a:rPr lang="en-GB" dirty="0"/>
              <a:t> options using a structured decision matrix, which allowed you to choose the solution that keeps the smart traffic system functioning even under adverse conditions.</a:t>
            </a:r>
          </a:p>
          <a:p>
            <a:r>
              <a:rPr lang="en-GB" dirty="0"/>
              <a:t>The final result is a </a:t>
            </a:r>
            <a:r>
              <a:rPr lang="en-GB" b="1" dirty="0"/>
              <a:t>layered </a:t>
            </a:r>
            <a:r>
              <a:rPr lang="en-GB" b="1" dirty="0" err="1"/>
              <a:t>defense</a:t>
            </a:r>
            <a:r>
              <a:rPr lang="en-GB" b="1" dirty="0"/>
              <a:t> strategy</a:t>
            </a:r>
            <a:r>
              <a:rPr lang="en-GB" dirty="0"/>
              <a:t>. Suricata Active Drop Rules stop malicious traffic early and quickly. API Rate-Limiting ensures that even if some attack traffic reaches the MEC service, legitimate users get priority. Together, they reduce </a:t>
            </a:r>
            <a:r>
              <a:rPr lang="en-GB" b="1" dirty="0"/>
              <a:t>residual risk</a:t>
            </a:r>
            <a:r>
              <a:rPr lang="en-GB" dirty="0"/>
              <a:t> and support </a:t>
            </a:r>
            <a:r>
              <a:rPr lang="en-GB" b="1" dirty="0"/>
              <a:t>continuous operation</a:t>
            </a:r>
            <a:r>
              <a:rPr lang="en-GB" dirty="0"/>
              <a:t> of critical mobility services.</a:t>
            </a:r>
          </a:p>
          <a:p>
            <a:r>
              <a:rPr lang="en-GB" dirty="0"/>
              <a:t>From the </a:t>
            </a:r>
            <a:r>
              <a:rPr lang="en-GB" dirty="0" err="1"/>
              <a:t>NeoCity</a:t>
            </a:r>
            <a:r>
              <a:rPr lang="en-GB" dirty="0"/>
              <a:t> perspective, this means that smart mobility infrastructure becomes more resilient to cyber attacks. Citizens and vehicles can continue moving safely, and emergency response remains possible during an incident.</a:t>
            </a:r>
          </a:p>
          <a:p>
            <a:r>
              <a:rPr lang="en-GB" dirty="0"/>
              <a:t>From your learning perspective, you have now followed the </a:t>
            </a:r>
            <a:r>
              <a:rPr lang="en-GB" b="1" dirty="0"/>
              <a:t>full operational cybersecurity lifecycle</a:t>
            </a:r>
            <a:r>
              <a:rPr lang="en-GB" dirty="0"/>
              <a:t>:</a:t>
            </a:r>
            <a:br>
              <a:rPr lang="en-GB" dirty="0"/>
            </a:br>
            <a:r>
              <a:rPr lang="en-GB" dirty="0"/>
              <a:t>detect the issue, monitor the impact, communicate the risk, and </a:t>
            </a:r>
            <a:r>
              <a:rPr lang="en-GB" b="1" dirty="0"/>
              <a:t>support a justified decision</a:t>
            </a:r>
            <a:r>
              <a:rPr lang="en-GB" dirty="0"/>
              <a:t> to protect a real system.</a:t>
            </a:r>
          </a:p>
          <a:p>
            <a:r>
              <a:rPr lang="en-GB" dirty="0"/>
              <a:t>You have connected </a:t>
            </a:r>
            <a:r>
              <a:rPr lang="en-GB" b="1" dirty="0"/>
              <a:t>cybersecurity analysis</a:t>
            </a:r>
            <a:r>
              <a:rPr lang="en-GB" dirty="0"/>
              <a:t> to </a:t>
            </a:r>
            <a:r>
              <a:rPr lang="en-GB" b="1" dirty="0"/>
              <a:t>smart-city safety</a:t>
            </a:r>
            <a:r>
              <a:rPr lang="en-GB" dirty="0"/>
              <a:t>, which is at the core of this PBL experience.</a:t>
            </a:r>
          </a:p>
          <a:p>
            <a:endParaRPr lang="en-US" sz="1200" dirty="0"/>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923589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39"/>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9"/>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2" name="Google Shape;22;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4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8" name="Google Shape;28;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41"/>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41"/>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4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42"/>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42"/>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4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43"/>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43"/>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43"/>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43"/>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45"/>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45"/>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45"/>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4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4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46"/>
          <p:cNvSpPr>
            <a:spLocks noGrp="1"/>
          </p:cNvSpPr>
          <p:nvPr>
            <p:ph type="pic" idx="2"/>
          </p:nvPr>
        </p:nvSpPr>
        <p:spPr>
          <a:xfrm>
            <a:off x="1792288" y="612775"/>
            <a:ext cx="5486400" cy="4114800"/>
          </a:xfrm>
          <a:prstGeom prst="rect">
            <a:avLst/>
          </a:prstGeom>
          <a:noFill/>
          <a:ln>
            <a:noFill/>
          </a:ln>
        </p:spPr>
      </p:sp>
      <p:sp>
        <p:nvSpPr>
          <p:cNvPr id="68" name="Google Shape;68;p4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4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47"/>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48"/>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8"/>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24"/>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5" b="-38883"/>
            </a:stretch>
          </a:blipFill>
          <a:ln>
            <a:noFill/>
          </a:ln>
        </p:spPr>
      </p:sp>
      <p:grpSp>
        <p:nvGrpSpPr>
          <p:cNvPr id="407" name="Google Shape;407;p24"/>
          <p:cNvGrpSpPr/>
          <p:nvPr/>
        </p:nvGrpSpPr>
        <p:grpSpPr>
          <a:xfrm>
            <a:off x="10359108" y="1951543"/>
            <a:ext cx="4893340" cy="1552148"/>
            <a:chOff x="0" y="-38100"/>
            <a:chExt cx="1288781" cy="408796"/>
          </a:xfrm>
        </p:grpSpPr>
        <p:sp>
          <p:nvSpPr>
            <p:cNvPr id="408" name="Google Shape;408;p24"/>
            <p:cNvSpPr/>
            <p:nvPr/>
          </p:nvSpPr>
          <p:spPr>
            <a:xfrm>
              <a:off x="0" y="0"/>
              <a:ext cx="1288781" cy="370696"/>
            </a:xfrm>
            <a:custGeom>
              <a:avLst/>
              <a:gdLst/>
              <a:ahLst/>
              <a:cxnLst/>
              <a:rect l="l" t="t" r="r" b="b"/>
              <a:pathLst>
                <a:path w="1288781" h="370696" extrusionOk="0">
                  <a:moveTo>
                    <a:pt x="80689" y="0"/>
                  </a:moveTo>
                  <a:lnTo>
                    <a:pt x="1208092" y="0"/>
                  </a:lnTo>
                  <a:cubicBezTo>
                    <a:pt x="1252655" y="0"/>
                    <a:pt x="1288781" y="36126"/>
                    <a:pt x="1288781" y="80689"/>
                  </a:cubicBezTo>
                  <a:lnTo>
                    <a:pt x="1288781" y="290007"/>
                  </a:lnTo>
                  <a:cubicBezTo>
                    <a:pt x="1288781" y="334570"/>
                    <a:pt x="1252655" y="370696"/>
                    <a:pt x="1208092" y="370696"/>
                  </a:cubicBezTo>
                  <a:lnTo>
                    <a:pt x="80689" y="370696"/>
                  </a:lnTo>
                  <a:cubicBezTo>
                    <a:pt x="59289" y="370696"/>
                    <a:pt x="38765" y="362195"/>
                    <a:pt x="23633" y="347063"/>
                  </a:cubicBezTo>
                  <a:cubicBezTo>
                    <a:pt x="8501" y="331931"/>
                    <a:pt x="0" y="311407"/>
                    <a:pt x="0" y="290007"/>
                  </a:cubicBezTo>
                  <a:lnTo>
                    <a:pt x="0" y="80689"/>
                  </a:lnTo>
                  <a:cubicBezTo>
                    <a:pt x="0" y="59289"/>
                    <a:pt x="8501" y="38765"/>
                    <a:pt x="23633" y="23633"/>
                  </a:cubicBezTo>
                  <a:cubicBezTo>
                    <a:pt x="38765" y="8501"/>
                    <a:pt x="59289" y="0"/>
                    <a:pt x="806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4"/>
            <p:cNvSpPr txBox="1"/>
            <p:nvPr/>
          </p:nvSpPr>
          <p:spPr>
            <a:xfrm>
              <a:off x="0" y="-38100"/>
              <a:ext cx="1288781" cy="408796"/>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10" name="Google Shape;410;p24"/>
          <p:cNvSpPr/>
          <p:nvPr/>
        </p:nvSpPr>
        <p:spPr>
          <a:xfrm>
            <a:off x="10513853" y="2290412"/>
            <a:ext cx="4560703" cy="1016657"/>
          </a:xfrm>
          <a:custGeom>
            <a:avLst/>
            <a:gdLst/>
            <a:ahLst/>
            <a:cxnLst/>
            <a:rect l="l" t="t" r="r" b="b"/>
            <a:pathLst>
              <a:path w="4560703" h="1016657" extrusionOk="0">
                <a:moveTo>
                  <a:pt x="0" y="0"/>
                </a:moveTo>
                <a:lnTo>
                  <a:pt x="4560703" y="0"/>
                </a:lnTo>
                <a:lnTo>
                  <a:pt x="4560703" y="1016657"/>
                </a:lnTo>
                <a:lnTo>
                  <a:pt x="0" y="1016657"/>
                </a:lnTo>
                <a:lnTo>
                  <a:pt x="0" y="0"/>
                </a:lnTo>
                <a:close/>
              </a:path>
            </a:pathLst>
          </a:custGeom>
          <a:blipFill rotWithShape="1">
            <a:blip r:embed="rId4">
              <a:alphaModFix/>
            </a:blip>
            <a:stretch>
              <a:fillRect/>
            </a:stretch>
          </a:blipFill>
          <a:ln>
            <a:noFill/>
          </a:ln>
        </p:spPr>
      </p:sp>
      <p:sp>
        <p:nvSpPr>
          <p:cNvPr id="411" name="Google Shape;411;p24"/>
          <p:cNvSpPr/>
          <p:nvPr/>
        </p:nvSpPr>
        <p:spPr>
          <a:xfrm>
            <a:off x="341364" y="725233"/>
            <a:ext cx="8802636" cy="3774130"/>
          </a:xfrm>
          <a:custGeom>
            <a:avLst/>
            <a:gdLst/>
            <a:ahLst/>
            <a:cxnLst/>
            <a:rect l="l" t="t" r="r" b="b"/>
            <a:pathLst>
              <a:path w="8802636" h="3774130" extrusionOk="0">
                <a:moveTo>
                  <a:pt x="0" y="0"/>
                </a:moveTo>
                <a:lnTo>
                  <a:pt x="8802636" y="0"/>
                </a:lnTo>
                <a:lnTo>
                  <a:pt x="8802636" y="3774131"/>
                </a:lnTo>
                <a:lnTo>
                  <a:pt x="0" y="3774131"/>
                </a:lnTo>
                <a:lnTo>
                  <a:pt x="0" y="0"/>
                </a:lnTo>
                <a:close/>
              </a:path>
            </a:pathLst>
          </a:custGeom>
          <a:blipFill rotWithShape="1">
            <a:blip r:embed="rId5">
              <a:alphaModFix/>
            </a:blip>
            <a:stretch>
              <a:fillRect l="-440" r="-439"/>
            </a:stretch>
          </a:blipFill>
          <a:ln>
            <a:noFill/>
          </a:ln>
        </p:spPr>
      </p:sp>
      <p:sp>
        <p:nvSpPr>
          <p:cNvPr id="412" name="Google Shape;412;p24"/>
          <p:cNvSpPr txBox="1"/>
          <p:nvPr/>
        </p:nvSpPr>
        <p:spPr>
          <a:xfrm>
            <a:off x="9139238" y="4749165"/>
            <a:ext cx="9525" cy="1455420"/>
          </a:xfrm>
          <a:prstGeom prst="rect">
            <a:avLst/>
          </a:prstGeom>
          <a:noFill/>
          <a:ln>
            <a:noFill/>
          </a:ln>
        </p:spPr>
        <p:txBody>
          <a:bodyPr spcFirstLastPara="1" wrap="square" lIns="0" tIns="0" rIns="0" bIns="0" anchor="t" anchorCtr="0">
            <a:spAutoFit/>
          </a:bodyPr>
          <a:lstStyle/>
          <a:p>
            <a:pPr marL="0" marR="0" lvl="0" indent="0" algn="ctr" rtl="0">
              <a:lnSpc>
                <a:spcPct val="326666"/>
              </a:lnSpc>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ctr" rtl="0">
              <a:lnSpc>
                <a:spcPct val="32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3" name="Google Shape;413;p24"/>
          <p:cNvSpPr txBox="1"/>
          <p:nvPr/>
        </p:nvSpPr>
        <p:spPr>
          <a:xfrm>
            <a:off x="1828800" y="5771095"/>
            <a:ext cx="15678147" cy="4343240"/>
          </a:xfrm>
          <a:prstGeom prst="rect">
            <a:avLst/>
          </a:prstGeom>
          <a:noFill/>
          <a:ln>
            <a:noFill/>
          </a:ln>
        </p:spPr>
        <p:txBody>
          <a:bodyPr spcFirstLastPara="1" wrap="square" lIns="0" tIns="0" rIns="0" bIns="0" anchor="t" anchorCtr="0">
            <a:spAutoFit/>
          </a:bodyPr>
          <a:lstStyle/>
          <a:p>
            <a:pPr marL="0" marR="0" lvl="0" indent="0" algn="l" rtl="0">
              <a:lnSpc>
                <a:spcPct val="251750"/>
              </a:lnSpc>
              <a:spcBef>
                <a:spcPts val="0"/>
              </a:spcBef>
              <a:spcAft>
                <a:spcPts val="0"/>
              </a:spcAft>
              <a:buNone/>
            </a:pPr>
            <a:r>
              <a:rPr lang="en-US" sz="2800" b="1" i="0" u="none" strike="noStrike" cap="none" dirty="0">
                <a:solidFill>
                  <a:srgbClr val="333333"/>
                </a:solidFill>
                <a:latin typeface="Montserrat"/>
                <a:ea typeface="Montserrat"/>
                <a:cs typeface="Montserrat"/>
                <a:sym typeface="Montserrat"/>
              </a:rPr>
              <a:t>Unit 3.1: Fundamentals of Cybersecurity in 5G Networks</a:t>
            </a:r>
            <a:endParaRPr dirty="0"/>
          </a:p>
          <a:p>
            <a:pPr marL="0" marR="0" lvl="0" indent="0" algn="l" rtl="0">
              <a:lnSpc>
                <a:spcPct val="251750"/>
              </a:lnSpc>
              <a:spcBef>
                <a:spcPts val="0"/>
              </a:spcBef>
              <a:spcAft>
                <a:spcPts val="0"/>
              </a:spcAft>
              <a:buNone/>
            </a:pPr>
            <a:r>
              <a:rPr lang="en-US" sz="2800" b="1" i="0" u="none" strike="noStrike" cap="none" dirty="0">
                <a:solidFill>
                  <a:srgbClr val="333333"/>
                </a:solidFill>
                <a:latin typeface="Montserrat"/>
                <a:ea typeface="Montserrat"/>
                <a:cs typeface="Montserrat"/>
                <a:sym typeface="Montserrat"/>
              </a:rPr>
              <a:t>Section 3.1.8: </a:t>
            </a:r>
            <a:r>
              <a:rPr lang="en-GB" sz="2800" b="1" i="0" u="none" strike="noStrike" cap="none" dirty="0">
                <a:solidFill>
                  <a:srgbClr val="333333"/>
                </a:solidFill>
                <a:latin typeface="Montserrat"/>
                <a:ea typeface="Montserrat"/>
                <a:cs typeface="Montserrat"/>
                <a:sym typeface="Montserrat"/>
              </a:rPr>
              <a:t>PBL - Cybersecurity Risk Analysis in 5G Smart Cities </a:t>
            </a:r>
          </a:p>
          <a:p>
            <a:pPr marL="0" marR="0" lvl="0" indent="0" algn="l" rtl="0">
              <a:lnSpc>
                <a:spcPct val="251750"/>
              </a:lnSpc>
              <a:spcBef>
                <a:spcPts val="0"/>
              </a:spcBef>
              <a:spcAft>
                <a:spcPts val="0"/>
              </a:spcAft>
              <a:buNone/>
            </a:pPr>
            <a:r>
              <a:rPr lang="en-GB" sz="2800" b="1" dirty="0">
                <a:solidFill>
                  <a:srgbClr val="333333"/>
                </a:solidFill>
                <a:latin typeface="Montserrat"/>
                <a:ea typeface="Montserrat"/>
                <a:cs typeface="Montserrat"/>
                <a:sym typeface="Montserrat"/>
              </a:rPr>
              <a:t>Part 3:</a:t>
            </a:r>
            <a:r>
              <a:rPr lang="en-GB" sz="2800" b="1" i="0" u="none" strike="noStrike" cap="none" dirty="0">
                <a:solidFill>
                  <a:srgbClr val="333333"/>
                </a:solidFill>
                <a:latin typeface="Montserrat"/>
                <a:ea typeface="Montserrat"/>
                <a:cs typeface="Montserrat"/>
                <a:sym typeface="Montserrat"/>
              </a:rPr>
              <a:t> Risk Communication &amp; Decision Support in </a:t>
            </a:r>
            <a:r>
              <a:rPr lang="en-GB" sz="2800" b="1" i="0" u="none" strike="noStrike" cap="none" dirty="0" err="1">
                <a:solidFill>
                  <a:srgbClr val="333333"/>
                </a:solidFill>
                <a:latin typeface="Montserrat"/>
                <a:ea typeface="Montserrat"/>
                <a:cs typeface="Montserrat"/>
                <a:sym typeface="Montserrat"/>
              </a:rPr>
              <a:t>NeoCity</a:t>
            </a:r>
            <a:endParaRPr lang="en-GB" sz="2800" b="1" i="0" u="none" strike="noStrike" cap="none" dirty="0">
              <a:solidFill>
                <a:srgbClr val="333333"/>
              </a:solidFill>
              <a:latin typeface="Montserrat"/>
              <a:ea typeface="Montserrat"/>
              <a:cs typeface="Montserrat"/>
              <a:sym typeface="Montserrat"/>
            </a:endParaRPr>
          </a:p>
          <a:p>
            <a:pPr marL="0" marR="0" lvl="0" indent="0" algn="l" rtl="0">
              <a:lnSpc>
                <a:spcPct val="251750"/>
              </a:lnSpc>
              <a:spcBef>
                <a:spcPts val="0"/>
              </a:spcBef>
              <a:spcAft>
                <a:spcPts val="0"/>
              </a:spcAft>
              <a:buNone/>
            </a:pPr>
            <a:r>
              <a:rPr lang="en-GB" sz="2800" b="1" i="0" u="none" strike="noStrike" cap="none" dirty="0" err="1">
                <a:solidFill>
                  <a:srgbClr val="333333"/>
                </a:solidFill>
                <a:latin typeface="Montserrat"/>
                <a:ea typeface="Montserrat"/>
                <a:cs typeface="Montserrat"/>
                <a:sym typeface="Montserrat"/>
              </a:rPr>
              <a:t>NeoCity</a:t>
            </a:r>
            <a:r>
              <a:rPr lang="en-GB" sz="2800" b="1" i="0" u="none" strike="noStrike" cap="none" dirty="0">
                <a:solidFill>
                  <a:srgbClr val="333333"/>
                </a:solidFill>
                <a:latin typeface="Montserrat"/>
                <a:ea typeface="Montserrat"/>
                <a:cs typeface="Montserrat"/>
                <a:sym typeface="Montserrat"/>
              </a:rPr>
              <a:t> scenario - Connected Traffic Signal System</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5"/>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420" name="Google Shape;420;p25"/>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sp>
        <p:nvSpPr>
          <p:cNvPr id="421" name="Google Shape;421;p25"/>
          <p:cNvSpPr txBox="1"/>
          <p:nvPr/>
        </p:nvSpPr>
        <p:spPr>
          <a:xfrm>
            <a:off x="1028700" y="962025"/>
            <a:ext cx="162306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3999" b="1" i="0" u="none" strike="noStrike" cap="none" dirty="0">
                <a:solidFill>
                  <a:srgbClr val="3A91B9"/>
                </a:solidFill>
                <a:latin typeface="Montserrat"/>
                <a:ea typeface="Montserrat"/>
                <a:cs typeface="Montserrat"/>
                <a:sym typeface="Montserrat"/>
              </a:rPr>
              <a:t>1. Executive Summary of Findings</a:t>
            </a:r>
            <a:endParaRPr dirty="0"/>
          </a:p>
        </p:txBody>
      </p:sp>
      <p:sp>
        <p:nvSpPr>
          <p:cNvPr id="5" name="Text 1">
            <a:extLst>
              <a:ext uri="{FF2B5EF4-FFF2-40B4-BE49-F238E27FC236}">
                <a16:creationId xmlns:a16="http://schemas.microsoft.com/office/drawing/2014/main" id="{A953AF25-15D9-476A-B79A-EA26230FA113}"/>
              </a:ext>
            </a:extLst>
          </p:cNvPr>
          <p:cNvSpPr/>
          <p:nvPr/>
        </p:nvSpPr>
        <p:spPr>
          <a:xfrm>
            <a:off x="1028700" y="2505950"/>
            <a:ext cx="16394189" cy="6810795"/>
          </a:xfrm>
          <a:prstGeom prst="rect">
            <a:avLst/>
          </a:prstGeom>
          <a:noFill/>
          <a:ln/>
        </p:spPr>
        <p:txBody>
          <a:bodyPr wrap="square" lIns="0" tIns="0" rIns="0" bIns="0" rtlCol="0" anchor="t"/>
          <a:lstStyle/>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Suricata successfully </a:t>
            </a:r>
            <a:r>
              <a:rPr lang="en-GB" sz="2400" i="1" dirty="0">
                <a:solidFill>
                  <a:schemeClr val="tx1"/>
                </a:solidFill>
                <a:latin typeface="Montserrat" pitchFamily="34" charset="0"/>
                <a:ea typeface="Montserrat" pitchFamily="34" charset="-122"/>
                <a:cs typeface="Montserrat" pitchFamily="34" charset="-120"/>
              </a:rPr>
              <a:t>detected flooding attempts </a:t>
            </a:r>
            <a:r>
              <a:rPr lang="en-GB" sz="2400" dirty="0">
                <a:solidFill>
                  <a:schemeClr val="tx1"/>
                </a:solidFill>
                <a:latin typeface="Montserrat" pitchFamily="34" charset="0"/>
                <a:ea typeface="Montserrat" pitchFamily="34" charset="-122"/>
                <a:cs typeface="Montserrat" pitchFamily="34" charset="-120"/>
              </a:rPr>
              <a:t>against the MEC API</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Grafana enabled </a:t>
            </a:r>
            <a:r>
              <a:rPr lang="en-GB" sz="2400" b="1" dirty="0">
                <a:solidFill>
                  <a:schemeClr val="tx1"/>
                </a:solidFill>
                <a:latin typeface="Montserrat" pitchFamily="34" charset="0"/>
                <a:ea typeface="Montserrat" pitchFamily="34" charset="-122"/>
                <a:cs typeface="Montserrat" pitchFamily="34" charset="-120"/>
              </a:rPr>
              <a:t>real-time visualization </a:t>
            </a:r>
            <a:r>
              <a:rPr lang="en-GB" sz="2400" dirty="0">
                <a:solidFill>
                  <a:schemeClr val="tx1"/>
                </a:solidFill>
                <a:latin typeface="Montserrat" pitchFamily="34" charset="0"/>
                <a:ea typeface="Montserrat" pitchFamily="34" charset="-122"/>
                <a:cs typeface="Montserrat" pitchFamily="34" charset="-120"/>
              </a:rPr>
              <a:t>of abnormal traffic patterns</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The MEC API represents a </a:t>
            </a:r>
            <a:r>
              <a:rPr lang="en-GB" sz="2400" b="1" dirty="0">
                <a:solidFill>
                  <a:schemeClr val="tx1"/>
                </a:solidFill>
                <a:latin typeface="Montserrat" pitchFamily="34" charset="0"/>
                <a:ea typeface="Montserrat" pitchFamily="34" charset="-122"/>
                <a:cs typeface="Montserrat" pitchFamily="34" charset="-120"/>
              </a:rPr>
              <a:t>high-impact critical edge service</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Risk level increased significantly due to </a:t>
            </a:r>
            <a:r>
              <a:rPr lang="en-GB" sz="2400" b="1" dirty="0">
                <a:solidFill>
                  <a:schemeClr val="tx1"/>
                </a:solidFill>
                <a:latin typeface="Montserrat" pitchFamily="34" charset="0"/>
                <a:ea typeface="Montserrat" pitchFamily="34" charset="-122"/>
                <a:cs typeface="Montserrat" pitchFamily="34" charset="-120"/>
              </a:rPr>
              <a:t>lack of immediate mitigation actions</a:t>
            </a:r>
          </a:p>
          <a:p>
            <a:pPr marL="342900" indent="-342900" algn="just">
              <a:lnSpc>
                <a:spcPct val="150000"/>
              </a:lnSpc>
              <a:buFont typeface="Arial" panose="020B0604020202020204" pitchFamily="34" charset="0"/>
              <a:buChar char="•"/>
            </a:pPr>
            <a:r>
              <a:rPr lang="en-GB" sz="2400" b="1" dirty="0">
                <a:solidFill>
                  <a:schemeClr val="tx1"/>
                </a:solidFill>
                <a:latin typeface="Montserrat" pitchFamily="34" charset="0"/>
                <a:ea typeface="Montserrat" pitchFamily="34" charset="-122"/>
                <a:cs typeface="Montserrat" pitchFamily="34" charset="-120"/>
              </a:rPr>
              <a:t>Residual risk persists </a:t>
            </a:r>
            <a:r>
              <a:rPr lang="en-GB" sz="2400" dirty="0">
                <a:solidFill>
                  <a:schemeClr val="tx1"/>
                </a:solidFill>
                <a:latin typeface="Montserrat" pitchFamily="34" charset="0"/>
                <a:ea typeface="Montserrat" pitchFamily="34" charset="-122"/>
                <a:cs typeface="Montserrat" pitchFamily="34" charset="-120"/>
              </a:rPr>
              <a:t>until protective measures are deployed and validated</a:t>
            </a:r>
            <a:endParaRPr lang="en-GB" sz="2400" b="1" dirty="0">
              <a:solidFill>
                <a:schemeClr val="tx1"/>
              </a:solidFill>
              <a:latin typeface="Montserrat" pitchFamily="34" charset="0"/>
              <a:ea typeface="Montserrat" pitchFamily="34" charset="-122"/>
              <a:cs typeface="Montserrat" pitchFamily="34" charset="-120"/>
            </a:endParaRPr>
          </a:p>
        </p:txBody>
      </p:sp>
      <p:pic>
        <p:nvPicPr>
          <p:cNvPr id="2" name="Picture 2">
            <a:extLst>
              <a:ext uri="{FF2B5EF4-FFF2-40B4-BE49-F238E27FC236}">
                <a16:creationId xmlns:a16="http://schemas.microsoft.com/office/drawing/2014/main" id="{63413933-5EF7-4187-945E-15E0BC37D98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6571" b="10523"/>
          <a:stretch/>
        </p:blipFill>
        <p:spPr bwMode="auto">
          <a:xfrm>
            <a:off x="5624313" y="5796644"/>
            <a:ext cx="8541604" cy="4299856"/>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421;p25">
            <a:extLst>
              <a:ext uri="{FF2B5EF4-FFF2-40B4-BE49-F238E27FC236}">
                <a16:creationId xmlns:a16="http://schemas.microsoft.com/office/drawing/2014/main" id="{E80EFD79-CE90-4051-A32E-97C36C12CBF6}"/>
              </a:ext>
            </a:extLst>
          </p:cNvPr>
          <p:cNvSpPr txBox="1"/>
          <p:nvPr/>
        </p:nvSpPr>
        <p:spPr>
          <a:xfrm>
            <a:off x="1028700" y="1833714"/>
            <a:ext cx="4218214" cy="517065"/>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2400" b="1" i="0" u="none" strike="noStrike" cap="none" dirty="0">
                <a:solidFill>
                  <a:srgbClr val="3A91B9"/>
                </a:solidFill>
                <a:latin typeface="Montserrat"/>
                <a:ea typeface="Montserrat"/>
                <a:cs typeface="Montserrat"/>
                <a:sym typeface="Montserrat"/>
              </a:rPr>
              <a:t>What did we detect?</a:t>
            </a:r>
            <a:endParaRPr sz="2400" dirty="0"/>
          </a:p>
        </p:txBody>
      </p:sp>
    </p:spTree>
    <p:extLst>
      <p:ext uri="{BB962C8B-B14F-4D97-AF65-F5344CB8AC3E}">
        <p14:creationId xmlns:p14="http://schemas.microsoft.com/office/powerpoint/2010/main" val="2321301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5"/>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420" name="Google Shape;420;p25"/>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sp>
        <p:nvSpPr>
          <p:cNvPr id="421" name="Google Shape;421;p25"/>
          <p:cNvSpPr txBox="1"/>
          <p:nvPr/>
        </p:nvSpPr>
        <p:spPr>
          <a:xfrm>
            <a:off x="1028700" y="962025"/>
            <a:ext cx="162306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3999" b="1" i="0" u="none" strike="noStrike" cap="none" dirty="0">
                <a:solidFill>
                  <a:srgbClr val="3A91B9"/>
                </a:solidFill>
                <a:latin typeface="Montserrat"/>
                <a:ea typeface="Montserrat"/>
                <a:cs typeface="Montserrat"/>
                <a:sym typeface="Montserrat"/>
              </a:rPr>
              <a:t>2. Risk Communication in </a:t>
            </a:r>
            <a:r>
              <a:rPr lang="en-US" sz="3999" b="1" i="0" u="none" strike="noStrike" cap="none" dirty="0" err="1">
                <a:solidFill>
                  <a:srgbClr val="3A91B9"/>
                </a:solidFill>
                <a:latin typeface="Montserrat"/>
                <a:ea typeface="Montserrat"/>
                <a:cs typeface="Montserrat"/>
                <a:sym typeface="Montserrat"/>
              </a:rPr>
              <a:t>NeoCity</a:t>
            </a:r>
            <a:endParaRPr dirty="0"/>
          </a:p>
        </p:txBody>
      </p:sp>
      <p:sp>
        <p:nvSpPr>
          <p:cNvPr id="5" name="Text 1">
            <a:extLst>
              <a:ext uri="{FF2B5EF4-FFF2-40B4-BE49-F238E27FC236}">
                <a16:creationId xmlns:a16="http://schemas.microsoft.com/office/drawing/2014/main" id="{A953AF25-15D9-476A-B79A-EA26230FA113}"/>
              </a:ext>
            </a:extLst>
          </p:cNvPr>
          <p:cNvSpPr/>
          <p:nvPr/>
        </p:nvSpPr>
        <p:spPr>
          <a:xfrm>
            <a:off x="1028700" y="2636998"/>
            <a:ext cx="16394189" cy="6810795"/>
          </a:xfrm>
          <a:prstGeom prst="rect">
            <a:avLst/>
          </a:prstGeom>
          <a:noFill/>
          <a:ln/>
        </p:spPr>
        <p:txBody>
          <a:bodyPr wrap="square" lIns="0" tIns="0" rIns="0" bIns="0" rtlCol="0" anchor="t"/>
          <a:lstStyle/>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Communicate </a:t>
            </a:r>
            <a:r>
              <a:rPr lang="en-GB" sz="2400" b="1" dirty="0">
                <a:solidFill>
                  <a:schemeClr val="tx1"/>
                </a:solidFill>
                <a:latin typeface="Montserrat" pitchFamily="34" charset="0"/>
                <a:ea typeface="Montserrat" pitchFamily="34" charset="-122"/>
                <a:cs typeface="Montserrat" pitchFamily="34" charset="-120"/>
              </a:rPr>
              <a:t>security alerts </a:t>
            </a:r>
            <a:r>
              <a:rPr lang="en-GB" sz="2400" dirty="0">
                <a:solidFill>
                  <a:schemeClr val="tx1"/>
                </a:solidFill>
                <a:latin typeface="Montserrat" pitchFamily="34" charset="0"/>
                <a:ea typeface="Montserrat" pitchFamily="34" charset="-122"/>
                <a:cs typeface="Montserrat" pitchFamily="34" charset="-120"/>
              </a:rPr>
              <a:t>clearly to decision makers</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Prioritize risks affecting </a:t>
            </a:r>
            <a:r>
              <a:rPr lang="en-GB" sz="2400" b="1" dirty="0">
                <a:solidFill>
                  <a:schemeClr val="tx1"/>
                </a:solidFill>
                <a:latin typeface="Montserrat" pitchFamily="34" charset="0"/>
                <a:ea typeface="Montserrat" pitchFamily="34" charset="-122"/>
                <a:cs typeface="Montserrat" pitchFamily="34" charset="-120"/>
              </a:rPr>
              <a:t>safety-critical mobility services</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Translate technical indicators into </a:t>
            </a:r>
            <a:r>
              <a:rPr lang="en-GB" sz="2400" b="1" dirty="0">
                <a:solidFill>
                  <a:schemeClr val="tx1"/>
                </a:solidFill>
                <a:latin typeface="Montserrat" pitchFamily="34" charset="0"/>
                <a:ea typeface="Montserrat" pitchFamily="34" charset="-122"/>
                <a:cs typeface="Montserrat" pitchFamily="34" charset="-120"/>
              </a:rPr>
              <a:t>operational impact</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Support </a:t>
            </a:r>
            <a:r>
              <a:rPr lang="en-GB" sz="2400" b="1" dirty="0">
                <a:solidFill>
                  <a:schemeClr val="tx1"/>
                </a:solidFill>
                <a:latin typeface="Montserrat" pitchFamily="34" charset="0"/>
                <a:ea typeface="Montserrat" pitchFamily="34" charset="-122"/>
                <a:cs typeface="Montserrat" pitchFamily="34" charset="-120"/>
              </a:rPr>
              <a:t>timely decisions </a:t>
            </a:r>
            <a:r>
              <a:rPr lang="en-GB" sz="2400" dirty="0">
                <a:solidFill>
                  <a:schemeClr val="tx1"/>
                </a:solidFill>
                <a:latin typeface="Montserrat" pitchFamily="34" charset="0"/>
                <a:ea typeface="Montserrat" pitchFamily="34" charset="-122"/>
                <a:cs typeface="Montserrat" pitchFamily="34" charset="-120"/>
              </a:rPr>
              <a:t>for incident response</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Ensure stakeholders understand </a:t>
            </a:r>
            <a:r>
              <a:rPr lang="en-GB" sz="2400" b="1" dirty="0">
                <a:solidFill>
                  <a:schemeClr val="tx1"/>
                </a:solidFill>
                <a:latin typeface="Montserrat" pitchFamily="34" charset="0"/>
                <a:ea typeface="Montserrat" pitchFamily="34" charset="-122"/>
                <a:cs typeface="Montserrat" pitchFamily="34" charset="-120"/>
              </a:rPr>
              <a:t>residual risk </a:t>
            </a:r>
            <a:r>
              <a:rPr lang="en-GB" sz="2400" dirty="0">
                <a:solidFill>
                  <a:schemeClr val="tx1"/>
                </a:solidFill>
                <a:latin typeface="Montserrat" pitchFamily="34" charset="0"/>
                <a:ea typeface="Montserrat" pitchFamily="34" charset="-122"/>
                <a:cs typeface="Montserrat" pitchFamily="34" charset="-120"/>
              </a:rPr>
              <a:t>and uncertainty</a:t>
            </a:r>
            <a:endParaRPr lang="en-GB" sz="2400" b="1" dirty="0">
              <a:solidFill>
                <a:schemeClr val="tx1"/>
              </a:solidFill>
              <a:latin typeface="Montserrat" pitchFamily="34" charset="0"/>
              <a:ea typeface="Montserrat" pitchFamily="34" charset="-122"/>
              <a:cs typeface="Montserrat" pitchFamily="34" charset="-120"/>
            </a:endParaRPr>
          </a:p>
        </p:txBody>
      </p:sp>
      <p:pic>
        <p:nvPicPr>
          <p:cNvPr id="2050" name="Picture 2">
            <a:extLst>
              <a:ext uri="{FF2B5EF4-FFF2-40B4-BE49-F238E27FC236}">
                <a16:creationId xmlns:a16="http://schemas.microsoft.com/office/drawing/2014/main" id="{CFDE87BB-4C72-4384-9C6C-85A569DD8C8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4608" b="10771"/>
          <a:stretch/>
        </p:blipFill>
        <p:spPr bwMode="auto">
          <a:xfrm>
            <a:off x="4735951" y="5355772"/>
            <a:ext cx="9795814" cy="4931228"/>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421;p25">
            <a:extLst>
              <a:ext uri="{FF2B5EF4-FFF2-40B4-BE49-F238E27FC236}">
                <a16:creationId xmlns:a16="http://schemas.microsoft.com/office/drawing/2014/main" id="{32046B1B-1184-460D-B524-85C846D44FBF}"/>
              </a:ext>
            </a:extLst>
          </p:cNvPr>
          <p:cNvSpPr txBox="1"/>
          <p:nvPr/>
        </p:nvSpPr>
        <p:spPr>
          <a:xfrm>
            <a:off x="1028700" y="1833714"/>
            <a:ext cx="4218214" cy="517065"/>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2400" b="1" i="0" u="none" strike="noStrike" cap="none" dirty="0">
                <a:solidFill>
                  <a:srgbClr val="3A91B9"/>
                </a:solidFill>
                <a:latin typeface="Montserrat"/>
                <a:ea typeface="Montserrat"/>
                <a:cs typeface="Montserrat"/>
                <a:sym typeface="Montserrat"/>
              </a:rPr>
              <a:t>Who needs to know?</a:t>
            </a:r>
            <a:endParaRPr sz="2400" dirty="0"/>
          </a:p>
        </p:txBody>
      </p:sp>
    </p:spTree>
    <p:extLst>
      <p:ext uri="{BB962C8B-B14F-4D97-AF65-F5344CB8AC3E}">
        <p14:creationId xmlns:p14="http://schemas.microsoft.com/office/powerpoint/2010/main" val="275203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5"/>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420" name="Google Shape;420;p25"/>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sp>
        <p:nvSpPr>
          <p:cNvPr id="421" name="Google Shape;421;p25"/>
          <p:cNvSpPr txBox="1"/>
          <p:nvPr/>
        </p:nvSpPr>
        <p:spPr>
          <a:xfrm>
            <a:off x="1017814" y="962025"/>
            <a:ext cx="162306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GB" sz="3999" b="1" i="0" u="none" strike="noStrike" cap="none" dirty="0">
                <a:solidFill>
                  <a:srgbClr val="3A91B9"/>
                </a:solidFill>
                <a:latin typeface="Montserrat"/>
                <a:ea typeface="Montserrat"/>
                <a:cs typeface="Montserrat"/>
                <a:sym typeface="Montserrat"/>
              </a:rPr>
              <a:t>3. Residual Risk Monitoring &amp; Decision Triggers</a:t>
            </a:r>
            <a:endParaRPr dirty="0"/>
          </a:p>
        </p:txBody>
      </p:sp>
      <p:sp>
        <p:nvSpPr>
          <p:cNvPr id="5" name="Text 1">
            <a:extLst>
              <a:ext uri="{FF2B5EF4-FFF2-40B4-BE49-F238E27FC236}">
                <a16:creationId xmlns:a16="http://schemas.microsoft.com/office/drawing/2014/main" id="{A953AF25-15D9-476A-B79A-EA26230FA113}"/>
              </a:ext>
            </a:extLst>
          </p:cNvPr>
          <p:cNvSpPr/>
          <p:nvPr/>
        </p:nvSpPr>
        <p:spPr>
          <a:xfrm>
            <a:off x="1115785" y="2514180"/>
            <a:ext cx="16394189" cy="6810795"/>
          </a:xfrm>
          <a:prstGeom prst="rect">
            <a:avLst/>
          </a:prstGeom>
          <a:noFill/>
          <a:ln/>
        </p:spPr>
        <p:txBody>
          <a:bodyPr wrap="square" lIns="0" tIns="0" rIns="0" bIns="0" rtlCol="0" anchor="t"/>
          <a:lstStyle/>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Continuously track </a:t>
            </a:r>
            <a:r>
              <a:rPr lang="en-GB" sz="2400" b="1" dirty="0">
                <a:solidFill>
                  <a:schemeClr val="tx1"/>
                </a:solidFill>
                <a:latin typeface="Montserrat" pitchFamily="34" charset="0"/>
                <a:ea typeface="Montserrat" pitchFamily="34" charset="-122"/>
                <a:cs typeface="Montserrat" pitchFamily="34" charset="-120"/>
              </a:rPr>
              <a:t>residual risk </a:t>
            </a:r>
            <a:r>
              <a:rPr lang="en-GB" sz="2400" dirty="0">
                <a:solidFill>
                  <a:schemeClr val="tx1"/>
                </a:solidFill>
                <a:latin typeface="Montserrat" pitchFamily="34" charset="0"/>
                <a:ea typeface="Montserrat" pitchFamily="34" charset="-122"/>
                <a:cs typeface="Montserrat" pitchFamily="34" charset="-120"/>
              </a:rPr>
              <a:t>after alerts are raised</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Identify </a:t>
            </a:r>
            <a:r>
              <a:rPr lang="en-GB" sz="2400" b="1" dirty="0">
                <a:solidFill>
                  <a:schemeClr val="tx1"/>
                </a:solidFill>
                <a:latin typeface="Montserrat" pitchFamily="34" charset="0"/>
                <a:ea typeface="Montserrat" pitchFamily="34" charset="-122"/>
                <a:cs typeface="Montserrat" pitchFamily="34" charset="-120"/>
              </a:rPr>
              <a:t>thresholds</a:t>
            </a:r>
            <a:r>
              <a:rPr lang="en-GB" sz="2400" dirty="0">
                <a:solidFill>
                  <a:schemeClr val="tx1"/>
                </a:solidFill>
                <a:latin typeface="Montserrat" pitchFamily="34" charset="0"/>
                <a:ea typeface="Montserrat" pitchFamily="34" charset="-122"/>
                <a:cs typeface="Montserrat" pitchFamily="34" charset="-120"/>
              </a:rPr>
              <a:t> that require immediate operator action</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Evaluate </a:t>
            </a:r>
            <a:r>
              <a:rPr lang="en-GB" sz="2400" b="1" dirty="0">
                <a:solidFill>
                  <a:schemeClr val="tx1"/>
                </a:solidFill>
                <a:latin typeface="Montserrat" pitchFamily="34" charset="0"/>
                <a:ea typeface="Montserrat" pitchFamily="34" charset="-122"/>
                <a:cs typeface="Montserrat" pitchFamily="34" charset="-120"/>
              </a:rPr>
              <a:t>service degradation indicators </a:t>
            </a:r>
            <a:r>
              <a:rPr lang="en-GB" sz="2400" dirty="0">
                <a:solidFill>
                  <a:schemeClr val="tx1"/>
                </a:solidFill>
                <a:latin typeface="Montserrat" pitchFamily="34" charset="0"/>
                <a:ea typeface="Montserrat" pitchFamily="34" charset="-122"/>
                <a:cs typeface="Montserrat" pitchFamily="34" charset="-120"/>
              </a:rPr>
              <a:t>(latency, error rate, request drops)</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Recognize when abnormal traffic </a:t>
            </a:r>
            <a:r>
              <a:rPr lang="en-GB" sz="2400" b="1" dirty="0">
                <a:solidFill>
                  <a:schemeClr val="tx1"/>
                </a:solidFill>
                <a:latin typeface="Montserrat" pitchFamily="34" charset="0"/>
                <a:ea typeface="Montserrat" pitchFamily="34" charset="-122"/>
                <a:cs typeface="Montserrat" pitchFamily="34" charset="-120"/>
              </a:rPr>
              <a:t>threatens public safety services</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Escalate decisions when </a:t>
            </a:r>
            <a:r>
              <a:rPr lang="en-GB" sz="2400" b="1" dirty="0">
                <a:solidFill>
                  <a:schemeClr val="tx1"/>
                </a:solidFill>
                <a:latin typeface="Montserrat" pitchFamily="34" charset="0"/>
                <a:ea typeface="Montserrat" pitchFamily="34" charset="-122"/>
                <a:cs typeface="Montserrat" pitchFamily="34" charset="-120"/>
              </a:rPr>
              <a:t>risk exceeds tolerance </a:t>
            </a:r>
            <a:r>
              <a:rPr lang="en-GB" sz="2400" dirty="0">
                <a:solidFill>
                  <a:schemeClr val="tx1"/>
                </a:solidFill>
                <a:latin typeface="Montserrat" pitchFamily="34" charset="0"/>
                <a:ea typeface="Montserrat" pitchFamily="34" charset="-122"/>
                <a:cs typeface="Montserrat" pitchFamily="34" charset="-120"/>
              </a:rPr>
              <a:t>for </a:t>
            </a:r>
            <a:r>
              <a:rPr lang="en-GB" sz="2400" dirty="0" err="1">
                <a:solidFill>
                  <a:schemeClr val="tx1"/>
                </a:solidFill>
                <a:latin typeface="Montserrat" pitchFamily="34" charset="0"/>
                <a:ea typeface="Montserrat" pitchFamily="34" charset="-122"/>
                <a:cs typeface="Montserrat" pitchFamily="34" charset="-120"/>
              </a:rPr>
              <a:t>NeoCity</a:t>
            </a:r>
            <a:r>
              <a:rPr lang="en-GB" sz="2400" dirty="0">
                <a:solidFill>
                  <a:schemeClr val="tx1"/>
                </a:solidFill>
                <a:latin typeface="Montserrat" pitchFamily="34" charset="0"/>
                <a:ea typeface="Montserrat" pitchFamily="34" charset="-122"/>
                <a:cs typeface="Montserrat" pitchFamily="34" charset="-120"/>
              </a:rPr>
              <a:t> mobility</a:t>
            </a:r>
            <a:endParaRPr lang="en-GB" sz="2400" b="1" dirty="0">
              <a:solidFill>
                <a:schemeClr val="tx1"/>
              </a:solidFill>
              <a:latin typeface="Montserrat" pitchFamily="34" charset="0"/>
              <a:ea typeface="Montserrat" pitchFamily="34" charset="-122"/>
              <a:cs typeface="Montserrat" pitchFamily="34" charset="-120"/>
            </a:endParaRPr>
          </a:p>
        </p:txBody>
      </p:sp>
      <p:pic>
        <p:nvPicPr>
          <p:cNvPr id="4098" name="Picture 2">
            <a:extLst>
              <a:ext uri="{FF2B5EF4-FFF2-40B4-BE49-F238E27FC236}">
                <a16:creationId xmlns:a16="http://schemas.microsoft.com/office/drawing/2014/main" id="{3B454EE5-5223-4C65-B0AD-8F16C7FFFE2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30678" b="7133"/>
          <a:stretch/>
        </p:blipFill>
        <p:spPr bwMode="auto">
          <a:xfrm>
            <a:off x="3899321" y="5421086"/>
            <a:ext cx="11002720" cy="3450772"/>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421;p25">
            <a:extLst>
              <a:ext uri="{FF2B5EF4-FFF2-40B4-BE49-F238E27FC236}">
                <a16:creationId xmlns:a16="http://schemas.microsoft.com/office/drawing/2014/main" id="{432B4B43-F1C1-4ECA-9D1A-B64E7A4E87CD}"/>
              </a:ext>
            </a:extLst>
          </p:cNvPr>
          <p:cNvSpPr txBox="1"/>
          <p:nvPr/>
        </p:nvSpPr>
        <p:spPr>
          <a:xfrm>
            <a:off x="1028699" y="1833714"/>
            <a:ext cx="5339443" cy="517065"/>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2400" b="1" i="0" u="none" strike="noStrike" cap="none" dirty="0">
                <a:solidFill>
                  <a:srgbClr val="3A91B9"/>
                </a:solidFill>
                <a:latin typeface="Montserrat"/>
                <a:ea typeface="Montserrat"/>
                <a:cs typeface="Montserrat"/>
                <a:sym typeface="Montserrat"/>
              </a:rPr>
              <a:t>When must action be taken?</a:t>
            </a:r>
            <a:endParaRPr sz="2400" dirty="0"/>
          </a:p>
        </p:txBody>
      </p:sp>
    </p:spTree>
    <p:extLst>
      <p:ext uri="{BB962C8B-B14F-4D97-AF65-F5344CB8AC3E}">
        <p14:creationId xmlns:p14="http://schemas.microsoft.com/office/powerpoint/2010/main" val="5726249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5"/>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420" name="Google Shape;420;p25"/>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sp>
        <p:nvSpPr>
          <p:cNvPr id="421" name="Google Shape;421;p25"/>
          <p:cNvSpPr txBox="1"/>
          <p:nvPr/>
        </p:nvSpPr>
        <p:spPr>
          <a:xfrm>
            <a:off x="1017814" y="962025"/>
            <a:ext cx="1649216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GB" sz="3999" b="1" i="0" u="none" strike="noStrike" cap="none" dirty="0">
                <a:solidFill>
                  <a:srgbClr val="3A91B9"/>
                </a:solidFill>
                <a:latin typeface="Montserrat"/>
                <a:ea typeface="Montserrat"/>
                <a:cs typeface="Montserrat"/>
                <a:sym typeface="Montserrat"/>
              </a:rPr>
              <a:t>4. Mitigation Strategy A: Rate Limiting (Network vs API Layer)</a:t>
            </a:r>
            <a:endParaRPr dirty="0"/>
          </a:p>
        </p:txBody>
      </p:sp>
      <p:sp>
        <p:nvSpPr>
          <p:cNvPr id="5" name="Text 1">
            <a:extLst>
              <a:ext uri="{FF2B5EF4-FFF2-40B4-BE49-F238E27FC236}">
                <a16:creationId xmlns:a16="http://schemas.microsoft.com/office/drawing/2014/main" id="{A953AF25-15D9-476A-B79A-EA26230FA113}"/>
              </a:ext>
            </a:extLst>
          </p:cNvPr>
          <p:cNvSpPr/>
          <p:nvPr/>
        </p:nvSpPr>
        <p:spPr>
          <a:xfrm>
            <a:off x="1115785" y="2514180"/>
            <a:ext cx="16394189" cy="6810795"/>
          </a:xfrm>
          <a:prstGeom prst="rect">
            <a:avLst/>
          </a:prstGeom>
          <a:noFill/>
          <a:ln/>
        </p:spPr>
        <p:txBody>
          <a:bodyPr wrap="square" lIns="0" tIns="0" rIns="0" bIns="0" rtlCol="0" anchor="t"/>
          <a:lstStyle/>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Control </a:t>
            </a:r>
            <a:r>
              <a:rPr lang="en-GB" sz="2400" b="1" dirty="0">
                <a:solidFill>
                  <a:schemeClr val="tx1"/>
                </a:solidFill>
                <a:latin typeface="Montserrat" pitchFamily="34" charset="0"/>
                <a:ea typeface="Montserrat" pitchFamily="34" charset="-122"/>
                <a:cs typeface="Montserrat" pitchFamily="34" charset="-120"/>
              </a:rPr>
              <a:t>excessive traffic </a:t>
            </a:r>
            <a:r>
              <a:rPr lang="en-GB" sz="2400" dirty="0">
                <a:solidFill>
                  <a:schemeClr val="tx1"/>
                </a:solidFill>
                <a:latin typeface="Montserrat" pitchFamily="34" charset="0"/>
                <a:ea typeface="Montserrat" pitchFamily="34" charset="-122"/>
                <a:cs typeface="Montserrat" pitchFamily="34" charset="-120"/>
              </a:rPr>
              <a:t>to maintain service availability</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Apply mitigation </a:t>
            </a:r>
            <a:r>
              <a:rPr lang="en-GB" sz="2400" b="1" dirty="0">
                <a:solidFill>
                  <a:schemeClr val="tx1"/>
                </a:solidFill>
                <a:latin typeface="Montserrat" pitchFamily="34" charset="0"/>
                <a:ea typeface="Montserrat" pitchFamily="34" charset="-122"/>
                <a:cs typeface="Montserrat" pitchFamily="34" charset="-120"/>
              </a:rPr>
              <a:t>close to the point of overload </a:t>
            </a:r>
            <a:r>
              <a:rPr lang="en-GB" sz="2400" dirty="0">
                <a:solidFill>
                  <a:schemeClr val="tx1"/>
                </a:solidFill>
                <a:latin typeface="Montserrat" pitchFamily="34" charset="0"/>
                <a:ea typeface="Montserrat" pitchFamily="34" charset="-122"/>
                <a:cs typeface="Montserrat" pitchFamily="34" charset="-120"/>
              </a:rPr>
              <a:t>(Edge)</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Reduce the impact of </a:t>
            </a:r>
            <a:r>
              <a:rPr lang="en-GB" sz="2400" b="1" dirty="0">
                <a:solidFill>
                  <a:schemeClr val="tx1"/>
                </a:solidFill>
                <a:latin typeface="Montserrat" pitchFamily="34" charset="0"/>
                <a:ea typeface="Montserrat" pitchFamily="34" charset="-122"/>
                <a:cs typeface="Montserrat" pitchFamily="34" charset="-120"/>
              </a:rPr>
              <a:t>DoS attacks </a:t>
            </a:r>
            <a:r>
              <a:rPr lang="en-GB" sz="2400" dirty="0">
                <a:solidFill>
                  <a:schemeClr val="tx1"/>
                </a:solidFill>
                <a:latin typeface="Montserrat" pitchFamily="34" charset="0"/>
                <a:ea typeface="Montserrat" pitchFamily="34" charset="-122"/>
                <a:cs typeface="Montserrat" pitchFamily="34" charset="-120"/>
              </a:rPr>
              <a:t>on the MEC API</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Choose an enforcement layer based on </a:t>
            </a:r>
            <a:r>
              <a:rPr lang="en-GB" sz="2400" b="1" dirty="0">
                <a:solidFill>
                  <a:schemeClr val="tx1"/>
                </a:solidFill>
                <a:latin typeface="Montserrat" pitchFamily="34" charset="0"/>
                <a:ea typeface="Montserrat" pitchFamily="34" charset="-122"/>
                <a:cs typeface="Montserrat" pitchFamily="34" charset="-120"/>
              </a:rPr>
              <a:t>performance</a:t>
            </a:r>
            <a:r>
              <a:rPr lang="en-GB" sz="2400" dirty="0">
                <a:solidFill>
                  <a:schemeClr val="tx1"/>
                </a:solidFill>
                <a:latin typeface="Montserrat" pitchFamily="34" charset="0"/>
                <a:ea typeface="Montserrat" pitchFamily="34" charset="-122"/>
                <a:cs typeface="Montserrat" pitchFamily="34" charset="-120"/>
              </a:rPr>
              <a:t> and </a:t>
            </a:r>
            <a:r>
              <a:rPr lang="en-GB" sz="2400" b="1" dirty="0">
                <a:solidFill>
                  <a:schemeClr val="tx1"/>
                </a:solidFill>
                <a:latin typeface="Montserrat" pitchFamily="34" charset="0"/>
                <a:ea typeface="Montserrat" pitchFamily="34" charset="-122"/>
                <a:cs typeface="Montserrat" pitchFamily="34" charset="-120"/>
              </a:rPr>
              <a:t>visibility needs</a:t>
            </a:r>
          </a:p>
        </p:txBody>
      </p:sp>
      <p:sp>
        <p:nvSpPr>
          <p:cNvPr id="7" name="Google Shape;421;p25">
            <a:extLst>
              <a:ext uri="{FF2B5EF4-FFF2-40B4-BE49-F238E27FC236}">
                <a16:creationId xmlns:a16="http://schemas.microsoft.com/office/drawing/2014/main" id="{432B4B43-F1C1-4ECA-9D1A-B64E7A4E87CD}"/>
              </a:ext>
            </a:extLst>
          </p:cNvPr>
          <p:cNvSpPr txBox="1"/>
          <p:nvPr/>
        </p:nvSpPr>
        <p:spPr>
          <a:xfrm>
            <a:off x="1028699" y="1833714"/>
            <a:ext cx="10423072" cy="517065"/>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GB" sz="2400" b="1" i="0" u="none" strike="noStrike" cap="none" dirty="0">
                <a:solidFill>
                  <a:srgbClr val="3A91B9"/>
                </a:solidFill>
                <a:latin typeface="Montserrat"/>
                <a:ea typeface="Montserrat"/>
                <a:cs typeface="Montserrat"/>
                <a:sym typeface="Montserrat"/>
              </a:rPr>
              <a:t>Rate-Limiting Approaches for Protecting the MEC API</a:t>
            </a:r>
            <a:endParaRPr sz="2400" dirty="0"/>
          </a:p>
        </p:txBody>
      </p:sp>
      <p:graphicFrame>
        <p:nvGraphicFramePr>
          <p:cNvPr id="3" name="Tabla 2">
            <a:extLst>
              <a:ext uri="{FF2B5EF4-FFF2-40B4-BE49-F238E27FC236}">
                <a16:creationId xmlns:a16="http://schemas.microsoft.com/office/drawing/2014/main" id="{54DDD6E7-2E5A-43FB-8D2A-E978FEF055AD}"/>
              </a:ext>
            </a:extLst>
          </p:cNvPr>
          <p:cNvGraphicFramePr>
            <a:graphicFrameLocks noGrp="1"/>
          </p:cNvGraphicFramePr>
          <p:nvPr>
            <p:extLst>
              <p:ext uri="{D42A27DB-BD31-4B8C-83A1-F6EECF244321}">
                <p14:modId xmlns:p14="http://schemas.microsoft.com/office/powerpoint/2010/main" val="3065324133"/>
              </p:ext>
            </p:extLst>
          </p:nvPr>
        </p:nvGraphicFramePr>
        <p:xfrm>
          <a:off x="4049486" y="5303940"/>
          <a:ext cx="12268200" cy="4064616"/>
        </p:xfrm>
        <a:graphic>
          <a:graphicData uri="http://schemas.openxmlformats.org/drawingml/2006/table">
            <a:tbl>
              <a:tblPr>
                <a:tableStyleId>{BDBED569-4797-4DF1-A0F4-6AAB3CD982D8}</a:tableStyleId>
              </a:tblPr>
              <a:tblGrid>
                <a:gridCol w="1937657">
                  <a:extLst>
                    <a:ext uri="{9D8B030D-6E8A-4147-A177-3AD203B41FA5}">
                      <a16:colId xmlns:a16="http://schemas.microsoft.com/office/drawing/2014/main" val="2253953345"/>
                    </a:ext>
                  </a:extLst>
                </a:gridCol>
                <a:gridCol w="4484914">
                  <a:extLst>
                    <a:ext uri="{9D8B030D-6E8A-4147-A177-3AD203B41FA5}">
                      <a16:colId xmlns:a16="http://schemas.microsoft.com/office/drawing/2014/main" val="875651146"/>
                    </a:ext>
                  </a:extLst>
                </a:gridCol>
                <a:gridCol w="5845629">
                  <a:extLst>
                    <a:ext uri="{9D8B030D-6E8A-4147-A177-3AD203B41FA5}">
                      <a16:colId xmlns:a16="http://schemas.microsoft.com/office/drawing/2014/main" val="817983393"/>
                    </a:ext>
                  </a:extLst>
                </a:gridCol>
              </a:tblGrid>
              <a:tr h="677436">
                <a:tc>
                  <a:txBody>
                    <a:bodyPr/>
                    <a:lstStyle/>
                    <a:p>
                      <a:endParaRPr lang="en-GB" sz="2000" dirty="0"/>
                    </a:p>
                  </a:txBody>
                  <a:tcPr anchor="ctr">
                    <a:solidFill>
                      <a:schemeClr val="accent5">
                        <a:lumMod val="20000"/>
                        <a:lumOff val="80000"/>
                      </a:schemeClr>
                    </a:solidFill>
                  </a:tcPr>
                </a:tc>
                <a:tc>
                  <a:txBody>
                    <a:bodyPr/>
                    <a:lstStyle/>
                    <a:p>
                      <a:r>
                        <a:rPr lang="en-GB" sz="2000" b="1" dirty="0"/>
                        <a:t>Network-Level Rate Limiting</a:t>
                      </a:r>
                      <a:endParaRPr lang="en-GB" sz="2000" dirty="0"/>
                    </a:p>
                  </a:txBody>
                  <a:tcPr anchor="ctr">
                    <a:solidFill>
                      <a:schemeClr val="accent5">
                        <a:lumMod val="20000"/>
                        <a:lumOff val="80000"/>
                      </a:schemeClr>
                    </a:solidFill>
                  </a:tcPr>
                </a:tc>
                <a:tc>
                  <a:txBody>
                    <a:bodyPr/>
                    <a:lstStyle/>
                    <a:p>
                      <a:r>
                        <a:rPr lang="en-GB" sz="2000" b="1" dirty="0"/>
                        <a:t>API Gateway Rate Limiting</a:t>
                      </a:r>
                      <a:endParaRPr lang="en-GB" sz="2000" dirty="0"/>
                    </a:p>
                  </a:txBody>
                  <a:tcPr anchor="ctr">
                    <a:solidFill>
                      <a:schemeClr val="accent5">
                        <a:lumMod val="20000"/>
                        <a:lumOff val="80000"/>
                      </a:schemeClr>
                    </a:solidFill>
                  </a:tcPr>
                </a:tc>
                <a:extLst>
                  <a:ext uri="{0D108BD9-81ED-4DB2-BD59-A6C34878D82A}">
                    <a16:rowId xmlns:a16="http://schemas.microsoft.com/office/drawing/2014/main" val="1259955077"/>
                  </a:ext>
                </a:extLst>
              </a:tr>
              <a:tr h="677436">
                <a:tc>
                  <a:txBody>
                    <a:bodyPr/>
                    <a:lstStyle/>
                    <a:p>
                      <a:r>
                        <a:rPr lang="en-GB" sz="2000" b="1" dirty="0"/>
                        <a:t>Scope</a:t>
                      </a:r>
                      <a:endParaRPr lang="en-GB" sz="2000" dirty="0"/>
                    </a:p>
                  </a:txBody>
                  <a:tcPr anchor="ctr">
                    <a:solidFill>
                      <a:schemeClr val="accent5">
                        <a:lumMod val="20000"/>
                        <a:lumOff val="80000"/>
                      </a:schemeClr>
                    </a:solidFill>
                  </a:tcPr>
                </a:tc>
                <a:tc>
                  <a:txBody>
                    <a:bodyPr/>
                    <a:lstStyle/>
                    <a:p>
                      <a:r>
                        <a:rPr lang="en-GB" sz="2000"/>
                        <a:t>TCP/UDP connections and flows</a:t>
                      </a:r>
                    </a:p>
                  </a:txBody>
                  <a:tcPr anchor="ctr"/>
                </a:tc>
                <a:tc>
                  <a:txBody>
                    <a:bodyPr/>
                    <a:lstStyle/>
                    <a:p>
                      <a:r>
                        <a:rPr lang="en-GB" sz="2000"/>
                        <a:t>API requests (HTTP/MQTT)</a:t>
                      </a:r>
                    </a:p>
                  </a:txBody>
                  <a:tcPr anchor="ctr"/>
                </a:tc>
                <a:extLst>
                  <a:ext uri="{0D108BD9-81ED-4DB2-BD59-A6C34878D82A}">
                    <a16:rowId xmlns:a16="http://schemas.microsoft.com/office/drawing/2014/main" val="2421980232"/>
                  </a:ext>
                </a:extLst>
              </a:tr>
              <a:tr h="677436">
                <a:tc>
                  <a:txBody>
                    <a:bodyPr/>
                    <a:lstStyle/>
                    <a:p>
                      <a:r>
                        <a:rPr lang="en-GB" sz="2000" b="1" dirty="0"/>
                        <a:t>Strength</a:t>
                      </a:r>
                      <a:endParaRPr lang="en-GB" sz="2000" dirty="0"/>
                    </a:p>
                  </a:txBody>
                  <a:tcPr anchor="ctr">
                    <a:solidFill>
                      <a:schemeClr val="accent5">
                        <a:lumMod val="20000"/>
                        <a:lumOff val="80000"/>
                      </a:schemeClr>
                    </a:solidFill>
                  </a:tcPr>
                </a:tc>
                <a:tc>
                  <a:txBody>
                    <a:bodyPr/>
                    <a:lstStyle/>
                    <a:p>
                      <a:r>
                        <a:rPr lang="en-GB" sz="2000" dirty="0"/>
                        <a:t>Stops volumetric SYN floods early</a:t>
                      </a:r>
                    </a:p>
                  </a:txBody>
                  <a:tcPr anchor="ctr"/>
                </a:tc>
                <a:tc>
                  <a:txBody>
                    <a:bodyPr/>
                    <a:lstStyle/>
                    <a:p>
                      <a:r>
                        <a:rPr lang="en-GB" sz="2000"/>
                        <a:t>Protects service logic and sessions</a:t>
                      </a:r>
                    </a:p>
                  </a:txBody>
                  <a:tcPr anchor="ctr"/>
                </a:tc>
                <a:extLst>
                  <a:ext uri="{0D108BD9-81ED-4DB2-BD59-A6C34878D82A}">
                    <a16:rowId xmlns:a16="http://schemas.microsoft.com/office/drawing/2014/main" val="1726939264"/>
                  </a:ext>
                </a:extLst>
              </a:tr>
              <a:tr h="677436">
                <a:tc>
                  <a:txBody>
                    <a:bodyPr/>
                    <a:lstStyle/>
                    <a:p>
                      <a:r>
                        <a:rPr lang="en-GB" sz="2000" b="1" dirty="0"/>
                        <a:t>Control</a:t>
                      </a:r>
                      <a:endParaRPr lang="en-GB" sz="2000" dirty="0"/>
                    </a:p>
                  </a:txBody>
                  <a:tcPr anchor="ctr">
                    <a:solidFill>
                      <a:schemeClr val="accent5">
                        <a:lumMod val="20000"/>
                        <a:lumOff val="80000"/>
                      </a:schemeClr>
                    </a:solidFill>
                  </a:tcPr>
                </a:tc>
                <a:tc>
                  <a:txBody>
                    <a:bodyPr/>
                    <a:lstStyle/>
                    <a:p>
                      <a:r>
                        <a:rPr lang="en-GB" sz="2000" dirty="0"/>
                        <a:t>Less context about purpose</a:t>
                      </a:r>
                    </a:p>
                  </a:txBody>
                  <a:tcPr anchor="ctr"/>
                </a:tc>
                <a:tc>
                  <a:txBody>
                    <a:bodyPr/>
                    <a:lstStyle/>
                    <a:p>
                      <a:r>
                        <a:rPr lang="en-GB" sz="2000"/>
                        <a:t>Full visibility into API usage</a:t>
                      </a:r>
                    </a:p>
                  </a:txBody>
                  <a:tcPr anchor="ctr"/>
                </a:tc>
                <a:extLst>
                  <a:ext uri="{0D108BD9-81ED-4DB2-BD59-A6C34878D82A}">
                    <a16:rowId xmlns:a16="http://schemas.microsoft.com/office/drawing/2014/main" val="3563057712"/>
                  </a:ext>
                </a:extLst>
              </a:tr>
              <a:tr h="677436">
                <a:tc>
                  <a:txBody>
                    <a:bodyPr/>
                    <a:lstStyle/>
                    <a:p>
                      <a:r>
                        <a:rPr lang="en-GB" sz="2000" b="1" dirty="0"/>
                        <a:t>Overhead</a:t>
                      </a:r>
                      <a:endParaRPr lang="en-GB" sz="2000" dirty="0"/>
                    </a:p>
                  </a:txBody>
                  <a:tcPr anchor="ctr">
                    <a:solidFill>
                      <a:schemeClr val="accent5">
                        <a:lumMod val="20000"/>
                        <a:lumOff val="80000"/>
                      </a:schemeClr>
                    </a:solidFill>
                  </a:tcPr>
                </a:tc>
                <a:tc>
                  <a:txBody>
                    <a:bodyPr/>
                    <a:lstStyle/>
                    <a:p>
                      <a:r>
                        <a:rPr lang="en-GB" sz="2000" dirty="0"/>
                        <a:t>Low processing cost</a:t>
                      </a:r>
                    </a:p>
                  </a:txBody>
                  <a:tcPr anchor="ctr"/>
                </a:tc>
                <a:tc>
                  <a:txBody>
                    <a:bodyPr/>
                    <a:lstStyle/>
                    <a:p>
                      <a:r>
                        <a:rPr lang="en-GB" sz="2000" dirty="0"/>
                        <a:t>Higher CPU/latency overhead</a:t>
                      </a:r>
                    </a:p>
                  </a:txBody>
                  <a:tcPr anchor="ctr"/>
                </a:tc>
                <a:extLst>
                  <a:ext uri="{0D108BD9-81ED-4DB2-BD59-A6C34878D82A}">
                    <a16:rowId xmlns:a16="http://schemas.microsoft.com/office/drawing/2014/main" val="1598443076"/>
                  </a:ext>
                </a:extLst>
              </a:tr>
              <a:tr h="677436">
                <a:tc>
                  <a:txBody>
                    <a:bodyPr/>
                    <a:lstStyle/>
                    <a:p>
                      <a:r>
                        <a:rPr lang="en-GB" sz="2000" b="1" dirty="0"/>
                        <a:t>Best for</a:t>
                      </a:r>
                      <a:endParaRPr lang="en-GB" sz="2000" dirty="0"/>
                    </a:p>
                  </a:txBody>
                  <a:tcPr anchor="ctr">
                    <a:solidFill>
                      <a:schemeClr val="accent5">
                        <a:lumMod val="20000"/>
                        <a:lumOff val="80000"/>
                      </a:schemeClr>
                    </a:solidFill>
                  </a:tcPr>
                </a:tc>
                <a:tc>
                  <a:txBody>
                    <a:bodyPr/>
                    <a:lstStyle/>
                    <a:p>
                      <a:r>
                        <a:rPr lang="en-GB" sz="2000"/>
                        <a:t>High-rate DoS traffic</a:t>
                      </a:r>
                    </a:p>
                  </a:txBody>
                  <a:tcPr anchor="ctr"/>
                </a:tc>
                <a:tc>
                  <a:txBody>
                    <a:bodyPr/>
                    <a:lstStyle/>
                    <a:p>
                      <a:r>
                        <a:rPr lang="en-GB" sz="2000" dirty="0"/>
                        <a:t>Credential abuse or misuse patterns</a:t>
                      </a:r>
                    </a:p>
                  </a:txBody>
                  <a:tcPr anchor="ctr"/>
                </a:tc>
                <a:extLst>
                  <a:ext uri="{0D108BD9-81ED-4DB2-BD59-A6C34878D82A}">
                    <a16:rowId xmlns:a16="http://schemas.microsoft.com/office/drawing/2014/main" val="1959039463"/>
                  </a:ext>
                </a:extLst>
              </a:tr>
            </a:tbl>
          </a:graphicData>
        </a:graphic>
      </p:graphicFrame>
      <p:pic>
        <p:nvPicPr>
          <p:cNvPr id="1029" name="Picture 5">
            <a:extLst>
              <a:ext uri="{FF2B5EF4-FFF2-40B4-BE49-F238E27FC236}">
                <a16:creationId xmlns:a16="http://schemas.microsoft.com/office/drawing/2014/main" id="{C6BBECBE-C7E9-46ED-966D-1507B844E9F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8096" b="10783"/>
          <a:stretch/>
        </p:blipFill>
        <p:spPr bwMode="auto">
          <a:xfrm>
            <a:off x="12415460" y="1987009"/>
            <a:ext cx="5094514" cy="31235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23258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5"/>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420" name="Google Shape;420;p25"/>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sp>
        <p:nvSpPr>
          <p:cNvPr id="421" name="Google Shape;421;p25"/>
          <p:cNvSpPr txBox="1"/>
          <p:nvPr/>
        </p:nvSpPr>
        <p:spPr>
          <a:xfrm>
            <a:off x="1017814" y="962025"/>
            <a:ext cx="162306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GB" sz="3999" b="1" dirty="0">
                <a:solidFill>
                  <a:srgbClr val="3A91B9"/>
                </a:solidFill>
                <a:latin typeface="Montserrat"/>
                <a:ea typeface="Montserrat"/>
                <a:cs typeface="Montserrat"/>
                <a:sym typeface="Montserrat"/>
              </a:rPr>
              <a:t>5</a:t>
            </a:r>
            <a:r>
              <a:rPr lang="en-GB" sz="3999" b="1" i="0" u="none" strike="noStrike" cap="none" dirty="0">
                <a:solidFill>
                  <a:srgbClr val="3A91B9"/>
                </a:solidFill>
                <a:latin typeface="Montserrat"/>
                <a:ea typeface="Montserrat"/>
                <a:cs typeface="Montserrat"/>
                <a:sym typeface="Montserrat"/>
              </a:rPr>
              <a:t>. Mitigation Strategy </a:t>
            </a:r>
            <a:r>
              <a:rPr lang="en-GB" sz="3999" b="1" dirty="0">
                <a:solidFill>
                  <a:srgbClr val="3A91B9"/>
                </a:solidFill>
                <a:latin typeface="Montserrat"/>
                <a:ea typeface="Montserrat"/>
                <a:cs typeface="Montserrat"/>
                <a:sym typeface="Montserrat"/>
              </a:rPr>
              <a:t>B</a:t>
            </a:r>
            <a:r>
              <a:rPr lang="en-GB" sz="3999" b="1" i="0" u="none" strike="noStrike" cap="none" dirty="0">
                <a:solidFill>
                  <a:srgbClr val="3A91B9"/>
                </a:solidFill>
                <a:latin typeface="Montserrat"/>
                <a:ea typeface="Montserrat"/>
                <a:cs typeface="Montserrat"/>
                <a:sym typeface="Montserrat"/>
              </a:rPr>
              <a:t>: Source Blocking</a:t>
            </a:r>
            <a:endParaRPr dirty="0"/>
          </a:p>
        </p:txBody>
      </p:sp>
      <p:sp>
        <p:nvSpPr>
          <p:cNvPr id="5" name="Text 1">
            <a:extLst>
              <a:ext uri="{FF2B5EF4-FFF2-40B4-BE49-F238E27FC236}">
                <a16:creationId xmlns:a16="http://schemas.microsoft.com/office/drawing/2014/main" id="{A953AF25-15D9-476A-B79A-EA26230FA113}"/>
              </a:ext>
            </a:extLst>
          </p:cNvPr>
          <p:cNvSpPr/>
          <p:nvPr/>
        </p:nvSpPr>
        <p:spPr>
          <a:xfrm>
            <a:off x="1115785" y="2514180"/>
            <a:ext cx="16394189" cy="6810795"/>
          </a:xfrm>
          <a:prstGeom prst="rect">
            <a:avLst/>
          </a:prstGeom>
          <a:noFill/>
          <a:ln/>
        </p:spPr>
        <p:txBody>
          <a:bodyPr wrap="square" lIns="0" tIns="0" rIns="0" bIns="0" rtlCol="0" anchor="t"/>
          <a:lstStyle/>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Block malicious </a:t>
            </a:r>
            <a:r>
              <a:rPr lang="en-GB" sz="2400" b="1" dirty="0">
                <a:solidFill>
                  <a:schemeClr val="tx1"/>
                </a:solidFill>
                <a:latin typeface="Montserrat" pitchFamily="34" charset="0"/>
                <a:ea typeface="Montserrat" pitchFamily="34" charset="-122"/>
                <a:cs typeface="Montserrat" pitchFamily="34" charset="-120"/>
              </a:rPr>
              <a:t>IP/ports/subnets </a:t>
            </a:r>
            <a:r>
              <a:rPr lang="en-GB" sz="2400" dirty="0">
                <a:solidFill>
                  <a:schemeClr val="tx1"/>
                </a:solidFill>
                <a:latin typeface="Montserrat" pitchFamily="34" charset="0"/>
                <a:ea typeface="Montserrat" pitchFamily="34" charset="-122"/>
                <a:cs typeface="Montserrat" pitchFamily="34" charset="-120"/>
              </a:rPr>
              <a:t>detected by Suricata</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Reduce </a:t>
            </a:r>
            <a:r>
              <a:rPr lang="en-GB" sz="2400" b="1" dirty="0">
                <a:solidFill>
                  <a:schemeClr val="tx1"/>
                </a:solidFill>
                <a:latin typeface="Montserrat" pitchFamily="34" charset="0"/>
                <a:ea typeface="Montserrat" pitchFamily="34" charset="-122"/>
                <a:cs typeface="Montserrat" pitchFamily="34" charset="-120"/>
              </a:rPr>
              <a:t>repeated DoS traffic </a:t>
            </a:r>
            <a:r>
              <a:rPr lang="en-GB" sz="2400" dirty="0">
                <a:solidFill>
                  <a:schemeClr val="tx1"/>
                </a:solidFill>
                <a:latin typeface="Montserrat" pitchFamily="34" charset="0"/>
                <a:ea typeface="Montserrat" pitchFamily="34" charset="-122"/>
                <a:cs typeface="Montserrat" pitchFamily="34" charset="-120"/>
              </a:rPr>
              <a:t>from identified attackers</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Quick containment while deeper </a:t>
            </a:r>
            <a:r>
              <a:rPr lang="en-GB" sz="2400" dirty="0" err="1">
                <a:solidFill>
                  <a:schemeClr val="tx1"/>
                </a:solidFill>
                <a:latin typeface="Montserrat" pitchFamily="34" charset="0"/>
                <a:ea typeface="Montserrat" pitchFamily="34" charset="-122"/>
                <a:cs typeface="Montserrat" pitchFamily="34" charset="-120"/>
              </a:rPr>
              <a:t>defense</a:t>
            </a:r>
            <a:r>
              <a:rPr lang="en-GB" sz="2400" dirty="0">
                <a:solidFill>
                  <a:schemeClr val="tx1"/>
                </a:solidFill>
                <a:latin typeface="Montserrat" pitchFamily="34" charset="0"/>
                <a:ea typeface="Montserrat" pitchFamily="34" charset="-122"/>
                <a:cs typeface="Montserrat" pitchFamily="34" charset="-120"/>
              </a:rPr>
              <a:t> is prepared</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Best used when the attacker’s identity is </a:t>
            </a:r>
            <a:r>
              <a:rPr lang="en-GB" sz="2400" b="1" dirty="0">
                <a:solidFill>
                  <a:schemeClr val="tx1"/>
                </a:solidFill>
                <a:latin typeface="Montserrat" pitchFamily="34" charset="0"/>
                <a:ea typeface="Montserrat" pitchFamily="34" charset="-122"/>
                <a:cs typeface="Montserrat" pitchFamily="34" charset="-120"/>
              </a:rPr>
              <a:t>consistent</a:t>
            </a:r>
            <a:r>
              <a:rPr lang="en-GB" sz="2400" dirty="0">
                <a:solidFill>
                  <a:schemeClr val="tx1"/>
                </a:solidFill>
                <a:latin typeface="Montserrat" pitchFamily="34" charset="0"/>
                <a:ea typeface="Montserrat" pitchFamily="34" charset="-122"/>
                <a:cs typeface="Montserrat" pitchFamily="34" charset="-120"/>
              </a:rPr>
              <a:t> and </a:t>
            </a:r>
            <a:r>
              <a:rPr lang="en-GB" sz="2400" b="1" dirty="0">
                <a:solidFill>
                  <a:schemeClr val="tx1"/>
                </a:solidFill>
                <a:latin typeface="Montserrat" pitchFamily="34" charset="0"/>
                <a:ea typeface="Montserrat" pitchFamily="34" charset="-122"/>
                <a:cs typeface="Montserrat" pitchFamily="34" charset="-120"/>
              </a:rPr>
              <a:t>traceable</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Often implemented at </a:t>
            </a:r>
            <a:r>
              <a:rPr lang="en-GB" sz="2400" b="1" dirty="0">
                <a:solidFill>
                  <a:schemeClr val="tx1"/>
                </a:solidFill>
                <a:latin typeface="Montserrat" pitchFamily="34" charset="0"/>
                <a:ea typeface="Montserrat" pitchFamily="34" charset="-122"/>
                <a:cs typeface="Montserrat" pitchFamily="34" charset="-120"/>
              </a:rPr>
              <a:t>firewalls, SDN switches</a:t>
            </a:r>
            <a:r>
              <a:rPr lang="en-GB" sz="2400" dirty="0">
                <a:solidFill>
                  <a:schemeClr val="tx1"/>
                </a:solidFill>
                <a:latin typeface="Montserrat" pitchFamily="34" charset="0"/>
                <a:ea typeface="Montserrat" pitchFamily="34" charset="-122"/>
                <a:cs typeface="Montserrat" pitchFamily="34" charset="-120"/>
              </a:rPr>
              <a:t>, or </a:t>
            </a:r>
            <a:r>
              <a:rPr lang="en-GB" sz="2400" b="1" dirty="0">
                <a:solidFill>
                  <a:schemeClr val="tx1"/>
                </a:solidFill>
                <a:latin typeface="Montserrat" pitchFamily="34" charset="0"/>
                <a:ea typeface="Montserrat" pitchFamily="34" charset="-122"/>
                <a:cs typeface="Montserrat" pitchFamily="34" charset="-120"/>
              </a:rPr>
              <a:t>edge routers</a:t>
            </a:r>
          </a:p>
        </p:txBody>
      </p:sp>
      <p:sp>
        <p:nvSpPr>
          <p:cNvPr id="7" name="Google Shape;421;p25">
            <a:extLst>
              <a:ext uri="{FF2B5EF4-FFF2-40B4-BE49-F238E27FC236}">
                <a16:creationId xmlns:a16="http://schemas.microsoft.com/office/drawing/2014/main" id="{432B4B43-F1C1-4ECA-9D1A-B64E7A4E87CD}"/>
              </a:ext>
            </a:extLst>
          </p:cNvPr>
          <p:cNvSpPr txBox="1"/>
          <p:nvPr/>
        </p:nvSpPr>
        <p:spPr>
          <a:xfrm>
            <a:off x="1028699" y="1833714"/>
            <a:ext cx="10423072" cy="517065"/>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GB" sz="2400" b="1" i="0" u="none" strike="noStrike" cap="none" dirty="0">
                <a:solidFill>
                  <a:srgbClr val="3A91B9"/>
                </a:solidFill>
                <a:latin typeface="Montserrat"/>
                <a:ea typeface="Montserrat"/>
                <a:cs typeface="Montserrat"/>
                <a:sym typeface="Montserrat"/>
              </a:rPr>
              <a:t>Prevent known attacker reachability</a:t>
            </a:r>
            <a:endParaRPr sz="2400" dirty="0"/>
          </a:p>
        </p:txBody>
      </p:sp>
      <p:pic>
        <p:nvPicPr>
          <p:cNvPr id="3074" name="Picture 2">
            <a:extLst>
              <a:ext uri="{FF2B5EF4-FFF2-40B4-BE49-F238E27FC236}">
                <a16:creationId xmlns:a16="http://schemas.microsoft.com/office/drawing/2014/main" id="{A97FCD2C-B799-49AF-AE37-D4B348C4A02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5109" b="5584"/>
          <a:stretch/>
        </p:blipFill>
        <p:spPr bwMode="auto">
          <a:xfrm>
            <a:off x="6574623" y="5279991"/>
            <a:ext cx="6629400" cy="49856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9110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5"/>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420" name="Google Shape;420;p25"/>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sp>
        <p:nvSpPr>
          <p:cNvPr id="421" name="Google Shape;421;p25"/>
          <p:cNvSpPr txBox="1"/>
          <p:nvPr/>
        </p:nvSpPr>
        <p:spPr>
          <a:xfrm>
            <a:off x="1017814" y="962025"/>
            <a:ext cx="162306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GB" sz="3999" b="1" i="0" u="none" strike="noStrike" cap="none" dirty="0">
                <a:solidFill>
                  <a:srgbClr val="3A91B9"/>
                </a:solidFill>
                <a:latin typeface="Montserrat"/>
                <a:ea typeface="Montserrat"/>
                <a:cs typeface="Montserrat"/>
                <a:sym typeface="Montserrat"/>
              </a:rPr>
              <a:t>6. Mitigation Strategy C: Suricata Active Drop Rules</a:t>
            </a:r>
            <a:endParaRPr dirty="0"/>
          </a:p>
        </p:txBody>
      </p:sp>
      <p:sp>
        <p:nvSpPr>
          <p:cNvPr id="5" name="Text 1">
            <a:extLst>
              <a:ext uri="{FF2B5EF4-FFF2-40B4-BE49-F238E27FC236}">
                <a16:creationId xmlns:a16="http://schemas.microsoft.com/office/drawing/2014/main" id="{A953AF25-15D9-476A-B79A-EA26230FA113}"/>
              </a:ext>
            </a:extLst>
          </p:cNvPr>
          <p:cNvSpPr/>
          <p:nvPr/>
        </p:nvSpPr>
        <p:spPr>
          <a:xfrm>
            <a:off x="1115785" y="2514180"/>
            <a:ext cx="16394189" cy="6810795"/>
          </a:xfrm>
          <a:prstGeom prst="rect">
            <a:avLst/>
          </a:prstGeom>
          <a:noFill/>
          <a:ln/>
        </p:spPr>
        <p:txBody>
          <a:bodyPr wrap="square" lIns="0" tIns="0" rIns="0" bIns="0" rtlCol="0" anchor="t"/>
          <a:lstStyle/>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Enable Suricata to both </a:t>
            </a:r>
            <a:r>
              <a:rPr lang="en-GB" sz="2400" b="1" dirty="0">
                <a:solidFill>
                  <a:schemeClr val="tx1"/>
                </a:solidFill>
                <a:latin typeface="Montserrat" pitchFamily="34" charset="0"/>
                <a:ea typeface="Montserrat" pitchFamily="34" charset="-122"/>
                <a:cs typeface="Montserrat" pitchFamily="34" charset="-120"/>
              </a:rPr>
              <a:t>detect and block </a:t>
            </a:r>
            <a:r>
              <a:rPr lang="en-GB" sz="2400" dirty="0">
                <a:solidFill>
                  <a:schemeClr val="tx1"/>
                </a:solidFill>
                <a:latin typeface="Montserrat" pitchFamily="34" charset="0"/>
                <a:ea typeface="Montserrat" pitchFamily="34" charset="-122"/>
                <a:cs typeface="Montserrat" pitchFamily="34" charset="-120"/>
              </a:rPr>
              <a:t>malicious traffic</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Automate response based on </a:t>
            </a:r>
            <a:r>
              <a:rPr lang="en-GB" sz="2400" b="1" dirty="0">
                <a:solidFill>
                  <a:schemeClr val="tx1"/>
                </a:solidFill>
                <a:latin typeface="Montserrat" pitchFamily="34" charset="0"/>
                <a:ea typeface="Montserrat" pitchFamily="34" charset="-122"/>
                <a:cs typeface="Montserrat" pitchFamily="34" charset="-120"/>
              </a:rPr>
              <a:t>rule matches and severity</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Reduce attack impact </a:t>
            </a:r>
            <a:r>
              <a:rPr lang="en-GB" sz="2400" b="1" dirty="0">
                <a:solidFill>
                  <a:schemeClr val="tx1"/>
                </a:solidFill>
                <a:latin typeface="Montserrat" pitchFamily="34" charset="0"/>
                <a:ea typeface="Montserrat" pitchFamily="34" charset="-122"/>
                <a:cs typeface="Montserrat" pitchFamily="34" charset="-120"/>
              </a:rPr>
              <a:t>without human intervention</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Maintain protection </a:t>
            </a:r>
            <a:r>
              <a:rPr lang="en-GB" sz="2400" b="1" dirty="0">
                <a:solidFill>
                  <a:schemeClr val="tx1"/>
                </a:solidFill>
                <a:latin typeface="Montserrat" pitchFamily="34" charset="0"/>
                <a:ea typeface="Montserrat" pitchFamily="34" charset="-122"/>
                <a:cs typeface="Montserrat" pitchFamily="34" charset="-120"/>
              </a:rPr>
              <a:t>close to the service under attack</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Useful when the attacker’s identity is </a:t>
            </a:r>
            <a:r>
              <a:rPr lang="en-GB" sz="2400" b="1" dirty="0">
                <a:solidFill>
                  <a:schemeClr val="tx1"/>
                </a:solidFill>
                <a:latin typeface="Montserrat" pitchFamily="34" charset="0"/>
                <a:ea typeface="Montserrat" pitchFamily="34" charset="-122"/>
                <a:cs typeface="Montserrat" pitchFamily="34" charset="-120"/>
              </a:rPr>
              <a:t>dynamic or spoofed</a:t>
            </a:r>
          </a:p>
        </p:txBody>
      </p:sp>
      <p:sp>
        <p:nvSpPr>
          <p:cNvPr id="7" name="Google Shape;421;p25">
            <a:extLst>
              <a:ext uri="{FF2B5EF4-FFF2-40B4-BE49-F238E27FC236}">
                <a16:creationId xmlns:a16="http://schemas.microsoft.com/office/drawing/2014/main" id="{432B4B43-F1C1-4ECA-9D1A-B64E7A4E87CD}"/>
              </a:ext>
            </a:extLst>
          </p:cNvPr>
          <p:cNvSpPr txBox="1"/>
          <p:nvPr/>
        </p:nvSpPr>
        <p:spPr>
          <a:xfrm>
            <a:off x="1028699" y="1833714"/>
            <a:ext cx="10423072" cy="517065"/>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GB" sz="2400" b="1" i="0" u="none" strike="noStrike" cap="none" dirty="0">
                <a:solidFill>
                  <a:srgbClr val="3A91B9"/>
                </a:solidFill>
                <a:latin typeface="Montserrat"/>
                <a:ea typeface="Montserrat"/>
                <a:cs typeface="Montserrat"/>
                <a:sym typeface="Montserrat"/>
              </a:rPr>
              <a:t>Inline detection-driven mitigation</a:t>
            </a:r>
            <a:endParaRPr sz="2400" dirty="0"/>
          </a:p>
        </p:txBody>
      </p:sp>
      <p:graphicFrame>
        <p:nvGraphicFramePr>
          <p:cNvPr id="3" name="Tabla 2">
            <a:extLst>
              <a:ext uri="{FF2B5EF4-FFF2-40B4-BE49-F238E27FC236}">
                <a16:creationId xmlns:a16="http://schemas.microsoft.com/office/drawing/2014/main" id="{F925BB2C-8C8B-4C8D-9B1A-1378C0154EFA}"/>
              </a:ext>
            </a:extLst>
          </p:cNvPr>
          <p:cNvGraphicFramePr>
            <a:graphicFrameLocks noGrp="1"/>
          </p:cNvGraphicFramePr>
          <p:nvPr>
            <p:extLst>
              <p:ext uri="{D42A27DB-BD31-4B8C-83A1-F6EECF244321}">
                <p14:modId xmlns:p14="http://schemas.microsoft.com/office/powerpoint/2010/main" val="823882973"/>
              </p:ext>
            </p:extLst>
          </p:nvPr>
        </p:nvGraphicFramePr>
        <p:xfrm>
          <a:off x="3282043" y="5919577"/>
          <a:ext cx="14657614" cy="2682240"/>
        </p:xfrm>
        <a:graphic>
          <a:graphicData uri="http://schemas.openxmlformats.org/drawingml/2006/table">
            <a:tbl>
              <a:tblPr>
                <a:tableStyleId>{BDBED569-4797-4DF1-A0F4-6AAB3CD982D8}</a:tableStyleId>
              </a:tblPr>
              <a:tblGrid>
                <a:gridCol w="2459554">
                  <a:extLst>
                    <a:ext uri="{9D8B030D-6E8A-4147-A177-3AD203B41FA5}">
                      <a16:colId xmlns:a16="http://schemas.microsoft.com/office/drawing/2014/main" val="3395999478"/>
                    </a:ext>
                  </a:extLst>
                </a:gridCol>
                <a:gridCol w="6472507">
                  <a:extLst>
                    <a:ext uri="{9D8B030D-6E8A-4147-A177-3AD203B41FA5}">
                      <a16:colId xmlns:a16="http://schemas.microsoft.com/office/drawing/2014/main" val="3965881039"/>
                    </a:ext>
                  </a:extLst>
                </a:gridCol>
                <a:gridCol w="5725553">
                  <a:extLst>
                    <a:ext uri="{9D8B030D-6E8A-4147-A177-3AD203B41FA5}">
                      <a16:colId xmlns:a16="http://schemas.microsoft.com/office/drawing/2014/main" val="3102686314"/>
                    </a:ext>
                  </a:extLst>
                </a:gridCol>
              </a:tblGrid>
              <a:tr h="0">
                <a:tc>
                  <a:txBody>
                    <a:bodyPr/>
                    <a:lstStyle/>
                    <a:p>
                      <a:r>
                        <a:rPr lang="en-GB" sz="2000" dirty="0"/>
                        <a:t>Aspect</a:t>
                      </a:r>
                    </a:p>
                  </a:txBody>
                  <a:tcPr anchor="ctr">
                    <a:solidFill>
                      <a:srgbClr val="D4E9F7"/>
                    </a:solidFill>
                  </a:tcPr>
                </a:tc>
                <a:tc>
                  <a:txBody>
                    <a:bodyPr/>
                    <a:lstStyle/>
                    <a:p>
                      <a:r>
                        <a:rPr lang="en-GB" sz="2000" dirty="0"/>
                        <a:t>Pros</a:t>
                      </a:r>
                    </a:p>
                  </a:txBody>
                  <a:tcPr anchor="ctr">
                    <a:solidFill>
                      <a:srgbClr val="D4E9F7"/>
                    </a:solidFill>
                  </a:tcPr>
                </a:tc>
                <a:tc>
                  <a:txBody>
                    <a:bodyPr/>
                    <a:lstStyle/>
                    <a:p>
                      <a:r>
                        <a:rPr lang="en-GB" sz="2000" dirty="0"/>
                        <a:t>Cons</a:t>
                      </a:r>
                    </a:p>
                  </a:txBody>
                  <a:tcPr anchor="ctr">
                    <a:solidFill>
                      <a:srgbClr val="D4E9F7"/>
                    </a:solidFill>
                  </a:tcPr>
                </a:tc>
                <a:extLst>
                  <a:ext uri="{0D108BD9-81ED-4DB2-BD59-A6C34878D82A}">
                    <a16:rowId xmlns:a16="http://schemas.microsoft.com/office/drawing/2014/main" val="3246235214"/>
                  </a:ext>
                </a:extLst>
              </a:tr>
              <a:tr h="0">
                <a:tc>
                  <a:txBody>
                    <a:bodyPr/>
                    <a:lstStyle/>
                    <a:p>
                      <a:r>
                        <a:rPr lang="en-GB" sz="2000" b="1" dirty="0"/>
                        <a:t>Scope</a:t>
                      </a:r>
                      <a:endParaRPr lang="en-GB" sz="2000" dirty="0"/>
                    </a:p>
                  </a:txBody>
                  <a:tcPr anchor="ctr">
                    <a:solidFill>
                      <a:schemeClr val="accent5">
                        <a:lumMod val="20000"/>
                        <a:lumOff val="80000"/>
                      </a:schemeClr>
                    </a:solidFill>
                  </a:tcPr>
                </a:tc>
                <a:tc>
                  <a:txBody>
                    <a:bodyPr/>
                    <a:lstStyle/>
                    <a:p>
                      <a:r>
                        <a:rPr lang="en-GB" sz="2000" dirty="0"/>
                        <a:t>Targets only traffic confirmed as malicious</a:t>
                      </a:r>
                    </a:p>
                  </a:txBody>
                  <a:tcPr anchor="ctr"/>
                </a:tc>
                <a:tc>
                  <a:txBody>
                    <a:bodyPr/>
                    <a:lstStyle/>
                    <a:p>
                      <a:r>
                        <a:rPr lang="en-GB" sz="2000"/>
                        <a:t>Dependent on rule quality and coverage</a:t>
                      </a:r>
                    </a:p>
                  </a:txBody>
                  <a:tcPr anchor="ctr"/>
                </a:tc>
                <a:extLst>
                  <a:ext uri="{0D108BD9-81ED-4DB2-BD59-A6C34878D82A}">
                    <a16:rowId xmlns:a16="http://schemas.microsoft.com/office/drawing/2014/main" val="1699591164"/>
                  </a:ext>
                </a:extLst>
              </a:tr>
              <a:tr h="0">
                <a:tc>
                  <a:txBody>
                    <a:bodyPr/>
                    <a:lstStyle/>
                    <a:p>
                      <a:r>
                        <a:rPr lang="en-GB" sz="2000" b="1" dirty="0"/>
                        <a:t>Effectiveness</a:t>
                      </a:r>
                      <a:endParaRPr lang="en-GB" sz="2000" dirty="0"/>
                    </a:p>
                  </a:txBody>
                  <a:tcPr anchor="ctr">
                    <a:solidFill>
                      <a:schemeClr val="accent5">
                        <a:lumMod val="20000"/>
                        <a:lumOff val="80000"/>
                      </a:schemeClr>
                    </a:solidFill>
                  </a:tcPr>
                </a:tc>
                <a:tc>
                  <a:txBody>
                    <a:bodyPr/>
                    <a:lstStyle/>
                    <a:p>
                      <a:r>
                        <a:rPr lang="en-GB" sz="2000" dirty="0"/>
                        <a:t>Stops attacks </a:t>
                      </a:r>
                      <a:r>
                        <a:rPr lang="en-GB" sz="2000" b="1" dirty="0"/>
                        <a:t>immediately upon detection</a:t>
                      </a:r>
                      <a:endParaRPr lang="en-GB" sz="2000" dirty="0"/>
                    </a:p>
                  </a:txBody>
                  <a:tcPr anchor="ctr"/>
                </a:tc>
                <a:tc>
                  <a:txBody>
                    <a:bodyPr/>
                    <a:lstStyle/>
                    <a:p>
                      <a:r>
                        <a:rPr lang="en-GB" sz="2000"/>
                        <a:t>Evasion possible with new/unknown attack patterns</a:t>
                      </a:r>
                    </a:p>
                  </a:txBody>
                  <a:tcPr anchor="ctr"/>
                </a:tc>
                <a:extLst>
                  <a:ext uri="{0D108BD9-81ED-4DB2-BD59-A6C34878D82A}">
                    <a16:rowId xmlns:a16="http://schemas.microsoft.com/office/drawing/2014/main" val="239250649"/>
                  </a:ext>
                </a:extLst>
              </a:tr>
              <a:tr h="0">
                <a:tc>
                  <a:txBody>
                    <a:bodyPr/>
                    <a:lstStyle/>
                    <a:p>
                      <a:r>
                        <a:rPr lang="en-GB" sz="2000" b="1" dirty="0"/>
                        <a:t>Automation</a:t>
                      </a:r>
                      <a:endParaRPr lang="en-GB" sz="2000" dirty="0"/>
                    </a:p>
                  </a:txBody>
                  <a:tcPr anchor="ctr">
                    <a:solidFill>
                      <a:schemeClr val="accent5">
                        <a:lumMod val="20000"/>
                        <a:lumOff val="80000"/>
                      </a:schemeClr>
                    </a:solidFill>
                  </a:tcPr>
                </a:tc>
                <a:tc>
                  <a:txBody>
                    <a:bodyPr/>
                    <a:lstStyle/>
                    <a:p>
                      <a:r>
                        <a:rPr lang="en-GB" sz="2000" dirty="0"/>
                        <a:t>No manual operator action required</a:t>
                      </a:r>
                    </a:p>
                  </a:txBody>
                  <a:tcPr anchor="ctr"/>
                </a:tc>
                <a:tc>
                  <a:txBody>
                    <a:bodyPr/>
                    <a:lstStyle/>
                    <a:p>
                      <a:r>
                        <a:rPr lang="en-GB" sz="2000" dirty="0"/>
                        <a:t>Risk of false positives impacting legitimate users</a:t>
                      </a:r>
                    </a:p>
                  </a:txBody>
                  <a:tcPr anchor="ctr"/>
                </a:tc>
                <a:extLst>
                  <a:ext uri="{0D108BD9-81ED-4DB2-BD59-A6C34878D82A}">
                    <a16:rowId xmlns:a16="http://schemas.microsoft.com/office/drawing/2014/main" val="2817650681"/>
                  </a:ext>
                </a:extLst>
              </a:tr>
              <a:tr h="0">
                <a:tc>
                  <a:txBody>
                    <a:bodyPr/>
                    <a:lstStyle/>
                    <a:p>
                      <a:r>
                        <a:rPr lang="en-GB" sz="2000" b="1" dirty="0"/>
                        <a:t>Performance</a:t>
                      </a:r>
                      <a:endParaRPr lang="en-GB" sz="2000" dirty="0"/>
                    </a:p>
                  </a:txBody>
                  <a:tcPr anchor="ctr">
                    <a:solidFill>
                      <a:schemeClr val="accent5">
                        <a:lumMod val="20000"/>
                        <a:lumOff val="80000"/>
                      </a:schemeClr>
                    </a:solidFill>
                  </a:tcPr>
                </a:tc>
                <a:tc>
                  <a:txBody>
                    <a:bodyPr/>
                    <a:lstStyle/>
                    <a:p>
                      <a:r>
                        <a:rPr lang="en-GB" sz="2000"/>
                        <a:t>Applied close to the MEC service → reduced stress</a:t>
                      </a:r>
                    </a:p>
                  </a:txBody>
                  <a:tcPr anchor="ctr"/>
                </a:tc>
                <a:tc>
                  <a:txBody>
                    <a:bodyPr/>
                    <a:lstStyle/>
                    <a:p>
                      <a:r>
                        <a:rPr lang="en-GB" sz="2000" dirty="0"/>
                        <a:t>Some CPU/memory overhead under high traffic</a:t>
                      </a:r>
                    </a:p>
                  </a:txBody>
                  <a:tcPr anchor="ctr"/>
                </a:tc>
                <a:extLst>
                  <a:ext uri="{0D108BD9-81ED-4DB2-BD59-A6C34878D82A}">
                    <a16:rowId xmlns:a16="http://schemas.microsoft.com/office/drawing/2014/main" val="1500074334"/>
                  </a:ext>
                </a:extLst>
              </a:tr>
              <a:tr h="0">
                <a:tc>
                  <a:txBody>
                    <a:bodyPr/>
                    <a:lstStyle/>
                    <a:p>
                      <a:r>
                        <a:rPr lang="en-GB" sz="2000" b="1" dirty="0"/>
                        <a:t>Best Use Case</a:t>
                      </a:r>
                      <a:endParaRPr lang="en-GB" sz="2000" dirty="0"/>
                    </a:p>
                  </a:txBody>
                  <a:tcPr anchor="ctr">
                    <a:solidFill>
                      <a:schemeClr val="accent5">
                        <a:lumMod val="20000"/>
                        <a:lumOff val="80000"/>
                      </a:schemeClr>
                    </a:solidFill>
                  </a:tcPr>
                </a:tc>
                <a:tc>
                  <a:txBody>
                    <a:bodyPr/>
                    <a:lstStyle/>
                    <a:p>
                      <a:r>
                        <a:rPr lang="en-GB" sz="2000" dirty="0"/>
                        <a:t>Smart detection-driven protection</a:t>
                      </a:r>
                    </a:p>
                  </a:txBody>
                  <a:tcPr anchor="ctr"/>
                </a:tc>
                <a:tc>
                  <a:txBody>
                    <a:bodyPr/>
                    <a:lstStyle/>
                    <a:p>
                      <a:r>
                        <a:rPr lang="en-GB" sz="2000" dirty="0"/>
                        <a:t>Requires active tuning and monitoring</a:t>
                      </a:r>
                    </a:p>
                  </a:txBody>
                  <a:tcPr anchor="ctr"/>
                </a:tc>
                <a:extLst>
                  <a:ext uri="{0D108BD9-81ED-4DB2-BD59-A6C34878D82A}">
                    <a16:rowId xmlns:a16="http://schemas.microsoft.com/office/drawing/2014/main" val="1585114331"/>
                  </a:ext>
                </a:extLst>
              </a:tr>
            </a:tbl>
          </a:graphicData>
        </a:graphic>
      </p:graphicFrame>
    </p:spTree>
    <p:extLst>
      <p:ext uri="{BB962C8B-B14F-4D97-AF65-F5344CB8AC3E}">
        <p14:creationId xmlns:p14="http://schemas.microsoft.com/office/powerpoint/2010/main" val="1135392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5"/>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420" name="Google Shape;420;p25"/>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sp>
        <p:nvSpPr>
          <p:cNvPr id="421" name="Google Shape;421;p25"/>
          <p:cNvSpPr txBox="1"/>
          <p:nvPr/>
        </p:nvSpPr>
        <p:spPr>
          <a:xfrm>
            <a:off x="1028699" y="972131"/>
            <a:ext cx="162306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GB" sz="3999" b="1" i="0" u="none" strike="noStrike" cap="none" dirty="0">
                <a:solidFill>
                  <a:srgbClr val="3A91B9"/>
                </a:solidFill>
                <a:latin typeface="Montserrat"/>
                <a:ea typeface="Montserrat"/>
                <a:cs typeface="Montserrat"/>
                <a:sym typeface="Montserrat"/>
              </a:rPr>
              <a:t>7. Mitigation Strategy D: Operational App Freeze</a:t>
            </a:r>
            <a:endParaRPr dirty="0"/>
          </a:p>
        </p:txBody>
      </p:sp>
      <p:sp>
        <p:nvSpPr>
          <p:cNvPr id="5" name="Text 1">
            <a:extLst>
              <a:ext uri="{FF2B5EF4-FFF2-40B4-BE49-F238E27FC236}">
                <a16:creationId xmlns:a16="http://schemas.microsoft.com/office/drawing/2014/main" id="{A953AF25-15D9-476A-B79A-EA26230FA113}"/>
              </a:ext>
            </a:extLst>
          </p:cNvPr>
          <p:cNvSpPr/>
          <p:nvPr/>
        </p:nvSpPr>
        <p:spPr>
          <a:xfrm>
            <a:off x="1115785" y="2514180"/>
            <a:ext cx="16394189" cy="6810795"/>
          </a:xfrm>
          <a:prstGeom prst="rect">
            <a:avLst/>
          </a:prstGeom>
          <a:noFill/>
          <a:ln/>
        </p:spPr>
        <p:txBody>
          <a:bodyPr wrap="square" lIns="0" tIns="0" rIns="0" bIns="0" rtlCol="0" anchor="t"/>
          <a:lstStyle/>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Maintain </a:t>
            </a:r>
            <a:r>
              <a:rPr lang="en-GB" sz="2400" b="1" dirty="0">
                <a:solidFill>
                  <a:schemeClr val="tx1"/>
                </a:solidFill>
                <a:latin typeface="Montserrat" pitchFamily="34" charset="0"/>
                <a:ea typeface="Montserrat" pitchFamily="34" charset="-122"/>
                <a:cs typeface="Montserrat" pitchFamily="34" charset="-120"/>
              </a:rPr>
              <a:t>core safety services </a:t>
            </a:r>
            <a:r>
              <a:rPr lang="en-GB" sz="2400" dirty="0">
                <a:solidFill>
                  <a:schemeClr val="tx1"/>
                </a:solidFill>
                <a:latin typeface="Montserrat" pitchFamily="34" charset="0"/>
                <a:ea typeface="Montserrat" pitchFamily="34" charset="-122"/>
                <a:cs typeface="Montserrat" pitchFamily="34" charset="-120"/>
              </a:rPr>
              <a:t>even under attack</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Temporarily </a:t>
            </a:r>
            <a:r>
              <a:rPr lang="en-GB" sz="2400" b="1" dirty="0">
                <a:solidFill>
                  <a:schemeClr val="tx1"/>
                </a:solidFill>
                <a:latin typeface="Montserrat" pitchFamily="34" charset="0"/>
                <a:ea typeface="Montserrat" pitchFamily="34" charset="-122"/>
                <a:cs typeface="Montserrat" pitchFamily="34" charset="-120"/>
              </a:rPr>
              <a:t>disable or throttle non-critical features</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Reduce system load to preserve </a:t>
            </a:r>
            <a:r>
              <a:rPr lang="en-GB" sz="2400" b="1" dirty="0">
                <a:solidFill>
                  <a:schemeClr val="tx1"/>
                </a:solidFill>
                <a:latin typeface="Montserrat" pitchFamily="34" charset="0"/>
                <a:ea typeface="Montserrat" pitchFamily="34" charset="-122"/>
                <a:cs typeface="Montserrat" pitchFamily="34" charset="-120"/>
              </a:rPr>
              <a:t>essential mobility functions</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Operators or automated triggers decide </a:t>
            </a:r>
            <a:r>
              <a:rPr lang="en-GB" sz="2400" b="1" dirty="0">
                <a:solidFill>
                  <a:schemeClr val="tx1"/>
                </a:solidFill>
                <a:latin typeface="Montserrat" pitchFamily="34" charset="0"/>
                <a:ea typeface="Montserrat" pitchFamily="34" charset="-122"/>
                <a:cs typeface="Montserrat" pitchFamily="34" charset="-120"/>
              </a:rPr>
              <a:t>when to freeze/unfreeze</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Ensures </a:t>
            </a:r>
            <a:r>
              <a:rPr lang="en-GB" sz="2400" b="1" dirty="0">
                <a:solidFill>
                  <a:schemeClr val="tx1"/>
                </a:solidFill>
                <a:latin typeface="Montserrat" pitchFamily="34" charset="0"/>
                <a:ea typeface="Montserrat" pitchFamily="34" charset="-122"/>
                <a:cs typeface="Montserrat" pitchFamily="34" charset="-120"/>
              </a:rPr>
              <a:t>fail-safe </a:t>
            </a:r>
            <a:r>
              <a:rPr lang="en-GB" sz="2400" b="1" dirty="0" err="1">
                <a:solidFill>
                  <a:schemeClr val="tx1"/>
                </a:solidFill>
                <a:latin typeface="Montserrat" pitchFamily="34" charset="0"/>
                <a:ea typeface="Montserrat" pitchFamily="34" charset="-122"/>
                <a:cs typeface="Montserrat" pitchFamily="34" charset="-120"/>
              </a:rPr>
              <a:t>behavior</a:t>
            </a:r>
            <a:r>
              <a:rPr lang="en-GB" sz="2400" b="1" dirty="0">
                <a:solidFill>
                  <a:schemeClr val="tx1"/>
                </a:solidFill>
                <a:latin typeface="Montserrat" pitchFamily="34" charset="0"/>
                <a:ea typeface="Montserrat" pitchFamily="34" charset="-122"/>
                <a:cs typeface="Montserrat" pitchFamily="34" charset="-120"/>
              </a:rPr>
              <a:t> </a:t>
            </a:r>
            <a:r>
              <a:rPr lang="en-GB" sz="2400" dirty="0">
                <a:solidFill>
                  <a:schemeClr val="tx1"/>
                </a:solidFill>
                <a:latin typeface="Montserrat" pitchFamily="34" charset="0"/>
                <a:ea typeface="Montserrat" pitchFamily="34" charset="-122"/>
                <a:cs typeface="Montserrat" pitchFamily="34" charset="-120"/>
              </a:rPr>
              <a:t>for connected traffic operations</a:t>
            </a:r>
            <a:endParaRPr lang="en-GB" sz="2400" b="1" dirty="0">
              <a:solidFill>
                <a:schemeClr val="tx1"/>
              </a:solidFill>
              <a:latin typeface="Montserrat" pitchFamily="34" charset="0"/>
              <a:ea typeface="Montserrat" pitchFamily="34" charset="-122"/>
              <a:cs typeface="Montserrat" pitchFamily="34" charset="-120"/>
            </a:endParaRPr>
          </a:p>
        </p:txBody>
      </p:sp>
      <p:sp>
        <p:nvSpPr>
          <p:cNvPr id="7" name="Google Shape;421;p25">
            <a:extLst>
              <a:ext uri="{FF2B5EF4-FFF2-40B4-BE49-F238E27FC236}">
                <a16:creationId xmlns:a16="http://schemas.microsoft.com/office/drawing/2014/main" id="{432B4B43-F1C1-4ECA-9D1A-B64E7A4E87CD}"/>
              </a:ext>
            </a:extLst>
          </p:cNvPr>
          <p:cNvSpPr txBox="1"/>
          <p:nvPr/>
        </p:nvSpPr>
        <p:spPr>
          <a:xfrm>
            <a:off x="1028699" y="1833714"/>
            <a:ext cx="10423072" cy="517065"/>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GB" sz="2400" b="1" i="0" u="none" strike="noStrike" cap="none" dirty="0">
                <a:solidFill>
                  <a:srgbClr val="3A91B9"/>
                </a:solidFill>
                <a:latin typeface="Montserrat"/>
                <a:ea typeface="Montserrat"/>
                <a:cs typeface="Montserrat"/>
                <a:sym typeface="Montserrat"/>
              </a:rPr>
              <a:t>Service continuity prioritization</a:t>
            </a:r>
            <a:endParaRPr sz="2400" dirty="0"/>
          </a:p>
        </p:txBody>
      </p:sp>
      <p:graphicFrame>
        <p:nvGraphicFramePr>
          <p:cNvPr id="4" name="Tabla 3">
            <a:extLst>
              <a:ext uri="{FF2B5EF4-FFF2-40B4-BE49-F238E27FC236}">
                <a16:creationId xmlns:a16="http://schemas.microsoft.com/office/drawing/2014/main" id="{0DC40DCD-A633-41AF-B630-0DF5478631AD}"/>
              </a:ext>
            </a:extLst>
          </p:cNvPr>
          <p:cNvGraphicFramePr>
            <a:graphicFrameLocks noGrp="1"/>
          </p:cNvGraphicFramePr>
          <p:nvPr>
            <p:extLst>
              <p:ext uri="{D42A27DB-BD31-4B8C-83A1-F6EECF244321}">
                <p14:modId xmlns:p14="http://schemas.microsoft.com/office/powerpoint/2010/main" val="3080735189"/>
              </p:ext>
            </p:extLst>
          </p:nvPr>
        </p:nvGraphicFramePr>
        <p:xfrm>
          <a:off x="4495800" y="5919577"/>
          <a:ext cx="13324113" cy="2987040"/>
        </p:xfrm>
        <a:graphic>
          <a:graphicData uri="http://schemas.openxmlformats.org/drawingml/2006/table">
            <a:tbl>
              <a:tblPr>
                <a:tableStyleId>{BDBED569-4797-4DF1-A0F4-6AAB3CD982D8}</a:tableStyleId>
              </a:tblPr>
              <a:tblGrid>
                <a:gridCol w="2264228">
                  <a:extLst>
                    <a:ext uri="{9D8B030D-6E8A-4147-A177-3AD203B41FA5}">
                      <a16:colId xmlns:a16="http://schemas.microsoft.com/office/drawing/2014/main" val="4058498778"/>
                    </a:ext>
                  </a:extLst>
                </a:gridCol>
                <a:gridCol w="5290458">
                  <a:extLst>
                    <a:ext uri="{9D8B030D-6E8A-4147-A177-3AD203B41FA5}">
                      <a16:colId xmlns:a16="http://schemas.microsoft.com/office/drawing/2014/main" val="2343820640"/>
                    </a:ext>
                  </a:extLst>
                </a:gridCol>
                <a:gridCol w="5769427">
                  <a:extLst>
                    <a:ext uri="{9D8B030D-6E8A-4147-A177-3AD203B41FA5}">
                      <a16:colId xmlns:a16="http://schemas.microsoft.com/office/drawing/2014/main" val="2230540205"/>
                    </a:ext>
                  </a:extLst>
                </a:gridCol>
              </a:tblGrid>
              <a:tr h="0">
                <a:tc>
                  <a:txBody>
                    <a:bodyPr/>
                    <a:lstStyle/>
                    <a:p>
                      <a:r>
                        <a:rPr lang="en-GB" sz="2000" dirty="0"/>
                        <a:t>Aspect</a:t>
                      </a:r>
                    </a:p>
                  </a:txBody>
                  <a:tcPr anchor="ctr">
                    <a:solidFill>
                      <a:schemeClr val="accent5">
                        <a:lumMod val="20000"/>
                        <a:lumOff val="80000"/>
                      </a:schemeClr>
                    </a:solidFill>
                  </a:tcPr>
                </a:tc>
                <a:tc>
                  <a:txBody>
                    <a:bodyPr/>
                    <a:lstStyle/>
                    <a:p>
                      <a:r>
                        <a:rPr lang="en-GB" sz="2000" dirty="0"/>
                        <a:t>Pros</a:t>
                      </a:r>
                    </a:p>
                  </a:txBody>
                  <a:tcPr anchor="ctr">
                    <a:solidFill>
                      <a:schemeClr val="accent5">
                        <a:lumMod val="20000"/>
                        <a:lumOff val="80000"/>
                      </a:schemeClr>
                    </a:solidFill>
                  </a:tcPr>
                </a:tc>
                <a:tc>
                  <a:txBody>
                    <a:bodyPr/>
                    <a:lstStyle/>
                    <a:p>
                      <a:r>
                        <a:rPr lang="en-GB" sz="2000" dirty="0"/>
                        <a:t>Cons</a:t>
                      </a:r>
                    </a:p>
                  </a:txBody>
                  <a:tcPr anchor="ctr">
                    <a:solidFill>
                      <a:schemeClr val="accent5">
                        <a:lumMod val="20000"/>
                        <a:lumOff val="80000"/>
                      </a:schemeClr>
                    </a:solidFill>
                  </a:tcPr>
                </a:tc>
                <a:extLst>
                  <a:ext uri="{0D108BD9-81ED-4DB2-BD59-A6C34878D82A}">
                    <a16:rowId xmlns:a16="http://schemas.microsoft.com/office/drawing/2014/main" val="2641347323"/>
                  </a:ext>
                </a:extLst>
              </a:tr>
              <a:tr h="0">
                <a:tc>
                  <a:txBody>
                    <a:bodyPr/>
                    <a:lstStyle/>
                    <a:p>
                      <a:r>
                        <a:rPr lang="en-GB" sz="2000" b="1" dirty="0"/>
                        <a:t>Scope</a:t>
                      </a:r>
                      <a:endParaRPr lang="en-GB" sz="2000" dirty="0"/>
                    </a:p>
                  </a:txBody>
                  <a:tcPr anchor="ctr">
                    <a:solidFill>
                      <a:schemeClr val="accent5">
                        <a:lumMod val="20000"/>
                        <a:lumOff val="80000"/>
                      </a:schemeClr>
                    </a:solidFill>
                  </a:tcPr>
                </a:tc>
                <a:tc>
                  <a:txBody>
                    <a:bodyPr/>
                    <a:lstStyle/>
                    <a:p>
                      <a:r>
                        <a:rPr lang="en-GB" sz="2000" dirty="0"/>
                        <a:t>Keeps essential services operational</a:t>
                      </a:r>
                    </a:p>
                  </a:txBody>
                  <a:tcPr anchor="ctr"/>
                </a:tc>
                <a:tc>
                  <a:txBody>
                    <a:bodyPr/>
                    <a:lstStyle/>
                    <a:p>
                      <a:r>
                        <a:rPr lang="en-GB" sz="2000"/>
                        <a:t>Reduced functionality impacts user experience</a:t>
                      </a:r>
                    </a:p>
                  </a:txBody>
                  <a:tcPr anchor="ctr"/>
                </a:tc>
                <a:extLst>
                  <a:ext uri="{0D108BD9-81ED-4DB2-BD59-A6C34878D82A}">
                    <a16:rowId xmlns:a16="http://schemas.microsoft.com/office/drawing/2014/main" val="1340990853"/>
                  </a:ext>
                </a:extLst>
              </a:tr>
              <a:tr h="0">
                <a:tc>
                  <a:txBody>
                    <a:bodyPr/>
                    <a:lstStyle/>
                    <a:p>
                      <a:r>
                        <a:rPr lang="en-GB" sz="2000" b="1" dirty="0"/>
                        <a:t>Effectiveness</a:t>
                      </a:r>
                      <a:endParaRPr lang="en-GB" sz="2000" dirty="0"/>
                    </a:p>
                  </a:txBody>
                  <a:tcPr anchor="ctr">
                    <a:solidFill>
                      <a:schemeClr val="accent5">
                        <a:lumMod val="20000"/>
                        <a:lumOff val="80000"/>
                      </a:schemeClr>
                    </a:solidFill>
                  </a:tcPr>
                </a:tc>
                <a:tc>
                  <a:txBody>
                    <a:bodyPr/>
                    <a:lstStyle/>
                    <a:p>
                      <a:r>
                        <a:rPr lang="en-GB" sz="2000" dirty="0"/>
                        <a:t>Eliminates overload by limiting request types</a:t>
                      </a:r>
                    </a:p>
                  </a:txBody>
                  <a:tcPr anchor="ctr"/>
                </a:tc>
                <a:tc>
                  <a:txBody>
                    <a:bodyPr/>
                    <a:lstStyle/>
                    <a:p>
                      <a:r>
                        <a:rPr lang="en-GB" sz="2000"/>
                        <a:t>Doesn’t stop attack traffic itself, only limits service exposure</a:t>
                      </a:r>
                    </a:p>
                  </a:txBody>
                  <a:tcPr anchor="ctr"/>
                </a:tc>
                <a:extLst>
                  <a:ext uri="{0D108BD9-81ED-4DB2-BD59-A6C34878D82A}">
                    <a16:rowId xmlns:a16="http://schemas.microsoft.com/office/drawing/2014/main" val="2793178445"/>
                  </a:ext>
                </a:extLst>
              </a:tr>
              <a:tr h="0">
                <a:tc>
                  <a:txBody>
                    <a:bodyPr/>
                    <a:lstStyle/>
                    <a:p>
                      <a:r>
                        <a:rPr lang="en-GB" sz="2000" b="1" dirty="0"/>
                        <a:t>Control</a:t>
                      </a:r>
                      <a:endParaRPr lang="en-GB" sz="2000" dirty="0"/>
                    </a:p>
                  </a:txBody>
                  <a:tcPr anchor="ctr">
                    <a:solidFill>
                      <a:schemeClr val="accent5">
                        <a:lumMod val="20000"/>
                        <a:lumOff val="80000"/>
                      </a:schemeClr>
                    </a:solidFill>
                  </a:tcPr>
                </a:tc>
                <a:tc>
                  <a:txBody>
                    <a:bodyPr/>
                    <a:lstStyle/>
                    <a:p>
                      <a:r>
                        <a:rPr lang="en-GB" sz="2000" dirty="0"/>
                        <a:t>Clear operational decisions and policies</a:t>
                      </a:r>
                    </a:p>
                  </a:txBody>
                  <a:tcPr anchor="ctr"/>
                </a:tc>
                <a:tc>
                  <a:txBody>
                    <a:bodyPr/>
                    <a:lstStyle/>
                    <a:p>
                      <a:r>
                        <a:rPr lang="en-GB" sz="2000" dirty="0"/>
                        <a:t>Requires predefined service priorities</a:t>
                      </a:r>
                    </a:p>
                  </a:txBody>
                  <a:tcPr anchor="ctr"/>
                </a:tc>
                <a:extLst>
                  <a:ext uri="{0D108BD9-81ED-4DB2-BD59-A6C34878D82A}">
                    <a16:rowId xmlns:a16="http://schemas.microsoft.com/office/drawing/2014/main" val="998486316"/>
                  </a:ext>
                </a:extLst>
              </a:tr>
              <a:tr h="0">
                <a:tc>
                  <a:txBody>
                    <a:bodyPr/>
                    <a:lstStyle/>
                    <a:p>
                      <a:r>
                        <a:rPr lang="en-GB" sz="2000" b="1" dirty="0"/>
                        <a:t>Performance</a:t>
                      </a:r>
                      <a:endParaRPr lang="en-GB" sz="2000" dirty="0"/>
                    </a:p>
                  </a:txBody>
                  <a:tcPr anchor="ctr">
                    <a:solidFill>
                      <a:schemeClr val="accent5">
                        <a:lumMod val="20000"/>
                        <a:lumOff val="80000"/>
                      </a:schemeClr>
                    </a:solidFill>
                  </a:tcPr>
                </a:tc>
                <a:tc>
                  <a:txBody>
                    <a:bodyPr/>
                    <a:lstStyle/>
                    <a:p>
                      <a:r>
                        <a:rPr lang="en-GB" sz="2000" dirty="0"/>
                        <a:t>Prevents MEC API crash during peak stress</a:t>
                      </a:r>
                    </a:p>
                  </a:txBody>
                  <a:tcPr anchor="ctr"/>
                </a:tc>
                <a:tc>
                  <a:txBody>
                    <a:bodyPr/>
                    <a:lstStyle/>
                    <a:p>
                      <a:r>
                        <a:rPr lang="en-GB" sz="2000" dirty="0"/>
                        <a:t>Might be exploited by attackers to force freeze state</a:t>
                      </a:r>
                    </a:p>
                  </a:txBody>
                  <a:tcPr anchor="ctr"/>
                </a:tc>
                <a:extLst>
                  <a:ext uri="{0D108BD9-81ED-4DB2-BD59-A6C34878D82A}">
                    <a16:rowId xmlns:a16="http://schemas.microsoft.com/office/drawing/2014/main" val="958976825"/>
                  </a:ext>
                </a:extLst>
              </a:tr>
              <a:tr h="0">
                <a:tc>
                  <a:txBody>
                    <a:bodyPr/>
                    <a:lstStyle/>
                    <a:p>
                      <a:r>
                        <a:rPr lang="en-GB" sz="2000" b="1" dirty="0"/>
                        <a:t>Best Use Case</a:t>
                      </a:r>
                      <a:endParaRPr lang="en-GB" sz="2000" dirty="0"/>
                    </a:p>
                  </a:txBody>
                  <a:tcPr anchor="ctr">
                    <a:solidFill>
                      <a:schemeClr val="accent5">
                        <a:lumMod val="20000"/>
                        <a:lumOff val="80000"/>
                      </a:schemeClr>
                    </a:solidFill>
                  </a:tcPr>
                </a:tc>
                <a:tc>
                  <a:txBody>
                    <a:bodyPr/>
                    <a:lstStyle/>
                    <a:p>
                      <a:r>
                        <a:rPr lang="en-GB" sz="2000"/>
                        <a:t>Critical safety-relevant applications</a:t>
                      </a:r>
                    </a:p>
                  </a:txBody>
                  <a:tcPr anchor="ctr"/>
                </a:tc>
                <a:tc>
                  <a:txBody>
                    <a:bodyPr/>
                    <a:lstStyle/>
                    <a:p>
                      <a:r>
                        <a:rPr lang="en-GB" sz="2000" dirty="0"/>
                        <a:t>Short-term mitigation, not permanent solution</a:t>
                      </a:r>
                    </a:p>
                  </a:txBody>
                  <a:tcPr anchor="ctr"/>
                </a:tc>
                <a:extLst>
                  <a:ext uri="{0D108BD9-81ED-4DB2-BD59-A6C34878D82A}">
                    <a16:rowId xmlns:a16="http://schemas.microsoft.com/office/drawing/2014/main" val="3762715947"/>
                  </a:ext>
                </a:extLst>
              </a:tr>
            </a:tbl>
          </a:graphicData>
        </a:graphic>
      </p:graphicFrame>
    </p:spTree>
    <p:extLst>
      <p:ext uri="{BB962C8B-B14F-4D97-AF65-F5344CB8AC3E}">
        <p14:creationId xmlns:p14="http://schemas.microsoft.com/office/powerpoint/2010/main" val="32199379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5"/>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420" name="Google Shape;420;p25"/>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sp>
        <p:nvSpPr>
          <p:cNvPr id="421" name="Google Shape;421;p25"/>
          <p:cNvSpPr txBox="1"/>
          <p:nvPr/>
        </p:nvSpPr>
        <p:spPr>
          <a:xfrm>
            <a:off x="1028699" y="972131"/>
            <a:ext cx="162306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GB" sz="3999" b="1" i="0" u="none" strike="noStrike" cap="none" dirty="0">
                <a:solidFill>
                  <a:srgbClr val="3A91B9"/>
                </a:solidFill>
                <a:latin typeface="Montserrat"/>
                <a:ea typeface="Montserrat"/>
                <a:cs typeface="Montserrat"/>
                <a:sym typeface="Montserrat"/>
              </a:rPr>
              <a:t>8. Decision Support Matrix</a:t>
            </a:r>
            <a:endParaRPr dirty="0"/>
          </a:p>
        </p:txBody>
      </p:sp>
      <p:sp>
        <p:nvSpPr>
          <p:cNvPr id="5" name="Text 1">
            <a:extLst>
              <a:ext uri="{FF2B5EF4-FFF2-40B4-BE49-F238E27FC236}">
                <a16:creationId xmlns:a16="http://schemas.microsoft.com/office/drawing/2014/main" id="{A953AF25-15D9-476A-B79A-EA26230FA113}"/>
              </a:ext>
            </a:extLst>
          </p:cNvPr>
          <p:cNvSpPr/>
          <p:nvPr/>
        </p:nvSpPr>
        <p:spPr>
          <a:xfrm>
            <a:off x="1115785" y="2514180"/>
            <a:ext cx="16394189" cy="6810795"/>
          </a:xfrm>
          <a:prstGeom prst="rect">
            <a:avLst/>
          </a:prstGeom>
          <a:noFill/>
          <a:ln/>
        </p:spPr>
        <p:txBody>
          <a:bodyPr wrap="square" lIns="0" tIns="0" rIns="0" bIns="0" rtlCol="0" anchor="t"/>
          <a:lstStyle/>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Evaluate mitigation options using </a:t>
            </a:r>
            <a:r>
              <a:rPr lang="en-GB" sz="2400" b="1" dirty="0">
                <a:solidFill>
                  <a:schemeClr val="tx1"/>
                </a:solidFill>
                <a:latin typeface="Montserrat" pitchFamily="34" charset="0"/>
                <a:ea typeface="Montserrat" pitchFamily="34" charset="-122"/>
                <a:cs typeface="Montserrat" pitchFamily="34" charset="-120"/>
              </a:rPr>
              <a:t>operational impact criteria</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Score based on </a:t>
            </a:r>
            <a:r>
              <a:rPr lang="en-GB" sz="2400" b="1" dirty="0">
                <a:solidFill>
                  <a:schemeClr val="tx1"/>
                </a:solidFill>
                <a:latin typeface="Montserrat" pitchFamily="34" charset="0"/>
                <a:ea typeface="Montserrat" pitchFamily="34" charset="-122"/>
                <a:cs typeface="Montserrat" pitchFamily="34" charset="-120"/>
              </a:rPr>
              <a:t>effectiveness, performance, safety impact, and effort</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Combine </a:t>
            </a:r>
            <a:r>
              <a:rPr lang="en-GB" sz="2400" b="1" dirty="0">
                <a:solidFill>
                  <a:schemeClr val="tx1"/>
                </a:solidFill>
                <a:latin typeface="Montserrat" pitchFamily="34" charset="0"/>
                <a:ea typeface="Montserrat" pitchFamily="34" charset="-122"/>
                <a:cs typeface="Montserrat" pitchFamily="34" charset="-120"/>
              </a:rPr>
              <a:t>visual ranking </a:t>
            </a:r>
            <a:r>
              <a:rPr lang="en-GB" sz="2400" dirty="0">
                <a:solidFill>
                  <a:schemeClr val="tx1"/>
                </a:solidFill>
                <a:latin typeface="Montserrat" pitchFamily="34" charset="0"/>
                <a:ea typeface="Montserrat" pitchFamily="34" charset="-122"/>
                <a:cs typeface="Montserrat" pitchFamily="34" charset="-120"/>
              </a:rPr>
              <a:t>and </a:t>
            </a:r>
            <a:r>
              <a:rPr lang="en-GB" sz="2400" b="1" dirty="0">
                <a:solidFill>
                  <a:schemeClr val="tx1"/>
                </a:solidFill>
                <a:latin typeface="Montserrat" pitchFamily="34" charset="0"/>
                <a:ea typeface="Montserrat" pitchFamily="34" charset="-122"/>
                <a:cs typeface="Montserrat" pitchFamily="34" charset="-120"/>
              </a:rPr>
              <a:t>weighted score </a:t>
            </a:r>
            <a:r>
              <a:rPr lang="en-GB" sz="2400" dirty="0">
                <a:solidFill>
                  <a:schemeClr val="tx1"/>
                </a:solidFill>
                <a:latin typeface="Montserrat" pitchFamily="34" charset="0"/>
                <a:ea typeface="Montserrat" pitchFamily="34" charset="-122"/>
                <a:cs typeface="Montserrat" pitchFamily="34" charset="-120"/>
              </a:rPr>
              <a:t>for transparent justification</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Support </a:t>
            </a:r>
            <a:r>
              <a:rPr lang="en-GB" sz="2400" b="1" dirty="0">
                <a:solidFill>
                  <a:schemeClr val="tx1"/>
                </a:solidFill>
                <a:latin typeface="Montserrat" pitchFamily="34" charset="0"/>
                <a:ea typeface="Montserrat" pitchFamily="34" charset="-122"/>
                <a:cs typeface="Montserrat" pitchFamily="34" charset="-120"/>
              </a:rPr>
              <a:t>evidence-based decision-making </a:t>
            </a:r>
            <a:r>
              <a:rPr lang="en-GB" sz="2400" dirty="0">
                <a:solidFill>
                  <a:schemeClr val="tx1"/>
                </a:solidFill>
                <a:latin typeface="Montserrat" pitchFamily="34" charset="0"/>
                <a:ea typeface="Montserrat" pitchFamily="34" charset="-122"/>
                <a:cs typeface="Montserrat" pitchFamily="34" charset="-120"/>
              </a:rPr>
              <a:t>for </a:t>
            </a:r>
            <a:r>
              <a:rPr lang="en-GB" sz="2400" dirty="0" err="1">
                <a:solidFill>
                  <a:schemeClr val="tx1"/>
                </a:solidFill>
                <a:latin typeface="Montserrat" pitchFamily="34" charset="0"/>
                <a:ea typeface="Montserrat" pitchFamily="34" charset="-122"/>
                <a:cs typeface="Montserrat" pitchFamily="34" charset="-120"/>
              </a:rPr>
              <a:t>NeoCity</a:t>
            </a:r>
            <a:r>
              <a:rPr lang="en-GB" sz="2400" dirty="0">
                <a:solidFill>
                  <a:schemeClr val="tx1"/>
                </a:solidFill>
                <a:latin typeface="Montserrat" pitchFamily="34" charset="0"/>
                <a:ea typeface="Montserrat" pitchFamily="34" charset="-122"/>
                <a:cs typeface="Montserrat" pitchFamily="34" charset="-120"/>
              </a:rPr>
              <a:t> authorities</a:t>
            </a:r>
            <a:endParaRPr lang="en-GB" sz="2400" b="1" dirty="0">
              <a:solidFill>
                <a:schemeClr val="tx1"/>
              </a:solidFill>
              <a:latin typeface="Montserrat" pitchFamily="34" charset="0"/>
              <a:ea typeface="Montserrat" pitchFamily="34" charset="-122"/>
              <a:cs typeface="Montserrat" pitchFamily="34" charset="-120"/>
            </a:endParaRPr>
          </a:p>
        </p:txBody>
      </p:sp>
      <p:sp>
        <p:nvSpPr>
          <p:cNvPr id="7" name="Google Shape;421;p25">
            <a:extLst>
              <a:ext uri="{FF2B5EF4-FFF2-40B4-BE49-F238E27FC236}">
                <a16:creationId xmlns:a16="http://schemas.microsoft.com/office/drawing/2014/main" id="{432B4B43-F1C1-4ECA-9D1A-B64E7A4E87CD}"/>
              </a:ext>
            </a:extLst>
          </p:cNvPr>
          <p:cNvSpPr txBox="1"/>
          <p:nvPr/>
        </p:nvSpPr>
        <p:spPr>
          <a:xfrm>
            <a:off x="1028699" y="1833714"/>
            <a:ext cx="10423072" cy="517065"/>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GB" sz="2400" b="1" i="0" u="none" strike="noStrike" cap="none" dirty="0">
                <a:solidFill>
                  <a:srgbClr val="3A91B9"/>
                </a:solidFill>
                <a:latin typeface="Montserrat"/>
                <a:ea typeface="Montserrat"/>
                <a:cs typeface="Montserrat"/>
                <a:sym typeface="Montserrat"/>
              </a:rPr>
              <a:t>Prioritizing protection for </a:t>
            </a:r>
            <a:r>
              <a:rPr lang="en-GB" sz="2400" b="1" i="0" u="none" strike="noStrike" cap="none" dirty="0" err="1">
                <a:solidFill>
                  <a:srgbClr val="3A91B9"/>
                </a:solidFill>
                <a:latin typeface="Montserrat"/>
                <a:ea typeface="Montserrat"/>
                <a:cs typeface="Montserrat"/>
                <a:sym typeface="Montserrat"/>
              </a:rPr>
              <a:t>NeoCity’s</a:t>
            </a:r>
            <a:r>
              <a:rPr lang="en-GB" sz="2400" b="1" i="0" u="none" strike="noStrike" cap="none" dirty="0">
                <a:solidFill>
                  <a:srgbClr val="3A91B9"/>
                </a:solidFill>
                <a:latin typeface="Montserrat"/>
                <a:ea typeface="Montserrat"/>
                <a:cs typeface="Montserrat"/>
                <a:sym typeface="Montserrat"/>
              </a:rPr>
              <a:t> smart mobility</a:t>
            </a:r>
            <a:endParaRPr sz="2400" dirty="0"/>
          </a:p>
        </p:txBody>
      </p:sp>
      <p:graphicFrame>
        <p:nvGraphicFramePr>
          <p:cNvPr id="3" name="Tabla 2">
            <a:extLst>
              <a:ext uri="{FF2B5EF4-FFF2-40B4-BE49-F238E27FC236}">
                <a16:creationId xmlns:a16="http://schemas.microsoft.com/office/drawing/2014/main" id="{EBCC9387-2621-47B1-AC7D-F711D7EC0972}"/>
              </a:ext>
            </a:extLst>
          </p:cNvPr>
          <p:cNvGraphicFramePr>
            <a:graphicFrameLocks noGrp="1"/>
          </p:cNvGraphicFramePr>
          <p:nvPr>
            <p:extLst>
              <p:ext uri="{D42A27DB-BD31-4B8C-83A1-F6EECF244321}">
                <p14:modId xmlns:p14="http://schemas.microsoft.com/office/powerpoint/2010/main" val="2898044788"/>
              </p:ext>
            </p:extLst>
          </p:nvPr>
        </p:nvGraphicFramePr>
        <p:xfrm>
          <a:off x="4305303" y="4860671"/>
          <a:ext cx="13296900" cy="1828800"/>
        </p:xfrm>
        <a:graphic>
          <a:graphicData uri="http://schemas.openxmlformats.org/drawingml/2006/table">
            <a:tbl>
              <a:tblPr>
                <a:tableStyleId>{BDBED569-4797-4DF1-A0F4-6AAB3CD982D8}</a:tableStyleId>
              </a:tblPr>
              <a:tblGrid>
                <a:gridCol w="2950027">
                  <a:extLst>
                    <a:ext uri="{9D8B030D-6E8A-4147-A177-3AD203B41FA5}">
                      <a16:colId xmlns:a16="http://schemas.microsoft.com/office/drawing/2014/main" val="3742131984"/>
                    </a:ext>
                  </a:extLst>
                </a:gridCol>
                <a:gridCol w="2612572">
                  <a:extLst>
                    <a:ext uri="{9D8B030D-6E8A-4147-A177-3AD203B41FA5}">
                      <a16:colId xmlns:a16="http://schemas.microsoft.com/office/drawing/2014/main" val="2793607253"/>
                    </a:ext>
                  </a:extLst>
                </a:gridCol>
                <a:gridCol w="2100943">
                  <a:extLst>
                    <a:ext uri="{9D8B030D-6E8A-4147-A177-3AD203B41FA5}">
                      <a16:colId xmlns:a16="http://schemas.microsoft.com/office/drawing/2014/main" val="2683988264"/>
                    </a:ext>
                  </a:extLst>
                </a:gridCol>
                <a:gridCol w="3102428">
                  <a:extLst>
                    <a:ext uri="{9D8B030D-6E8A-4147-A177-3AD203B41FA5}">
                      <a16:colId xmlns:a16="http://schemas.microsoft.com/office/drawing/2014/main" val="3921496503"/>
                    </a:ext>
                  </a:extLst>
                </a:gridCol>
                <a:gridCol w="2530930">
                  <a:extLst>
                    <a:ext uri="{9D8B030D-6E8A-4147-A177-3AD203B41FA5}">
                      <a16:colId xmlns:a16="http://schemas.microsoft.com/office/drawing/2014/main" val="1445783900"/>
                    </a:ext>
                  </a:extLst>
                </a:gridCol>
              </a:tblGrid>
              <a:tr h="0">
                <a:tc>
                  <a:txBody>
                    <a:bodyPr/>
                    <a:lstStyle/>
                    <a:p>
                      <a:r>
                        <a:rPr lang="en-GB" sz="1800" dirty="0"/>
                        <a:t>Mitigation Option</a:t>
                      </a:r>
                    </a:p>
                  </a:txBody>
                  <a:tcPr anchor="ctr">
                    <a:solidFill>
                      <a:schemeClr val="accent5">
                        <a:lumMod val="20000"/>
                        <a:lumOff val="80000"/>
                      </a:schemeClr>
                    </a:solidFill>
                  </a:tcPr>
                </a:tc>
                <a:tc>
                  <a:txBody>
                    <a:bodyPr/>
                    <a:lstStyle/>
                    <a:p>
                      <a:r>
                        <a:rPr lang="en-GB" sz="1800" dirty="0"/>
                        <a:t>Detection Effectiveness</a:t>
                      </a:r>
                    </a:p>
                  </a:txBody>
                  <a:tcPr anchor="ctr">
                    <a:solidFill>
                      <a:schemeClr val="accent5">
                        <a:lumMod val="20000"/>
                        <a:lumOff val="80000"/>
                      </a:schemeClr>
                    </a:solidFill>
                  </a:tcPr>
                </a:tc>
                <a:tc>
                  <a:txBody>
                    <a:bodyPr/>
                    <a:lstStyle/>
                    <a:p>
                      <a:r>
                        <a:rPr lang="en-GB" sz="1800" dirty="0"/>
                        <a:t>Service Continuity</a:t>
                      </a:r>
                    </a:p>
                  </a:txBody>
                  <a:tcPr anchor="ctr">
                    <a:solidFill>
                      <a:schemeClr val="accent5">
                        <a:lumMod val="20000"/>
                        <a:lumOff val="80000"/>
                      </a:schemeClr>
                    </a:solidFill>
                  </a:tcPr>
                </a:tc>
                <a:tc>
                  <a:txBody>
                    <a:bodyPr/>
                    <a:lstStyle/>
                    <a:p>
                      <a:r>
                        <a:rPr lang="en-GB" sz="1800" dirty="0"/>
                        <a:t>Deployment Complexity</a:t>
                      </a:r>
                    </a:p>
                  </a:txBody>
                  <a:tcPr anchor="ctr">
                    <a:solidFill>
                      <a:schemeClr val="accent5">
                        <a:lumMod val="20000"/>
                        <a:lumOff val="80000"/>
                      </a:schemeClr>
                    </a:solidFill>
                  </a:tcPr>
                </a:tc>
                <a:tc>
                  <a:txBody>
                    <a:bodyPr/>
                    <a:lstStyle/>
                    <a:p>
                      <a:r>
                        <a:rPr lang="en-GB" sz="1800" dirty="0"/>
                        <a:t>Suitability for MEC</a:t>
                      </a:r>
                    </a:p>
                  </a:txBody>
                  <a:tcPr anchor="ctr">
                    <a:solidFill>
                      <a:schemeClr val="accent5">
                        <a:lumMod val="20000"/>
                        <a:lumOff val="80000"/>
                      </a:schemeClr>
                    </a:solidFill>
                  </a:tcPr>
                </a:tc>
                <a:extLst>
                  <a:ext uri="{0D108BD9-81ED-4DB2-BD59-A6C34878D82A}">
                    <a16:rowId xmlns:a16="http://schemas.microsoft.com/office/drawing/2014/main" val="570972035"/>
                  </a:ext>
                </a:extLst>
              </a:tr>
              <a:tr h="0">
                <a:tc>
                  <a:txBody>
                    <a:bodyPr/>
                    <a:lstStyle/>
                    <a:p>
                      <a:r>
                        <a:rPr lang="en-GB" sz="1800" b="1" dirty="0"/>
                        <a:t>A - API Rate-Limiting</a:t>
                      </a:r>
                      <a:endParaRPr lang="en-GB" sz="1800" dirty="0"/>
                    </a:p>
                  </a:txBody>
                  <a:tcPr anchor="ctr">
                    <a:solidFill>
                      <a:schemeClr val="accent5">
                        <a:lumMod val="20000"/>
                        <a:lumOff val="80000"/>
                      </a:schemeClr>
                    </a:solidFill>
                  </a:tcPr>
                </a:tc>
                <a:tc>
                  <a:txBody>
                    <a:bodyPr/>
                    <a:lstStyle/>
                    <a:p>
                      <a:r>
                        <a:rPr lang="en-GB" sz="1800" dirty="0"/>
                        <a:t>🟡 Medium</a:t>
                      </a:r>
                    </a:p>
                  </a:txBody>
                  <a:tcPr anchor="ctr"/>
                </a:tc>
                <a:tc>
                  <a:txBody>
                    <a:bodyPr/>
                    <a:lstStyle/>
                    <a:p>
                      <a:r>
                        <a:rPr lang="en-GB" sz="1800" dirty="0"/>
                        <a:t>🟢 High</a:t>
                      </a:r>
                    </a:p>
                  </a:txBody>
                  <a:tcPr anchor="ctr"/>
                </a:tc>
                <a:tc>
                  <a:txBody>
                    <a:bodyPr/>
                    <a:lstStyle/>
                    <a:p>
                      <a:r>
                        <a:rPr lang="en-GB" sz="1800"/>
                        <a:t>🟡 Medium</a:t>
                      </a:r>
                    </a:p>
                  </a:txBody>
                  <a:tcPr anchor="ctr"/>
                </a:tc>
                <a:tc>
                  <a:txBody>
                    <a:bodyPr/>
                    <a:lstStyle/>
                    <a:p>
                      <a:r>
                        <a:rPr lang="en-GB" sz="1800"/>
                        <a:t>🟢 High</a:t>
                      </a:r>
                    </a:p>
                  </a:txBody>
                  <a:tcPr anchor="ctr"/>
                </a:tc>
                <a:extLst>
                  <a:ext uri="{0D108BD9-81ED-4DB2-BD59-A6C34878D82A}">
                    <a16:rowId xmlns:a16="http://schemas.microsoft.com/office/drawing/2014/main" val="422829516"/>
                  </a:ext>
                </a:extLst>
              </a:tr>
              <a:tr h="0">
                <a:tc>
                  <a:txBody>
                    <a:bodyPr/>
                    <a:lstStyle/>
                    <a:p>
                      <a:r>
                        <a:rPr lang="en-GB" sz="1800" b="1" dirty="0"/>
                        <a:t>B - Source Blocking</a:t>
                      </a:r>
                      <a:endParaRPr lang="en-GB" sz="1800" dirty="0"/>
                    </a:p>
                  </a:txBody>
                  <a:tcPr anchor="ctr">
                    <a:solidFill>
                      <a:schemeClr val="accent5">
                        <a:lumMod val="20000"/>
                        <a:lumOff val="80000"/>
                      </a:schemeClr>
                    </a:solidFill>
                  </a:tcPr>
                </a:tc>
                <a:tc>
                  <a:txBody>
                    <a:bodyPr/>
                    <a:lstStyle/>
                    <a:p>
                      <a:r>
                        <a:rPr lang="en-GB" sz="1800"/>
                        <a:t>🟢 High</a:t>
                      </a:r>
                    </a:p>
                  </a:txBody>
                  <a:tcPr anchor="ctr"/>
                </a:tc>
                <a:tc>
                  <a:txBody>
                    <a:bodyPr/>
                    <a:lstStyle/>
                    <a:p>
                      <a:r>
                        <a:rPr lang="en-GB" sz="1800" dirty="0"/>
                        <a:t>🟡 Medium</a:t>
                      </a:r>
                    </a:p>
                  </a:txBody>
                  <a:tcPr anchor="ctr"/>
                </a:tc>
                <a:tc>
                  <a:txBody>
                    <a:bodyPr/>
                    <a:lstStyle/>
                    <a:p>
                      <a:r>
                        <a:rPr lang="en-GB" sz="1800" dirty="0"/>
                        <a:t>🔴 High</a:t>
                      </a:r>
                    </a:p>
                  </a:txBody>
                  <a:tcPr anchor="ctr"/>
                </a:tc>
                <a:tc>
                  <a:txBody>
                    <a:bodyPr/>
                    <a:lstStyle/>
                    <a:p>
                      <a:r>
                        <a:rPr lang="en-GB" sz="1800"/>
                        <a:t>🟡 Medium</a:t>
                      </a:r>
                    </a:p>
                  </a:txBody>
                  <a:tcPr anchor="ctr"/>
                </a:tc>
                <a:extLst>
                  <a:ext uri="{0D108BD9-81ED-4DB2-BD59-A6C34878D82A}">
                    <a16:rowId xmlns:a16="http://schemas.microsoft.com/office/drawing/2014/main" val="1507589799"/>
                  </a:ext>
                </a:extLst>
              </a:tr>
              <a:tr h="0">
                <a:tc>
                  <a:txBody>
                    <a:bodyPr/>
                    <a:lstStyle/>
                    <a:p>
                      <a:r>
                        <a:rPr lang="en-GB" sz="1800" b="1" dirty="0"/>
                        <a:t>C - Suricata Drop Rules</a:t>
                      </a:r>
                      <a:endParaRPr lang="en-GB" sz="1800" dirty="0"/>
                    </a:p>
                  </a:txBody>
                  <a:tcPr anchor="ctr">
                    <a:solidFill>
                      <a:schemeClr val="accent5">
                        <a:lumMod val="20000"/>
                        <a:lumOff val="80000"/>
                      </a:schemeClr>
                    </a:solidFill>
                  </a:tcPr>
                </a:tc>
                <a:tc>
                  <a:txBody>
                    <a:bodyPr/>
                    <a:lstStyle/>
                    <a:p>
                      <a:r>
                        <a:rPr lang="en-GB" sz="1800"/>
                        <a:t>🟢 High</a:t>
                      </a:r>
                    </a:p>
                  </a:txBody>
                  <a:tcPr anchor="ctr"/>
                </a:tc>
                <a:tc>
                  <a:txBody>
                    <a:bodyPr/>
                    <a:lstStyle/>
                    <a:p>
                      <a:r>
                        <a:rPr lang="en-GB" sz="1800"/>
                        <a:t>🟡 Medium</a:t>
                      </a:r>
                    </a:p>
                  </a:txBody>
                  <a:tcPr anchor="ctr"/>
                </a:tc>
                <a:tc>
                  <a:txBody>
                    <a:bodyPr/>
                    <a:lstStyle/>
                    <a:p>
                      <a:r>
                        <a:rPr lang="en-GB" sz="1800" dirty="0"/>
                        <a:t>🟡 Medium</a:t>
                      </a:r>
                    </a:p>
                  </a:txBody>
                  <a:tcPr anchor="ctr"/>
                </a:tc>
                <a:tc>
                  <a:txBody>
                    <a:bodyPr/>
                    <a:lstStyle/>
                    <a:p>
                      <a:r>
                        <a:rPr lang="en-GB" sz="1800" dirty="0"/>
                        <a:t>🟢 High</a:t>
                      </a:r>
                    </a:p>
                  </a:txBody>
                  <a:tcPr anchor="ctr"/>
                </a:tc>
                <a:extLst>
                  <a:ext uri="{0D108BD9-81ED-4DB2-BD59-A6C34878D82A}">
                    <a16:rowId xmlns:a16="http://schemas.microsoft.com/office/drawing/2014/main" val="2399369603"/>
                  </a:ext>
                </a:extLst>
              </a:tr>
              <a:tr h="0">
                <a:tc>
                  <a:txBody>
                    <a:bodyPr/>
                    <a:lstStyle/>
                    <a:p>
                      <a:r>
                        <a:rPr lang="en-GB" sz="1800" b="1" dirty="0"/>
                        <a:t>D - Operational Freeze</a:t>
                      </a:r>
                      <a:endParaRPr lang="en-GB" sz="1800" dirty="0"/>
                    </a:p>
                  </a:txBody>
                  <a:tcPr anchor="ctr">
                    <a:solidFill>
                      <a:schemeClr val="accent5">
                        <a:lumMod val="20000"/>
                        <a:lumOff val="80000"/>
                      </a:schemeClr>
                    </a:solidFill>
                  </a:tcPr>
                </a:tc>
                <a:tc>
                  <a:txBody>
                    <a:bodyPr/>
                    <a:lstStyle/>
                    <a:p>
                      <a:r>
                        <a:rPr lang="en-GB" sz="1800"/>
                        <a:t>🔴 Low</a:t>
                      </a:r>
                    </a:p>
                  </a:txBody>
                  <a:tcPr anchor="ctr"/>
                </a:tc>
                <a:tc>
                  <a:txBody>
                    <a:bodyPr/>
                    <a:lstStyle/>
                    <a:p>
                      <a:r>
                        <a:rPr lang="en-GB" sz="1800"/>
                        <a:t>🟢 High</a:t>
                      </a:r>
                    </a:p>
                  </a:txBody>
                  <a:tcPr anchor="ctr"/>
                </a:tc>
                <a:tc>
                  <a:txBody>
                    <a:bodyPr/>
                    <a:lstStyle/>
                    <a:p>
                      <a:r>
                        <a:rPr lang="en-GB" sz="1800"/>
                        <a:t>🟢 Low</a:t>
                      </a:r>
                    </a:p>
                  </a:txBody>
                  <a:tcPr anchor="ctr"/>
                </a:tc>
                <a:tc>
                  <a:txBody>
                    <a:bodyPr/>
                    <a:lstStyle/>
                    <a:p>
                      <a:r>
                        <a:rPr lang="en-GB" sz="1800" dirty="0"/>
                        <a:t>🟡 Medium</a:t>
                      </a:r>
                    </a:p>
                  </a:txBody>
                  <a:tcPr anchor="ctr"/>
                </a:tc>
                <a:extLst>
                  <a:ext uri="{0D108BD9-81ED-4DB2-BD59-A6C34878D82A}">
                    <a16:rowId xmlns:a16="http://schemas.microsoft.com/office/drawing/2014/main" val="3786402169"/>
                  </a:ext>
                </a:extLst>
              </a:tr>
            </a:tbl>
          </a:graphicData>
        </a:graphic>
      </p:graphicFrame>
      <p:sp>
        <p:nvSpPr>
          <p:cNvPr id="12" name="CuadroTexto 11">
            <a:extLst>
              <a:ext uri="{FF2B5EF4-FFF2-40B4-BE49-F238E27FC236}">
                <a16:creationId xmlns:a16="http://schemas.microsoft.com/office/drawing/2014/main" id="{60BE6408-533D-415A-B643-7EB7B910C48D}"/>
              </a:ext>
            </a:extLst>
          </p:cNvPr>
          <p:cNvSpPr txBox="1"/>
          <p:nvPr/>
        </p:nvSpPr>
        <p:spPr>
          <a:xfrm>
            <a:off x="12747172" y="4321553"/>
            <a:ext cx="4855032" cy="338554"/>
          </a:xfrm>
          <a:prstGeom prst="rect">
            <a:avLst/>
          </a:prstGeom>
          <a:noFill/>
        </p:spPr>
        <p:txBody>
          <a:bodyPr wrap="square">
            <a:spAutoFit/>
          </a:bodyPr>
          <a:lstStyle/>
          <a:p>
            <a:r>
              <a:rPr lang="en-GB" sz="1600" dirty="0"/>
              <a:t>Legend: 🟢 Good | 🟡 Moderate | 🔴 Limited</a:t>
            </a:r>
            <a:endParaRPr lang="en-US" sz="1600" dirty="0"/>
          </a:p>
        </p:txBody>
      </p:sp>
      <p:graphicFrame>
        <p:nvGraphicFramePr>
          <p:cNvPr id="8" name="Tabla 7">
            <a:extLst>
              <a:ext uri="{FF2B5EF4-FFF2-40B4-BE49-F238E27FC236}">
                <a16:creationId xmlns:a16="http://schemas.microsoft.com/office/drawing/2014/main" id="{DADE02AB-FA2B-4D05-BC96-71CA228D81F8}"/>
              </a:ext>
            </a:extLst>
          </p:cNvPr>
          <p:cNvGraphicFramePr>
            <a:graphicFrameLocks noGrp="1"/>
          </p:cNvGraphicFramePr>
          <p:nvPr>
            <p:extLst>
              <p:ext uri="{D42A27DB-BD31-4B8C-83A1-F6EECF244321}">
                <p14:modId xmlns:p14="http://schemas.microsoft.com/office/powerpoint/2010/main" val="3171436676"/>
              </p:ext>
            </p:extLst>
          </p:nvPr>
        </p:nvGraphicFramePr>
        <p:xfrm>
          <a:off x="4305302" y="7247173"/>
          <a:ext cx="13296901" cy="1828800"/>
        </p:xfrm>
        <a:graphic>
          <a:graphicData uri="http://schemas.openxmlformats.org/drawingml/2006/table">
            <a:tbl>
              <a:tblPr>
                <a:tableStyleId>{BDBED569-4797-4DF1-A0F4-6AAB3CD982D8}</a:tableStyleId>
              </a:tblPr>
              <a:tblGrid>
                <a:gridCol w="3858984">
                  <a:extLst>
                    <a:ext uri="{9D8B030D-6E8A-4147-A177-3AD203B41FA5}">
                      <a16:colId xmlns:a16="http://schemas.microsoft.com/office/drawing/2014/main" val="505796486"/>
                    </a:ext>
                  </a:extLst>
                </a:gridCol>
                <a:gridCol w="1153885">
                  <a:extLst>
                    <a:ext uri="{9D8B030D-6E8A-4147-A177-3AD203B41FA5}">
                      <a16:colId xmlns:a16="http://schemas.microsoft.com/office/drawing/2014/main" val="2993374255"/>
                    </a:ext>
                  </a:extLst>
                </a:gridCol>
                <a:gridCol w="1915886">
                  <a:extLst>
                    <a:ext uri="{9D8B030D-6E8A-4147-A177-3AD203B41FA5}">
                      <a16:colId xmlns:a16="http://schemas.microsoft.com/office/drawing/2014/main" val="1087311722"/>
                    </a:ext>
                  </a:extLst>
                </a:gridCol>
                <a:gridCol w="2144486">
                  <a:extLst>
                    <a:ext uri="{9D8B030D-6E8A-4147-A177-3AD203B41FA5}">
                      <a16:colId xmlns:a16="http://schemas.microsoft.com/office/drawing/2014/main" val="311960715"/>
                    </a:ext>
                  </a:extLst>
                </a:gridCol>
                <a:gridCol w="2166257">
                  <a:extLst>
                    <a:ext uri="{9D8B030D-6E8A-4147-A177-3AD203B41FA5}">
                      <a16:colId xmlns:a16="http://schemas.microsoft.com/office/drawing/2014/main" val="1071508420"/>
                    </a:ext>
                  </a:extLst>
                </a:gridCol>
                <a:gridCol w="2057403">
                  <a:extLst>
                    <a:ext uri="{9D8B030D-6E8A-4147-A177-3AD203B41FA5}">
                      <a16:colId xmlns:a16="http://schemas.microsoft.com/office/drawing/2014/main" val="1436785946"/>
                    </a:ext>
                  </a:extLst>
                </a:gridCol>
              </a:tblGrid>
              <a:tr h="0">
                <a:tc>
                  <a:txBody>
                    <a:bodyPr/>
                    <a:lstStyle/>
                    <a:p>
                      <a:r>
                        <a:rPr lang="en-GB" sz="1800" dirty="0"/>
                        <a:t>Criterion</a:t>
                      </a:r>
                    </a:p>
                  </a:txBody>
                  <a:tcPr anchor="ctr">
                    <a:solidFill>
                      <a:schemeClr val="accent5">
                        <a:lumMod val="20000"/>
                        <a:lumOff val="80000"/>
                      </a:schemeClr>
                    </a:solidFill>
                  </a:tcPr>
                </a:tc>
                <a:tc>
                  <a:txBody>
                    <a:bodyPr/>
                    <a:lstStyle/>
                    <a:p>
                      <a:r>
                        <a:rPr lang="en-GB" sz="1800" dirty="0"/>
                        <a:t>Weight</a:t>
                      </a:r>
                    </a:p>
                  </a:txBody>
                  <a:tcPr anchor="ctr">
                    <a:solidFill>
                      <a:schemeClr val="accent5">
                        <a:lumMod val="20000"/>
                        <a:lumOff val="80000"/>
                      </a:schemeClr>
                    </a:solidFill>
                  </a:tcPr>
                </a:tc>
                <a:tc>
                  <a:txBody>
                    <a:bodyPr/>
                    <a:lstStyle/>
                    <a:p>
                      <a:r>
                        <a:rPr lang="en-GB" sz="1800" dirty="0"/>
                        <a:t>A (API Limit)</a:t>
                      </a:r>
                    </a:p>
                  </a:txBody>
                  <a:tcPr anchor="ctr">
                    <a:solidFill>
                      <a:schemeClr val="accent5">
                        <a:lumMod val="20000"/>
                        <a:lumOff val="80000"/>
                      </a:schemeClr>
                    </a:solidFill>
                  </a:tcPr>
                </a:tc>
                <a:tc>
                  <a:txBody>
                    <a:bodyPr/>
                    <a:lstStyle/>
                    <a:p>
                      <a:r>
                        <a:rPr lang="en-GB" sz="1800" dirty="0"/>
                        <a:t>B (Source Block)</a:t>
                      </a:r>
                    </a:p>
                  </a:txBody>
                  <a:tcPr anchor="ctr">
                    <a:solidFill>
                      <a:schemeClr val="accent5">
                        <a:lumMod val="20000"/>
                        <a:lumOff val="80000"/>
                      </a:schemeClr>
                    </a:solidFill>
                  </a:tcPr>
                </a:tc>
                <a:tc>
                  <a:txBody>
                    <a:bodyPr/>
                    <a:lstStyle/>
                    <a:p>
                      <a:r>
                        <a:rPr lang="en-GB" sz="1800" dirty="0"/>
                        <a:t>C (Suricata Drop)</a:t>
                      </a:r>
                    </a:p>
                  </a:txBody>
                  <a:tcPr anchor="ctr">
                    <a:solidFill>
                      <a:schemeClr val="accent5">
                        <a:lumMod val="20000"/>
                        <a:lumOff val="80000"/>
                      </a:schemeClr>
                    </a:solidFill>
                  </a:tcPr>
                </a:tc>
                <a:tc>
                  <a:txBody>
                    <a:bodyPr/>
                    <a:lstStyle/>
                    <a:p>
                      <a:r>
                        <a:rPr lang="en-GB" sz="1800" dirty="0"/>
                        <a:t>D (Freeze)</a:t>
                      </a:r>
                    </a:p>
                  </a:txBody>
                  <a:tcPr anchor="ctr">
                    <a:solidFill>
                      <a:schemeClr val="accent5">
                        <a:lumMod val="20000"/>
                        <a:lumOff val="80000"/>
                      </a:schemeClr>
                    </a:solidFill>
                  </a:tcPr>
                </a:tc>
                <a:extLst>
                  <a:ext uri="{0D108BD9-81ED-4DB2-BD59-A6C34878D82A}">
                    <a16:rowId xmlns:a16="http://schemas.microsoft.com/office/drawing/2014/main" val="3625785428"/>
                  </a:ext>
                </a:extLst>
              </a:tr>
              <a:tr h="0">
                <a:tc>
                  <a:txBody>
                    <a:bodyPr/>
                    <a:lstStyle/>
                    <a:p>
                      <a:r>
                        <a:rPr lang="en-GB" sz="1800" b="1" dirty="0"/>
                        <a:t>Threat detection / enforcement</a:t>
                      </a:r>
                      <a:endParaRPr lang="en-GB" sz="1800" dirty="0"/>
                    </a:p>
                  </a:txBody>
                  <a:tcPr anchor="ctr">
                    <a:solidFill>
                      <a:schemeClr val="accent5">
                        <a:lumMod val="20000"/>
                        <a:lumOff val="80000"/>
                      </a:schemeClr>
                    </a:solidFill>
                  </a:tcPr>
                </a:tc>
                <a:tc>
                  <a:txBody>
                    <a:bodyPr/>
                    <a:lstStyle/>
                    <a:p>
                      <a:r>
                        <a:rPr lang="en-GB" sz="1800" dirty="0"/>
                        <a:t>40%</a:t>
                      </a:r>
                    </a:p>
                  </a:txBody>
                  <a:tcPr anchor="ctr"/>
                </a:tc>
                <a:tc>
                  <a:txBody>
                    <a:bodyPr/>
                    <a:lstStyle/>
                    <a:p>
                      <a:r>
                        <a:rPr lang="en-GB" sz="1800" dirty="0"/>
                        <a:t>3</a:t>
                      </a:r>
                    </a:p>
                  </a:txBody>
                  <a:tcPr anchor="ctr"/>
                </a:tc>
                <a:tc>
                  <a:txBody>
                    <a:bodyPr/>
                    <a:lstStyle/>
                    <a:p>
                      <a:r>
                        <a:rPr lang="en-GB" sz="1800" dirty="0"/>
                        <a:t>4</a:t>
                      </a:r>
                    </a:p>
                  </a:txBody>
                  <a:tcPr anchor="ctr"/>
                </a:tc>
                <a:tc>
                  <a:txBody>
                    <a:bodyPr/>
                    <a:lstStyle/>
                    <a:p>
                      <a:r>
                        <a:rPr lang="en-GB" sz="1800" dirty="0"/>
                        <a:t>4</a:t>
                      </a:r>
                    </a:p>
                  </a:txBody>
                  <a:tcPr anchor="ctr"/>
                </a:tc>
                <a:tc>
                  <a:txBody>
                    <a:bodyPr/>
                    <a:lstStyle/>
                    <a:p>
                      <a:r>
                        <a:rPr lang="en-GB" sz="1800" dirty="0"/>
                        <a:t>1</a:t>
                      </a:r>
                    </a:p>
                  </a:txBody>
                  <a:tcPr anchor="ctr"/>
                </a:tc>
                <a:extLst>
                  <a:ext uri="{0D108BD9-81ED-4DB2-BD59-A6C34878D82A}">
                    <a16:rowId xmlns:a16="http://schemas.microsoft.com/office/drawing/2014/main" val="2529006542"/>
                  </a:ext>
                </a:extLst>
              </a:tr>
              <a:tr h="0">
                <a:tc>
                  <a:txBody>
                    <a:bodyPr/>
                    <a:lstStyle/>
                    <a:p>
                      <a:r>
                        <a:rPr lang="en-GB" sz="1800" b="1" dirty="0"/>
                        <a:t>Continuity of service</a:t>
                      </a:r>
                      <a:endParaRPr lang="en-GB" sz="1800" dirty="0"/>
                    </a:p>
                  </a:txBody>
                  <a:tcPr anchor="ctr">
                    <a:solidFill>
                      <a:schemeClr val="accent5">
                        <a:lumMod val="20000"/>
                        <a:lumOff val="80000"/>
                      </a:schemeClr>
                    </a:solidFill>
                  </a:tcPr>
                </a:tc>
                <a:tc>
                  <a:txBody>
                    <a:bodyPr/>
                    <a:lstStyle/>
                    <a:p>
                      <a:r>
                        <a:rPr lang="en-GB" sz="1800"/>
                        <a:t>35%</a:t>
                      </a:r>
                    </a:p>
                  </a:txBody>
                  <a:tcPr anchor="ctr"/>
                </a:tc>
                <a:tc>
                  <a:txBody>
                    <a:bodyPr/>
                    <a:lstStyle/>
                    <a:p>
                      <a:r>
                        <a:rPr lang="en-GB" sz="1800"/>
                        <a:t>4</a:t>
                      </a:r>
                    </a:p>
                  </a:txBody>
                  <a:tcPr anchor="ctr"/>
                </a:tc>
                <a:tc>
                  <a:txBody>
                    <a:bodyPr/>
                    <a:lstStyle/>
                    <a:p>
                      <a:r>
                        <a:rPr lang="en-GB" sz="1800" dirty="0"/>
                        <a:t>3</a:t>
                      </a:r>
                    </a:p>
                  </a:txBody>
                  <a:tcPr anchor="ctr"/>
                </a:tc>
                <a:tc>
                  <a:txBody>
                    <a:bodyPr/>
                    <a:lstStyle/>
                    <a:p>
                      <a:r>
                        <a:rPr lang="en-GB" sz="1800" dirty="0"/>
                        <a:t>3</a:t>
                      </a:r>
                    </a:p>
                  </a:txBody>
                  <a:tcPr anchor="ctr"/>
                </a:tc>
                <a:tc>
                  <a:txBody>
                    <a:bodyPr/>
                    <a:lstStyle/>
                    <a:p>
                      <a:r>
                        <a:rPr lang="en-GB" sz="1800" dirty="0"/>
                        <a:t>4</a:t>
                      </a:r>
                    </a:p>
                  </a:txBody>
                  <a:tcPr anchor="ctr"/>
                </a:tc>
                <a:extLst>
                  <a:ext uri="{0D108BD9-81ED-4DB2-BD59-A6C34878D82A}">
                    <a16:rowId xmlns:a16="http://schemas.microsoft.com/office/drawing/2014/main" val="3039835926"/>
                  </a:ext>
                </a:extLst>
              </a:tr>
              <a:tr h="0">
                <a:tc>
                  <a:txBody>
                    <a:bodyPr/>
                    <a:lstStyle/>
                    <a:p>
                      <a:r>
                        <a:rPr lang="en-GB" sz="1800" b="1" dirty="0"/>
                        <a:t>Deployment feasibility</a:t>
                      </a:r>
                      <a:endParaRPr lang="en-GB" sz="1800" dirty="0"/>
                    </a:p>
                  </a:txBody>
                  <a:tcPr anchor="ctr">
                    <a:solidFill>
                      <a:schemeClr val="accent5">
                        <a:lumMod val="20000"/>
                        <a:lumOff val="80000"/>
                      </a:schemeClr>
                    </a:solidFill>
                  </a:tcPr>
                </a:tc>
                <a:tc>
                  <a:txBody>
                    <a:bodyPr/>
                    <a:lstStyle/>
                    <a:p>
                      <a:r>
                        <a:rPr lang="en-GB" sz="1800"/>
                        <a:t>25%</a:t>
                      </a:r>
                    </a:p>
                  </a:txBody>
                  <a:tcPr anchor="ctr"/>
                </a:tc>
                <a:tc>
                  <a:txBody>
                    <a:bodyPr/>
                    <a:lstStyle/>
                    <a:p>
                      <a:r>
                        <a:rPr lang="en-GB" sz="1800"/>
                        <a:t>3</a:t>
                      </a:r>
                    </a:p>
                  </a:txBody>
                  <a:tcPr anchor="ctr"/>
                </a:tc>
                <a:tc>
                  <a:txBody>
                    <a:bodyPr/>
                    <a:lstStyle/>
                    <a:p>
                      <a:r>
                        <a:rPr lang="en-GB" sz="1800"/>
                        <a:t>2</a:t>
                      </a:r>
                    </a:p>
                  </a:txBody>
                  <a:tcPr anchor="ctr"/>
                </a:tc>
                <a:tc>
                  <a:txBody>
                    <a:bodyPr/>
                    <a:lstStyle/>
                    <a:p>
                      <a:r>
                        <a:rPr lang="en-GB" sz="1800"/>
                        <a:t>3</a:t>
                      </a:r>
                    </a:p>
                  </a:txBody>
                  <a:tcPr anchor="ctr"/>
                </a:tc>
                <a:tc>
                  <a:txBody>
                    <a:bodyPr/>
                    <a:lstStyle/>
                    <a:p>
                      <a:r>
                        <a:rPr lang="en-GB" sz="1800" dirty="0"/>
                        <a:t>4</a:t>
                      </a:r>
                    </a:p>
                  </a:txBody>
                  <a:tcPr anchor="ctr"/>
                </a:tc>
                <a:extLst>
                  <a:ext uri="{0D108BD9-81ED-4DB2-BD59-A6C34878D82A}">
                    <a16:rowId xmlns:a16="http://schemas.microsoft.com/office/drawing/2014/main" val="393948852"/>
                  </a:ext>
                </a:extLst>
              </a:tr>
              <a:tr h="0">
                <a:tc>
                  <a:txBody>
                    <a:bodyPr/>
                    <a:lstStyle/>
                    <a:p>
                      <a:r>
                        <a:rPr lang="en-GB" sz="1800" b="1" dirty="0"/>
                        <a:t>Total Weighted Score</a:t>
                      </a:r>
                      <a:endParaRPr lang="en-GB" sz="1800" dirty="0"/>
                    </a:p>
                  </a:txBody>
                  <a:tcPr anchor="ctr">
                    <a:solidFill>
                      <a:schemeClr val="accent5">
                        <a:lumMod val="20000"/>
                        <a:lumOff val="80000"/>
                      </a:schemeClr>
                    </a:solidFill>
                  </a:tcPr>
                </a:tc>
                <a:tc>
                  <a:txBody>
                    <a:bodyPr/>
                    <a:lstStyle/>
                    <a:p>
                      <a:r>
                        <a:rPr lang="en-GB" sz="1800"/>
                        <a:t>—</a:t>
                      </a:r>
                    </a:p>
                  </a:txBody>
                  <a:tcPr anchor="ctr"/>
                </a:tc>
                <a:tc>
                  <a:txBody>
                    <a:bodyPr/>
                    <a:lstStyle/>
                    <a:p>
                      <a:r>
                        <a:rPr lang="en-GB" sz="1800" b="1"/>
                        <a:t>3.45</a:t>
                      </a:r>
                      <a:endParaRPr lang="en-GB" sz="1800"/>
                    </a:p>
                  </a:txBody>
                  <a:tcPr anchor="ctr"/>
                </a:tc>
                <a:tc>
                  <a:txBody>
                    <a:bodyPr/>
                    <a:lstStyle/>
                    <a:p>
                      <a:r>
                        <a:rPr lang="en-GB" sz="1800"/>
                        <a:t>3.15</a:t>
                      </a:r>
                    </a:p>
                  </a:txBody>
                  <a:tcPr anchor="ctr"/>
                </a:tc>
                <a:tc>
                  <a:txBody>
                    <a:bodyPr/>
                    <a:lstStyle/>
                    <a:p>
                      <a:r>
                        <a:rPr lang="en-GB" sz="1800" b="1"/>
                        <a:t>3.55</a:t>
                      </a:r>
                      <a:endParaRPr lang="en-GB" sz="1800"/>
                    </a:p>
                  </a:txBody>
                  <a:tcPr anchor="ctr"/>
                </a:tc>
                <a:tc>
                  <a:txBody>
                    <a:bodyPr/>
                    <a:lstStyle/>
                    <a:p>
                      <a:r>
                        <a:rPr lang="en-GB" sz="1800" dirty="0"/>
                        <a:t>2.95</a:t>
                      </a:r>
                    </a:p>
                  </a:txBody>
                  <a:tcPr anchor="ctr"/>
                </a:tc>
                <a:extLst>
                  <a:ext uri="{0D108BD9-81ED-4DB2-BD59-A6C34878D82A}">
                    <a16:rowId xmlns:a16="http://schemas.microsoft.com/office/drawing/2014/main" val="2504062598"/>
                  </a:ext>
                </a:extLst>
              </a:tr>
            </a:tbl>
          </a:graphicData>
        </a:graphic>
      </p:graphicFrame>
      <p:sp>
        <p:nvSpPr>
          <p:cNvPr id="15" name="CuadroTexto 14">
            <a:extLst>
              <a:ext uri="{FF2B5EF4-FFF2-40B4-BE49-F238E27FC236}">
                <a16:creationId xmlns:a16="http://schemas.microsoft.com/office/drawing/2014/main" id="{F595FB2A-4B7A-40A5-A25B-E4E2BBD94460}"/>
              </a:ext>
            </a:extLst>
          </p:cNvPr>
          <p:cNvSpPr txBox="1"/>
          <p:nvPr/>
        </p:nvSpPr>
        <p:spPr>
          <a:xfrm>
            <a:off x="4305302" y="9320893"/>
            <a:ext cx="9530442" cy="646331"/>
          </a:xfrm>
          <a:prstGeom prst="rect">
            <a:avLst/>
          </a:prstGeom>
          <a:noFill/>
        </p:spPr>
        <p:txBody>
          <a:bodyPr wrap="square">
            <a:spAutoFit/>
          </a:bodyPr>
          <a:lstStyle/>
          <a:p>
            <a:r>
              <a:rPr lang="en-GB" sz="1800" b="1" dirty="0"/>
              <a:t>Leading candidate: Mitigation Option C — Suricata Active Drop Rules</a:t>
            </a:r>
            <a:br>
              <a:rPr lang="en-GB" sz="1800" dirty="0"/>
            </a:br>
            <a:r>
              <a:rPr lang="en-GB" sz="1800" dirty="0"/>
              <a:t>(with Option A as a strong complement)</a:t>
            </a:r>
            <a:endParaRPr lang="en-US" sz="1800" dirty="0"/>
          </a:p>
        </p:txBody>
      </p:sp>
    </p:spTree>
    <p:extLst>
      <p:ext uri="{BB962C8B-B14F-4D97-AF65-F5344CB8AC3E}">
        <p14:creationId xmlns:p14="http://schemas.microsoft.com/office/powerpoint/2010/main" val="6839597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21" name="Google Shape;421;p25"/>
          <p:cNvSpPr txBox="1"/>
          <p:nvPr/>
        </p:nvSpPr>
        <p:spPr>
          <a:xfrm>
            <a:off x="1028699" y="972131"/>
            <a:ext cx="162306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GB" sz="3999" b="1" i="0" u="none" strike="noStrike" cap="none" dirty="0">
                <a:solidFill>
                  <a:srgbClr val="3A91B9"/>
                </a:solidFill>
                <a:latin typeface="Montserrat"/>
                <a:ea typeface="Montserrat"/>
                <a:cs typeface="Montserrat"/>
                <a:sym typeface="Montserrat"/>
              </a:rPr>
              <a:t>9. Final Mitigation Decision</a:t>
            </a:r>
            <a:endParaRPr dirty="0"/>
          </a:p>
        </p:txBody>
      </p:sp>
      <p:sp>
        <p:nvSpPr>
          <p:cNvPr id="5" name="Text 1">
            <a:extLst>
              <a:ext uri="{FF2B5EF4-FFF2-40B4-BE49-F238E27FC236}">
                <a16:creationId xmlns:a16="http://schemas.microsoft.com/office/drawing/2014/main" id="{A953AF25-15D9-476A-B79A-EA26230FA113}"/>
              </a:ext>
            </a:extLst>
          </p:cNvPr>
          <p:cNvSpPr/>
          <p:nvPr/>
        </p:nvSpPr>
        <p:spPr>
          <a:xfrm>
            <a:off x="1115785" y="2514180"/>
            <a:ext cx="16394189" cy="6810795"/>
          </a:xfrm>
          <a:prstGeom prst="rect">
            <a:avLst/>
          </a:prstGeom>
          <a:noFill/>
          <a:ln/>
        </p:spPr>
        <p:txBody>
          <a:bodyPr wrap="square" lIns="0" tIns="0" rIns="0" bIns="0" rtlCol="0" anchor="t"/>
          <a:lstStyle/>
          <a:p>
            <a:pPr marL="342900" indent="-342900" algn="just">
              <a:lnSpc>
                <a:spcPct val="150000"/>
              </a:lnSpc>
              <a:buFont typeface="Arial" panose="020B0604020202020204" pitchFamily="34" charset="0"/>
              <a:buChar char="•"/>
            </a:pPr>
            <a:r>
              <a:rPr lang="en-GB" sz="2400" b="1" dirty="0">
                <a:solidFill>
                  <a:schemeClr val="tx1"/>
                </a:solidFill>
                <a:latin typeface="Montserrat" pitchFamily="34" charset="0"/>
                <a:ea typeface="Montserrat" pitchFamily="34" charset="-122"/>
                <a:cs typeface="Montserrat" pitchFamily="34" charset="-120"/>
              </a:rPr>
              <a:t>Primary mitigation</a:t>
            </a:r>
            <a:r>
              <a:rPr lang="en-GB" sz="2400" dirty="0">
                <a:solidFill>
                  <a:schemeClr val="tx1"/>
                </a:solidFill>
                <a:latin typeface="Montserrat" pitchFamily="34" charset="0"/>
                <a:ea typeface="Montserrat" pitchFamily="34" charset="-122"/>
                <a:cs typeface="Montserrat" pitchFamily="34" charset="-120"/>
              </a:rPr>
              <a:t>: Suricata Active Drop Rules (inline enforcement)</a:t>
            </a:r>
          </a:p>
          <a:p>
            <a:pPr marL="342900" indent="-342900" algn="just">
              <a:lnSpc>
                <a:spcPct val="150000"/>
              </a:lnSpc>
              <a:buFont typeface="Arial" panose="020B0604020202020204" pitchFamily="34" charset="0"/>
              <a:buChar char="•"/>
            </a:pPr>
            <a:r>
              <a:rPr lang="en-GB" sz="2400" b="1" dirty="0">
                <a:solidFill>
                  <a:schemeClr val="tx1"/>
                </a:solidFill>
                <a:latin typeface="Montserrat" pitchFamily="34" charset="0"/>
                <a:ea typeface="Montserrat" pitchFamily="34" charset="-122"/>
                <a:cs typeface="Montserrat" pitchFamily="34" charset="-120"/>
              </a:rPr>
              <a:t>Secondary safeguard</a:t>
            </a:r>
            <a:r>
              <a:rPr lang="en-GB" sz="2400" dirty="0">
                <a:solidFill>
                  <a:schemeClr val="tx1"/>
                </a:solidFill>
                <a:latin typeface="Montserrat" pitchFamily="34" charset="0"/>
                <a:ea typeface="Montserrat" pitchFamily="34" charset="-122"/>
                <a:cs typeface="Montserrat" pitchFamily="34" charset="-120"/>
              </a:rPr>
              <a:t>: API Rate-Limiting (service continuity under load)</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Addresses both </a:t>
            </a:r>
            <a:r>
              <a:rPr lang="en-GB" sz="2400" b="1" dirty="0">
                <a:solidFill>
                  <a:schemeClr val="tx1"/>
                </a:solidFill>
                <a:latin typeface="Montserrat" pitchFamily="34" charset="0"/>
                <a:ea typeface="Montserrat" pitchFamily="34" charset="-122"/>
                <a:cs typeface="Montserrat" pitchFamily="34" charset="-120"/>
              </a:rPr>
              <a:t>malicious floods </a:t>
            </a:r>
            <a:r>
              <a:rPr lang="en-GB" sz="2400" dirty="0">
                <a:solidFill>
                  <a:schemeClr val="tx1"/>
                </a:solidFill>
                <a:latin typeface="Montserrat" pitchFamily="34" charset="0"/>
                <a:ea typeface="Montserrat" pitchFamily="34" charset="-122"/>
                <a:cs typeface="Montserrat" pitchFamily="34" charset="-120"/>
              </a:rPr>
              <a:t>and </a:t>
            </a:r>
            <a:r>
              <a:rPr lang="en-GB" sz="2400" b="1" dirty="0">
                <a:solidFill>
                  <a:schemeClr val="tx1"/>
                </a:solidFill>
                <a:latin typeface="Montserrat" pitchFamily="34" charset="0"/>
                <a:ea typeface="Montserrat" pitchFamily="34" charset="-122"/>
                <a:cs typeface="Montserrat" pitchFamily="34" charset="-120"/>
              </a:rPr>
              <a:t>abuse of API calls</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Leverages </a:t>
            </a:r>
            <a:r>
              <a:rPr lang="en-GB" sz="2400" b="1" dirty="0">
                <a:solidFill>
                  <a:schemeClr val="tx1"/>
                </a:solidFill>
                <a:latin typeface="Montserrat" pitchFamily="34" charset="0"/>
                <a:ea typeface="Montserrat" pitchFamily="34" charset="-122"/>
                <a:cs typeface="Montserrat" pitchFamily="34" charset="-120"/>
              </a:rPr>
              <a:t>existing </a:t>
            </a:r>
            <a:r>
              <a:rPr lang="en-GB" sz="2400" b="1" dirty="0" err="1">
                <a:solidFill>
                  <a:schemeClr val="tx1"/>
                </a:solidFill>
                <a:latin typeface="Montserrat" pitchFamily="34" charset="0"/>
                <a:ea typeface="Montserrat" pitchFamily="34" charset="-122"/>
                <a:cs typeface="Montserrat" pitchFamily="34" charset="-120"/>
              </a:rPr>
              <a:t>NeoCity</a:t>
            </a:r>
            <a:r>
              <a:rPr lang="en-GB" sz="2400" b="1" dirty="0">
                <a:solidFill>
                  <a:schemeClr val="tx1"/>
                </a:solidFill>
                <a:latin typeface="Montserrat" pitchFamily="34" charset="0"/>
                <a:ea typeface="Montserrat" pitchFamily="34" charset="-122"/>
                <a:cs typeface="Montserrat" pitchFamily="34" charset="-120"/>
              </a:rPr>
              <a:t> infrastructure </a:t>
            </a:r>
            <a:r>
              <a:rPr lang="en-GB" sz="2400" dirty="0">
                <a:solidFill>
                  <a:schemeClr val="tx1"/>
                </a:solidFill>
                <a:latin typeface="Montserrat" pitchFamily="34" charset="0"/>
                <a:ea typeface="Montserrat" pitchFamily="34" charset="-122"/>
                <a:cs typeface="Montserrat" pitchFamily="34" charset="-120"/>
              </a:rPr>
              <a:t>for rapid deployment</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Ensures </a:t>
            </a:r>
            <a:r>
              <a:rPr lang="en-GB" sz="2400" b="1" dirty="0">
                <a:solidFill>
                  <a:schemeClr val="tx1"/>
                </a:solidFill>
                <a:latin typeface="Montserrat" pitchFamily="34" charset="0"/>
                <a:ea typeface="Montserrat" pitchFamily="34" charset="-122"/>
                <a:cs typeface="Montserrat" pitchFamily="34" charset="-120"/>
              </a:rPr>
              <a:t>mobility services remain safe and operational</a:t>
            </a:r>
          </a:p>
        </p:txBody>
      </p:sp>
      <p:sp>
        <p:nvSpPr>
          <p:cNvPr id="7" name="Google Shape;421;p25">
            <a:extLst>
              <a:ext uri="{FF2B5EF4-FFF2-40B4-BE49-F238E27FC236}">
                <a16:creationId xmlns:a16="http://schemas.microsoft.com/office/drawing/2014/main" id="{432B4B43-F1C1-4ECA-9D1A-B64E7A4E87CD}"/>
              </a:ext>
            </a:extLst>
          </p:cNvPr>
          <p:cNvSpPr txBox="1"/>
          <p:nvPr/>
        </p:nvSpPr>
        <p:spPr>
          <a:xfrm>
            <a:off x="1028699" y="1833714"/>
            <a:ext cx="10423072" cy="517065"/>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GB" sz="2400" b="1" i="0" u="none" strike="noStrike" cap="none" dirty="0">
                <a:solidFill>
                  <a:srgbClr val="3A91B9"/>
                </a:solidFill>
                <a:latin typeface="Montserrat"/>
                <a:ea typeface="Montserrat"/>
                <a:cs typeface="Montserrat"/>
                <a:sym typeface="Montserrat"/>
              </a:rPr>
              <a:t>Why this approach?</a:t>
            </a:r>
            <a:endParaRPr sz="2400" dirty="0"/>
          </a:p>
        </p:txBody>
      </p:sp>
      <p:graphicFrame>
        <p:nvGraphicFramePr>
          <p:cNvPr id="2" name="Tabla 1">
            <a:extLst>
              <a:ext uri="{FF2B5EF4-FFF2-40B4-BE49-F238E27FC236}">
                <a16:creationId xmlns:a16="http://schemas.microsoft.com/office/drawing/2014/main" id="{51B486E6-D8E9-4F34-8D7B-EDC1BB01EEDC}"/>
              </a:ext>
            </a:extLst>
          </p:cNvPr>
          <p:cNvGraphicFramePr>
            <a:graphicFrameLocks noGrp="1"/>
          </p:cNvGraphicFramePr>
          <p:nvPr>
            <p:extLst>
              <p:ext uri="{D42A27DB-BD31-4B8C-83A1-F6EECF244321}">
                <p14:modId xmlns:p14="http://schemas.microsoft.com/office/powerpoint/2010/main" val="133775992"/>
              </p:ext>
            </p:extLst>
          </p:nvPr>
        </p:nvGraphicFramePr>
        <p:xfrm>
          <a:off x="4397829" y="6061369"/>
          <a:ext cx="12475029" cy="1188720"/>
        </p:xfrm>
        <a:graphic>
          <a:graphicData uri="http://schemas.openxmlformats.org/drawingml/2006/table">
            <a:tbl>
              <a:tblPr>
                <a:tableStyleId>{BDBED569-4797-4DF1-A0F4-6AAB3CD982D8}</a:tableStyleId>
              </a:tblPr>
              <a:tblGrid>
                <a:gridCol w="3635828">
                  <a:extLst>
                    <a:ext uri="{9D8B030D-6E8A-4147-A177-3AD203B41FA5}">
                      <a16:colId xmlns:a16="http://schemas.microsoft.com/office/drawing/2014/main" val="3903652245"/>
                    </a:ext>
                  </a:extLst>
                </a:gridCol>
                <a:gridCol w="4680858">
                  <a:extLst>
                    <a:ext uri="{9D8B030D-6E8A-4147-A177-3AD203B41FA5}">
                      <a16:colId xmlns:a16="http://schemas.microsoft.com/office/drawing/2014/main" val="679392374"/>
                    </a:ext>
                  </a:extLst>
                </a:gridCol>
                <a:gridCol w="4158343">
                  <a:extLst>
                    <a:ext uri="{9D8B030D-6E8A-4147-A177-3AD203B41FA5}">
                      <a16:colId xmlns:a16="http://schemas.microsoft.com/office/drawing/2014/main" val="1025708836"/>
                    </a:ext>
                  </a:extLst>
                </a:gridCol>
              </a:tblGrid>
              <a:tr h="0">
                <a:tc>
                  <a:txBody>
                    <a:bodyPr/>
                    <a:lstStyle/>
                    <a:p>
                      <a:r>
                        <a:rPr lang="en-GB" sz="2000" dirty="0" err="1"/>
                        <a:t>Defense</a:t>
                      </a:r>
                      <a:r>
                        <a:rPr lang="en-GB" sz="2000" dirty="0"/>
                        <a:t> Layer</a:t>
                      </a:r>
                    </a:p>
                  </a:txBody>
                  <a:tcPr anchor="ctr">
                    <a:solidFill>
                      <a:schemeClr val="accent5">
                        <a:lumMod val="20000"/>
                        <a:lumOff val="80000"/>
                      </a:schemeClr>
                    </a:solidFill>
                  </a:tcPr>
                </a:tc>
                <a:tc>
                  <a:txBody>
                    <a:bodyPr/>
                    <a:lstStyle/>
                    <a:p>
                      <a:r>
                        <a:rPr lang="en-GB" sz="2000" dirty="0"/>
                        <a:t>Goal</a:t>
                      </a:r>
                    </a:p>
                  </a:txBody>
                  <a:tcPr anchor="ctr">
                    <a:solidFill>
                      <a:schemeClr val="accent5">
                        <a:lumMod val="20000"/>
                        <a:lumOff val="80000"/>
                      </a:schemeClr>
                    </a:solidFill>
                  </a:tcPr>
                </a:tc>
                <a:tc>
                  <a:txBody>
                    <a:bodyPr/>
                    <a:lstStyle/>
                    <a:p>
                      <a:r>
                        <a:rPr lang="en-GB" sz="2000" dirty="0"/>
                        <a:t>Strength</a:t>
                      </a:r>
                    </a:p>
                  </a:txBody>
                  <a:tcPr anchor="ctr">
                    <a:solidFill>
                      <a:schemeClr val="accent5">
                        <a:lumMod val="20000"/>
                        <a:lumOff val="80000"/>
                      </a:schemeClr>
                    </a:solidFill>
                  </a:tcPr>
                </a:tc>
                <a:extLst>
                  <a:ext uri="{0D108BD9-81ED-4DB2-BD59-A6C34878D82A}">
                    <a16:rowId xmlns:a16="http://schemas.microsoft.com/office/drawing/2014/main" val="1154594307"/>
                  </a:ext>
                </a:extLst>
              </a:tr>
              <a:tr h="0">
                <a:tc>
                  <a:txBody>
                    <a:bodyPr/>
                    <a:lstStyle/>
                    <a:p>
                      <a:r>
                        <a:rPr lang="en-GB" sz="2000" b="1" dirty="0"/>
                        <a:t>Suricata Drop Rules</a:t>
                      </a:r>
                      <a:endParaRPr lang="en-GB" sz="2000" dirty="0"/>
                    </a:p>
                  </a:txBody>
                  <a:tcPr anchor="ctr">
                    <a:solidFill>
                      <a:schemeClr val="accent5">
                        <a:lumMod val="20000"/>
                        <a:lumOff val="80000"/>
                      </a:schemeClr>
                    </a:solidFill>
                  </a:tcPr>
                </a:tc>
                <a:tc>
                  <a:txBody>
                    <a:bodyPr/>
                    <a:lstStyle/>
                    <a:p>
                      <a:r>
                        <a:rPr lang="en-GB" sz="2000" dirty="0"/>
                        <a:t>Block attacker packets fast at the edge</a:t>
                      </a:r>
                    </a:p>
                  </a:txBody>
                  <a:tcPr anchor="ctr"/>
                </a:tc>
                <a:tc>
                  <a:txBody>
                    <a:bodyPr/>
                    <a:lstStyle/>
                    <a:p>
                      <a:r>
                        <a:rPr lang="en-GB" sz="2000" dirty="0"/>
                        <a:t>Strong enforcement with low delay</a:t>
                      </a:r>
                    </a:p>
                  </a:txBody>
                  <a:tcPr anchor="ctr"/>
                </a:tc>
                <a:extLst>
                  <a:ext uri="{0D108BD9-81ED-4DB2-BD59-A6C34878D82A}">
                    <a16:rowId xmlns:a16="http://schemas.microsoft.com/office/drawing/2014/main" val="1183951952"/>
                  </a:ext>
                </a:extLst>
              </a:tr>
              <a:tr h="0">
                <a:tc>
                  <a:txBody>
                    <a:bodyPr/>
                    <a:lstStyle/>
                    <a:p>
                      <a:r>
                        <a:rPr lang="en-GB" sz="2000" b="1" dirty="0"/>
                        <a:t>API Rate-Limiting</a:t>
                      </a:r>
                      <a:endParaRPr lang="en-GB" sz="2000" dirty="0"/>
                    </a:p>
                  </a:txBody>
                  <a:tcPr anchor="ctr">
                    <a:solidFill>
                      <a:schemeClr val="accent5">
                        <a:lumMod val="20000"/>
                        <a:lumOff val="80000"/>
                      </a:schemeClr>
                    </a:solidFill>
                  </a:tcPr>
                </a:tc>
                <a:tc>
                  <a:txBody>
                    <a:bodyPr/>
                    <a:lstStyle/>
                    <a:p>
                      <a:r>
                        <a:rPr lang="en-GB" sz="2000"/>
                        <a:t>Maintain service quality during overload</a:t>
                      </a:r>
                    </a:p>
                  </a:txBody>
                  <a:tcPr anchor="ctr"/>
                </a:tc>
                <a:tc>
                  <a:txBody>
                    <a:bodyPr/>
                    <a:lstStyle/>
                    <a:p>
                      <a:r>
                        <a:rPr lang="en-GB" sz="2000" dirty="0"/>
                        <a:t>Protects MEC logic &amp; sessions</a:t>
                      </a:r>
                    </a:p>
                  </a:txBody>
                  <a:tcPr anchor="ctr"/>
                </a:tc>
                <a:extLst>
                  <a:ext uri="{0D108BD9-81ED-4DB2-BD59-A6C34878D82A}">
                    <a16:rowId xmlns:a16="http://schemas.microsoft.com/office/drawing/2014/main" val="359822698"/>
                  </a:ext>
                </a:extLst>
              </a:tr>
            </a:tbl>
          </a:graphicData>
        </a:graphic>
      </p:graphicFrame>
      <p:sp>
        <p:nvSpPr>
          <p:cNvPr id="13" name="Google Shape;419;p25">
            <a:extLst>
              <a:ext uri="{FF2B5EF4-FFF2-40B4-BE49-F238E27FC236}">
                <a16:creationId xmlns:a16="http://schemas.microsoft.com/office/drawing/2014/main" id="{36555330-546F-4ABE-858D-5E2BFB78ED15}"/>
              </a:ext>
            </a:extLst>
          </p:cNvPr>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14" name="Google Shape;420;p25">
            <a:extLst>
              <a:ext uri="{FF2B5EF4-FFF2-40B4-BE49-F238E27FC236}">
                <a16:creationId xmlns:a16="http://schemas.microsoft.com/office/drawing/2014/main" id="{AB73E69C-A6F9-456E-B8CC-674CA89FC9C8}"/>
              </a:ext>
            </a:extLst>
          </p:cNvPr>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spTree>
    <p:extLst>
      <p:ext uri="{BB962C8B-B14F-4D97-AF65-F5344CB8AC3E}">
        <p14:creationId xmlns:p14="http://schemas.microsoft.com/office/powerpoint/2010/main" val="3021030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21" name="Google Shape;421;p25"/>
          <p:cNvSpPr txBox="1"/>
          <p:nvPr/>
        </p:nvSpPr>
        <p:spPr>
          <a:xfrm>
            <a:off x="1028699" y="972131"/>
            <a:ext cx="162306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GB" sz="3999" b="1" dirty="0">
                <a:solidFill>
                  <a:srgbClr val="3A91B9"/>
                </a:solidFill>
                <a:latin typeface="Montserrat"/>
                <a:ea typeface="Montserrat"/>
                <a:cs typeface="Montserrat"/>
                <a:sym typeface="Montserrat"/>
              </a:rPr>
              <a:t>10</a:t>
            </a:r>
            <a:r>
              <a:rPr lang="en-GB" sz="3999" b="1" i="0" u="none" strike="noStrike" cap="none" dirty="0">
                <a:solidFill>
                  <a:srgbClr val="3A91B9"/>
                </a:solidFill>
                <a:latin typeface="Montserrat"/>
                <a:ea typeface="Montserrat"/>
                <a:cs typeface="Montserrat"/>
                <a:sym typeface="Montserrat"/>
              </a:rPr>
              <a:t>. What You Learned. </a:t>
            </a:r>
            <a:r>
              <a:rPr lang="en-GB" sz="3999" b="1" i="0" u="none" strike="noStrike" cap="none" dirty="0" err="1">
                <a:solidFill>
                  <a:srgbClr val="3A91B9"/>
                </a:solidFill>
                <a:latin typeface="Montserrat"/>
                <a:ea typeface="Montserrat"/>
                <a:cs typeface="Montserrat"/>
                <a:sym typeface="Montserrat"/>
              </a:rPr>
              <a:t>NeoCity</a:t>
            </a:r>
            <a:r>
              <a:rPr lang="en-GB" sz="3999" b="1" i="0" u="none" strike="noStrike" cap="none" dirty="0">
                <a:solidFill>
                  <a:srgbClr val="3A91B9"/>
                </a:solidFill>
                <a:latin typeface="Montserrat"/>
                <a:ea typeface="Montserrat"/>
                <a:cs typeface="Montserrat"/>
                <a:sym typeface="Montserrat"/>
              </a:rPr>
              <a:t> Outcomes</a:t>
            </a:r>
            <a:endParaRPr dirty="0"/>
          </a:p>
        </p:txBody>
      </p:sp>
      <p:sp>
        <p:nvSpPr>
          <p:cNvPr id="5" name="Text 1">
            <a:extLst>
              <a:ext uri="{FF2B5EF4-FFF2-40B4-BE49-F238E27FC236}">
                <a16:creationId xmlns:a16="http://schemas.microsoft.com/office/drawing/2014/main" id="{A953AF25-15D9-476A-B79A-EA26230FA113}"/>
              </a:ext>
            </a:extLst>
          </p:cNvPr>
          <p:cNvSpPr/>
          <p:nvPr/>
        </p:nvSpPr>
        <p:spPr>
          <a:xfrm>
            <a:off x="1115785" y="2514180"/>
            <a:ext cx="16394189" cy="6810795"/>
          </a:xfrm>
          <a:prstGeom prst="rect">
            <a:avLst/>
          </a:prstGeom>
          <a:noFill/>
          <a:ln/>
        </p:spPr>
        <p:txBody>
          <a:bodyPr wrap="square" lIns="0" tIns="0" rIns="0" bIns="0" rtlCol="0" anchor="t"/>
          <a:lstStyle/>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You linked </a:t>
            </a:r>
            <a:r>
              <a:rPr lang="en-GB" sz="2400" b="1" dirty="0">
                <a:solidFill>
                  <a:schemeClr val="tx1"/>
                </a:solidFill>
                <a:latin typeface="Montserrat" pitchFamily="34" charset="0"/>
                <a:ea typeface="Montserrat" pitchFamily="34" charset="-122"/>
                <a:cs typeface="Montserrat" pitchFamily="34" charset="-120"/>
              </a:rPr>
              <a:t>cyber risk </a:t>
            </a:r>
            <a:r>
              <a:rPr lang="en-GB" sz="2400" dirty="0">
                <a:solidFill>
                  <a:schemeClr val="tx1"/>
                </a:solidFill>
                <a:latin typeface="Montserrat" pitchFamily="34" charset="0"/>
                <a:ea typeface="Montserrat" pitchFamily="34" charset="-122"/>
                <a:cs typeface="Montserrat" pitchFamily="34" charset="-120"/>
              </a:rPr>
              <a:t>to </a:t>
            </a:r>
            <a:r>
              <a:rPr lang="en-GB" sz="2400" b="1" dirty="0">
                <a:solidFill>
                  <a:schemeClr val="tx1"/>
                </a:solidFill>
                <a:latin typeface="Montserrat" pitchFamily="34" charset="0"/>
                <a:ea typeface="Montserrat" pitchFamily="34" charset="-122"/>
                <a:cs typeface="Montserrat" pitchFamily="34" charset="-120"/>
              </a:rPr>
              <a:t>smart-city safety</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You validated an </a:t>
            </a:r>
            <a:r>
              <a:rPr lang="en-GB" sz="2400" b="1" dirty="0">
                <a:solidFill>
                  <a:schemeClr val="tx1"/>
                </a:solidFill>
                <a:latin typeface="Montserrat" pitchFamily="34" charset="0"/>
                <a:ea typeface="Montserrat" pitchFamily="34" charset="-122"/>
                <a:cs typeface="Montserrat" pitchFamily="34" charset="-120"/>
              </a:rPr>
              <a:t>operational threat </a:t>
            </a:r>
            <a:r>
              <a:rPr lang="en-GB" sz="2400" dirty="0">
                <a:solidFill>
                  <a:schemeClr val="tx1"/>
                </a:solidFill>
                <a:latin typeface="Montserrat" pitchFamily="34" charset="0"/>
                <a:ea typeface="Montserrat" pitchFamily="34" charset="-122"/>
                <a:cs typeface="Montserrat" pitchFamily="34" charset="-120"/>
              </a:rPr>
              <a:t>through hands-on testing</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You communicated alerts to </a:t>
            </a:r>
            <a:r>
              <a:rPr lang="en-GB" sz="2400" b="1" dirty="0">
                <a:solidFill>
                  <a:schemeClr val="tx1"/>
                </a:solidFill>
                <a:latin typeface="Montserrat" pitchFamily="34" charset="0"/>
                <a:ea typeface="Montserrat" pitchFamily="34" charset="-122"/>
                <a:cs typeface="Montserrat" pitchFamily="34" charset="-120"/>
              </a:rPr>
              <a:t>traffic operators and decision makers</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You applied a </a:t>
            </a:r>
            <a:r>
              <a:rPr lang="en-GB" sz="2400" b="1" dirty="0">
                <a:solidFill>
                  <a:schemeClr val="tx1"/>
                </a:solidFill>
                <a:latin typeface="Montserrat" pitchFamily="34" charset="0"/>
                <a:ea typeface="Montserrat" pitchFamily="34" charset="-122"/>
                <a:cs typeface="Montserrat" pitchFamily="34" charset="-120"/>
              </a:rPr>
              <a:t>layered mitigation strategy </a:t>
            </a:r>
            <a:r>
              <a:rPr lang="en-GB" sz="2400" dirty="0">
                <a:solidFill>
                  <a:schemeClr val="tx1"/>
                </a:solidFill>
                <a:latin typeface="Montserrat" pitchFamily="34" charset="0"/>
                <a:ea typeface="Montserrat" pitchFamily="34" charset="-122"/>
                <a:cs typeface="Montserrat" pitchFamily="34" charset="-120"/>
              </a:rPr>
              <a:t>(Drop Rules + Rate Limiting)</a:t>
            </a:r>
          </a:p>
          <a:p>
            <a:pPr marL="342900" indent="-342900" algn="just">
              <a:lnSpc>
                <a:spcPct val="150000"/>
              </a:lnSpc>
              <a:buFont typeface="Arial" panose="020B0604020202020204" pitchFamily="34" charset="0"/>
              <a:buChar char="•"/>
            </a:pPr>
            <a:r>
              <a:rPr lang="en-GB" sz="2400" dirty="0" err="1">
                <a:solidFill>
                  <a:schemeClr val="tx1"/>
                </a:solidFill>
                <a:latin typeface="Montserrat" pitchFamily="34" charset="0"/>
                <a:ea typeface="Montserrat" pitchFamily="34" charset="-122"/>
                <a:cs typeface="Montserrat" pitchFamily="34" charset="-120"/>
              </a:rPr>
              <a:t>NeoCity</a:t>
            </a:r>
            <a:r>
              <a:rPr lang="en-GB" sz="2400" dirty="0">
                <a:solidFill>
                  <a:schemeClr val="tx1"/>
                </a:solidFill>
                <a:latin typeface="Montserrat" pitchFamily="34" charset="0"/>
                <a:ea typeface="Montserrat" pitchFamily="34" charset="-122"/>
                <a:cs typeface="Montserrat" pitchFamily="34" charset="-120"/>
              </a:rPr>
              <a:t> is now </a:t>
            </a:r>
            <a:r>
              <a:rPr lang="en-GB" sz="2400" b="1" dirty="0">
                <a:solidFill>
                  <a:schemeClr val="tx1"/>
                </a:solidFill>
                <a:latin typeface="Montserrat" pitchFamily="34" charset="0"/>
                <a:ea typeface="Montserrat" pitchFamily="34" charset="-122"/>
                <a:cs typeface="Montserrat" pitchFamily="34" charset="-120"/>
              </a:rPr>
              <a:t>safer and more resilient </a:t>
            </a:r>
            <a:r>
              <a:rPr lang="en-GB" sz="2400" dirty="0">
                <a:solidFill>
                  <a:schemeClr val="tx1"/>
                </a:solidFill>
                <a:latin typeface="Montserrat" pitchFamily="34" charset="0"/>
                <a:ea typeface="Montserrat" pitchFamily="34" charset="-122"/>
                <a:cs typeface="Montserrat" pitchFamily="34" charset="-120"/>
              </a:rPr>
              <a:t>under attack conditions</a:t>
            </a:r>
          </a:p>
        </p:txBody>
      </p:sp>
      <p:sp>
        <p:nvSpPr>
          <p:cNvPr id="7" name="Google Shape;421;p25">
            <a:extLst>
              <a:ext uri="{FF2B5EF4-FFF2-40B4-BE49-F238E27FC236}">
                <a16:creationId xmlns:a16="http://schemas.microsoft.com/office/drawing/2014/main" id="{432B4B43-F1C1-4ECA-9D1A-B64E7A4E87CD}"/>
              </a:ext>
            </a:extLst>
          </p:cNvPr>
          <p:cNvSpPr txBox="1"/>
          <p:nvPr/>
        </p:nvSpPr>
        <p:spPr>
          <a:xfrm>
            <a:off x="1028699" y="1833714"/>
            <a:ext cx="10423072" cy="517065"/>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GB" sz="2400" b="1" i="0" u="none" strike="noStrike" cap="none" dirty="0">
                <a:solidFill>
                  <a:srgbClr val="3A91B9"/>
                </a:solidFill>
                <a:latin typeface="Montserrat"/>
                <a:ea typeface="Montserrat"/>
                <a:cs typeface="Montserrat"/>
                <a:sym typeface="Montserrat"/>
              </a:rPr>
              <a:t>From cybersecurity analysis to operational decision support</a:t>
            </a:r>
            <a:endParaRPr sz="2400" dirty="0"/>
          </a:p>
        </p:txBody>
      </p:sp>
      <p:sp>
        <p:nvSpPr>
          <p:cNvPr id="13" name="Google Shape;419;p25">
            <a:extLst>
              <a:ext uri="{FF2B5EF4-FFF2-40B4-BE49-F238E27FC236}">
                <a16:creationId xmlns:a16="http://schemas.microsoft.com/office/drawing/2014/main" id="{36555330-546F-4ABE-858D-5E2BFB78ED15}"/>
              </a:ext>
            </a:extLst>
          </p:cNvPr>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14" name="Google Shape;420;p25">
            <a:extLst>
              <a:ext uri="{FF2B5EF4-FFF2-40B4-BE49-F238E27FC236}">
                <a16:creationId xmlns:a16="http://schemas.microsoft.com/office/drawing/2014/main" id="{AB73E69C-A6F9-456E-B8CC-674CA89FC9C8}"/>
              </a:ext>
            </a:extLst>
          </p:cNvPr>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pic>
        <p:nvPicPr>
          <p:cNvPr id="8194" name="Picture 2">
            <a:extLst>
              <a:ext uri="{FF2B5EF4-FFF2-40B4-BE49-F238E27FC236}">
                <a16:creationId xmlns:a16="http://schemas.microsoft.com/office/drawing/2014/main" id="{29287ADB-1001-4EE8-947D-12D1900F981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6178" b="11250"/>
          <a:stretch/>
        </p:blipFill>
        <p:spPr bwMode="auto">
          <a:xfrm>
            <a:off x="4833257" y="5434699"/>
            <a:ext cx="7990114" cy="46762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7506344"/>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3793</TotalTime>
  <Words>4082</Words>
  <Application>Microsoft Office PowerPoint</Application>
  <PresentationFormat>Personalizado</PresentationFormat>
  <Paragraphs>279</Paragraphs>
  <Slides>11</Slides>
  <Notes>11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Montserrat</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Álex SATRD</dc:creator>
  <cp:lastModifiedBy>Benjamin Molina Moreno</cp:lastModifiedBy>
  <cp:revision>206</cp:revision>
  <dcterms:created xsi:type="dcterms:W3CDTF">2006-08-16T00:00:00Z</dcterms:created>
  <dcterms:modified xsi:type="dcterms:W3CDTF">2025-12-07T11:00:47Z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0x01010072C04B74EAD8E9439FAD3EE2FEDD4B27</vt:lpwstr>
  </property>
</Properties>
</file>
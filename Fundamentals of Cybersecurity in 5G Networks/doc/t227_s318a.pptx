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79" r:id="rId2"/>
    <p:sldId id="314" r:id="rId3"/>
    <p:sldId id="280" r:id="rId4"/>
    <p:sldId id="328" r:id="rId5"/>
    <p:sldId id="329" r:id="rId6"/>
    <p:sldId id="330" r:id="rId7"/>
    <p:sldId id="331" r:id="rId8"/>
    <p:sldId id="332" r:id="rId9"/>
    <p:sldId id="333" r:id="rId10"/>
    <p:sldId id="334" r:id="rId11"/>
    <p:sldId id="335" r:id="rId12"/>
    <p:sldId id="336" r:id="rId13"/>
    <p:sldId id="337" r:id="rId14"/>
    <p:sldId id="338" r:id="rId15"/>
    <p:sldId id="339" r:id="rId16"/>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Montserrat" panose="000005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gzqELEwXxyZjTYZ7hdgkqMKI7z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A91B9"/>
    <a:srgbClr val="D4E9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61ABAF-49AD-4C88-8686-DBCB7EECE15C}">
  <a:tblStyle styleId="{8E61ABAF-49AD-4C88-8686-DBCB7EECE15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F3E9"/>
          </a:solidFill>
        </a:fill>
      </a:tcStyle>
    </a:wholeTbl>
    <a:band1H>
      <a:tcTxStyle/>
      <a:tcStyle>
        <a:tcBdr/>
        <a:fill>
          <a:solidFill>
            <a:srgbClr val="DEE7D0"/>
          </a:solidFill>
        </a:fill>
      </a:tcStyle>
    </a:band1H>
    <a:band2H>
      <a:tcTxStyle/>
      <a:tcStyle>
        <a:tcBdr/>
      </a:tcStyle>
    </a:band2H>
    <a:band1V>
      <a:tcTxStyle/>
      <a:tcStyle>
        <a:tcBdr/>
        <a:fill>
          <a:solidFill>
            <a:srgbClr val="DEE7D0"/>
          </a:solidFill>
        </a:fill>
      </a:tcStyle>
    </a:band1V>
    <a:band2V>
      <a:tcTxStyle/>
      <a:tcStyle>
        <a:tcBdr/>
      </a:tcStyle>
    </a:band2V>
    <a:lastCol>
      <a:tcTxStyle b="on" i="off">
        <a:font>
          <a:latin typeface="Calibri"/>
          <a:ea typeface="Calibri"/>
          <a:cs typeface="Calibri"/>
        </a:font>
        <a:schemeClr val="lt1"/>
      </a:tcTxStyle>
      <a:tcStyle>
        <a:tcBdr/>
        <a:fill>
          <a:solidFill>
            <a:schemeClr val="accent3"/>
          </a:solidFill>
        </a:fill>
      </a:tcStyle>
    </a:lastCol>
    <a:firstCol>
      <a:tcTxStyle b="on" i="off">
        <a:font>
          <a:latin typeface="Calibri"/>
          <a:ea typeface="Calibri"/>
          <a:cs typeface="Calibri"/>
        </a:font>
        <a:schemeClr val="lt1"/>
      </a:tcTxStyle>
      <a:tcStyle>
        <a:tcBdr/>
        <a:fill>
          <a:solidFill>
            <a:schemeClr val="accent3"/>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63" autoAdjust="0"/>
    <p:restoredTop sz="53725" autoAdjust="0"/>
  </p:normalViewPr>
  <p:slideViewPr>
    <p:cSldViewPr snapToGrid="0">
      <p:cViewPr varScale="1">
        <p:scale>
          <a:sx n="59" d="100"/>
          <a:sy n="59" d="100"/>
        </p:scale>
        <p:origin x="3124" y="56"/>
      </p:cViewPr>
      <p:guideLst>
        <p:guide orient="horz" pos="2160"/>
        <p:guide pos="2880"/>
      </p:guideLst>
    </p:cSldViewPr>
  </p:slideViewPr>
  <p:notesTextViewPr>
    <p:cViewPr>
      <p:scale>
        <a:sx n="1" d="1"/>
        <a:sy n="1" d="1"/>
      </p:scale>
      <p:origin x="0" y="0"/>
    </p:cViewPr>
  </p:notesTextViewPr>
  <p:notesViewPr>
    <p:cSldViewPr snapToGrid="0">
      <p:cViewPr varScale="1">
        <p:scale>
          <a:sx n="86" d="100"/>
          <a:sy n="86" d="100"/>
        </p:scale>
        <p:origin x="3864"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4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dirty="0"/>
              <a:t>Welcome to </a:t>
            </a:r>
            <a:r>
              <a:rPr lang="en-US" b="1" dirty="0"/>
              <a:t>Section 3.1.8</a:t>
            </a:r>
            <a:r>
              <a:rPr lang="en-US" dirty="0"/>
              <a:t> of our course, </a:t>
            </a:r>
            <a:r>
              <a:rPr lang="en-US" b="1" dirty="0"/>
              <a:t>Fundamentals of Cybersecurity in 5G Networks</a:t>
            </a:r>
            <a:r>
              <a:rPr lang="en-US" dirty="0"/>
              <a:t>.</a:t>
            </a:r>
            <a:br>
              <a:rPr lang="en-US" dirty="0"/>
            </a:br>
            <a:r>
              <a:rPr lang="en-US" dirty="0"/>
              <a:t>In this section, we begin applying the concepts you have learned earlier in Unit 3.1 to a realistic scenario through a </a:t>
            </a:r>
            <a:r>
              <a:rPr lang="en-US" b="1" dirty="0"/>
              <a:t>Problem-Based Learning</a:t>
            </a:r>
            <a:r>
              <a:rPr lang="en-US" dirty="0"/>
              <a:t> activity, also referred to as </a:t>
            </a:r>
            <a:r>
              <a:rPr lang="en-US" b="1" dirty="0"/>
              <a:t>PBL</a:t>
            </a:r>
            <a:r>
              <a:rPr lang="en-US" dirty="0"/>
              <a:t>.</a:t>
            </a:r>
          </a:p>
          <a:p>
            <a:r>
              <a:rPr lang="en-US" dirty="0"/>
              <a:t>The main purpose of PBL in this course is to place you in the role of </a:t>
            </a:r>
            <a:r>
              <a:rPr lang="en-US" b="1" dirty="0"/>
              <a:t>security analysts</a:t>
            </a:r>
            <a:r>
              <a:rPr lang="en-US" dirty="0"/>
              <a:t> rather than passive learners. Instead of following a predetermined list of actions, you will address a </a:t>
            </a:r>
            <a:r>
              <a:rPr lang="en-US" b="1" dirty="0"/>
              <a:t>real-world cybersecurity problem where information is incomplete,</a:t>
            </a:r>
            <a:r>
              <a:rPr lang="en-US" dirty="0"/>
              <a:t> and results depend on the decisions you make. This reflects how </a:t>
            </a:r>
            <a:r>
              <a:rPr lang="en-US" b="1" dirty="0"/>
              <a:t>cybersecurity risk analysis</a:t>
            </a:r>
            <a:r>
              <a:rPr lang="en-US" dirty="0"/>
              <a:t> is actually carried out in </a:t>
            </a:r>
            <a:r>
              <a:rPr lang="en-US" b="1" dirty="0"/>
              <a:t>modern 5G deployments</a:t>
            </a:r>
            <a:r>
              <a:rPr lang="en-US" dirty="0"/>
              <a:t>, where technology evolves rapidly, multiple stakeholders are involved, and threats are constantly emerging.</a:t>
            </a:r>
          </a:p>
          <a:p>
            <a:r>
              <a:rPr lang="en-US" dirty="0"/>
              <a:t>The scenario we will investigate is named </a:t>
            </a:r>
            <a:r>
              <a:rPr lang="en-US" b="1" dirty="0"/>
              <a:t>NeoCity</a:t>
            </a:r>
            <a:r>
              <a:rPr lang="en-US" dirty="0"/>
              <a:t>, a smart city deployment that uses </a:t>
            </a:r>
            <a:r>
              <a:rPr lang="en-US" b="1" dirty="0"/>
              <a:t>5G connectivity</a:t>
            </a:r>
            <a:r>
              <a:rPr lang="en-US" dirty="0"/>
              <a:t> to operate a </a:t>
            </a:r>
            <a:r>
              <a:rPr lang="en-US" b="1" dirty="0"/>
              <a:t>Connected Traffic Signal System</a:t>
            </a:r>
            <a:r>
              <a:rPr lang="en-US" dirty="0"/>
              <a:t>. Roadside units at intersections are equipped with </a:t>
            </a:r>
            <a:r>
              <a:rPr lang="en-US" b="1" dirty="0"/>
              <a:t>sensors</a:t>
            </a:r>
            <a:r>
              <a:rPr lang="en-US" dirty="0"/>
              <a:t>, </a:t>
            </a:r>
            <a:r>
              <a:rPr lang="en-US" b="1" dirty="0"/>
              <a:t>cameras</a:t>
            </a:r>
            <a:r>
              <a:rPr lang="en-US" dirty="0"/>
              <a:t>, and low-latency communications that continuously deliver data over the 5G network to the city traffic management platform. These services are designed to optimize </a:t>
            </a:r>
            <a:r>
              <a:rPr lang="en-US" b="1" dirty="0"/>
              <a:t>mobility</a:t>
            </a:r>
            <a:r>
              <a:rPr lang="en-US" dirty="0"/>
              <a:t>, enhance </a:t>
            </a:r>
            <a:r>
              <a:rPr lang="en-US" b="1" dirty="0"/>
              <a:t>public safety,</a:t>
            </a:r>
            <a:r>
              <a:rPr lang="en-US" dirty="0"/>
              <a:t> and support faster response times in </a:t>
            </a:r>
            <a:r>
              <a:rPr lang="en-US" b="1" dirty="0"/>
              <a:t>emergencies</a:t>
            </a:r>
            <a:r>
              <a:rPr lang="en-US" dirty="0"/>
              <a:t>. However, recent </a:t>
            </a:r>
            <a:r>
              <a:rPr lang="en-US" b="1" dirty="0"/>
              <a:t>anomalies</a:t>
            </a:r>
            <a:r>
              <a:rPr lang="en-US" dirty="0"/>
              <a:t> have been detected in telemetry coming from several roadside nodes. These events have raised concerns about potential </a:t>
            </a:r>
            <a:r>
              <a:rPr lang="en-US" b="1" dirty="0"/>
              <a:t>security vulnerabilities</a:t>
            </a:r>
            <a:r>
              <a:rPr lang="en-US" dirty="0"/>
              <a:t> that need to be examined before the system goes fully live.</a:t>
            </a:r>
          </a:p>
          <a:p>
            <a:r>
              <a:rPr lang="en-US" dirty="0"/>
              <a:t>Your task during this PBL activity is to apply </a:t>
            </a:r>
            <a:r>
              <a:rPr lang="en-US" b="1" dirty="0"/>
              <a:t>risk analysis</a:t>
            </a:r>
            <a:r>
              <a:rPr lang="en-US" dirty="0"/>
              <a:t> methods to this situation. You will identify and classify </a:t>
            </a:r>
            <a:r>
              <a:rPr lang="en-US" b="1" dirty="0"/>
              <a:t>assets</a:t>
            </a:r>
            <a:r>
              <a:rPr lang="en-US" dirty="0"/>
              <a:t>, model </a:t>
            </a:r>
            <a:r>
              <a:rPr lang="en-US" b="1" dirty="0"/>
              <a:t>threats</a:t>
            </a:r>
            <a:r>
              <a:rPr lang="en-US" dirty="0"/>
              <a:t>, assess </a:t>
            </a:r>
            <a:r>
              <a:rPr lang="en-US" b="1" dirty="0"/>
              <a:t>likelihood and impact,</a:t>
            </a:r>
            <a:r>
              <a:rPr lang="en-US" dirty="0"/>
              <a:t> and propose </a:t>
            </a:r>
            <a:r>
              <a:rPr lang="en-US" b="1" dirty="0"/>
              <a:t>mitigation measures</a:t>
            </a:r>
            <a:r>
              <a:rPr lang="en-US" dirty="0"/>
              <a:t>. You will also validate findings using a dedicated </a:t>
            </a:r>
            <a:r>
              <a:rPr lang="en-US" b="1" dirty="0"/>
              <a:t>open source laboratory environment</a:t>
            </a:r>
            <a:r>
              <a:rPr lang="en-US" dirty="0"/>
              <a:t> that includes a simplified </a:t>
            </a:r>
            <a:r>
              <a:rPr lang="en-US" b="1" dirty="0"/>
              <a:t>5G core</a:t>
            </a:r>
            <a:r>
              <a:rPr lang="en-US" dirty="0"/>
              <a:t>, a </a:t>
            </a:r>
            <a:r>
              <a:rPr lang="en-US" b="1" dirty="0"/>
              <a:t>traffic signal control service</a:t>
            </a:r>
            <a:r>
              <a:rPr lang="en-US" dirty="0"/>
              <a:t>, </a:t>
            </a:r>
            <a:r>
              <a:rPr lang="en-US" b="1" dirty="0"/>
              <a:t>monitoring tools,</a:t>
            </a:r>
            <a:r>
              <a:rPr lang="en-US" dirty="0"/>
              <a:t> and </a:t>
            </a:r>
            <a:r>
              <a:rPr lang="en-US" b="1" dirty="0"/>
              <a:t>controlled attack traffic</a:t>
            </a:r>
            <a:r>
              <a:rPr lang="en-US" dirty="0"/>
              <a:t>.</a:t>
            </a:r>
          </a:p>
          <a:p>
            <a:r>
              <a:rPr lang="en-US" dirty="0"/>
              <a:t>The activity is divided into </a:t>
            </a:r>
            <a:r>
              <a:rPr lang="en-US" b="1" dirty="0"/>
              <a:t>three sessions</a:t>
            </a:r>
            <a:r>
              <a:rPr lang="en-US" dirty="0"/>
              <a:t>. In </a:t>
            </a:r>
            <a:r>
              <a:rPr lang="en-US" b="1" dirty="0"/>
              <a:t>Part 1,</a:t>
            </a:r>
            <a:r>
              <a:rPr lang="en-US" dirty="0"/>
              <a:t> we introduce the scenario and ensure that the lab environment is working correctly. In </a:t>
            </a:r>
            <a:r>
              <a:rPr lang="en-US" b="1" dirty="0"/>
              <a:t>Part 2,</a:t>
            </a:r>
            <a:r>
              <a:rPr lang="en-US" dirty="0"/>
              <a:t> you will perform threat modelling and risk assessment. In </a:t>
            </a:r>
            <a:r>
              <a:rPr lang="en-US" b="1" dirty="0"/>
              <a:t>Part 3</a:t>
            </a:r>
            <a:r>
              <a:rPr lang="en-US" dirty="0"/>
              <a:t>, you will communicate results, evaluate residual risk, and reflect on lessons learned. By the end of this activity, you will have strengthened your ability to apply cybersecurity fundamentals to a </a:t>
            </a:r>
            <a:r>
              <a:rPr lang="en-US" b="1" dirty="0"/>
              <a:t>5 G-enabled smart city service</a:t>
            </a:r>
            <a:r>
              <a:rPr lang="en-US" dirty="0"/>
              <a:t>.</a:t>
            </a:r>
          </a:p>
        </p:txBody>
      </p:sp>
      <p:sp>
        <p:nvSpPr>
          <p:cNvPr id="404" name="Google Shape;40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dirty="0"/>
              <a:t>In this slide, we clarify what you are expected to achieve during Part 1 of this PBL activity. These </a:t>
            </a:r>
            <a:r>
              <a:rPr lang="en-US" sz="1200" b="1" dirty="0"/>
              <a:t>learning objectives</a:t>
            </a:r>
            <a:r>
              <a:rPr lang="en-US" sz="1200" dirty="0"/>
              <a:t> connect the theoretical knowledge acquired earlier in Unit 3.1 with the practical cybersecurity work you will perform in the NeoCity scenario.</a:t>
            </a:r>
          </a:p>
          <a:p>
            <a:r>
              <a:rPr lang="en-US" sz="1200" dirty="0"/>
              <a:t>The first objective focuses on the </a:t>
            </a:r>
            <a:r>
              <a:rPr lang="en-US" sz="1200" b="1" dirty="0"/>
              <a:t>scenario context</a:t>
            </a:r>
            <a:r>
              <a:rPr lang="en-US" sz="1200" dirty="0"/>
              <a:t>. You will learn how the </a:t>
            </a:r>
            <a:r>
              <a:rPr lang="en-US" sz="1200" b="1" dirty="0"/>
              <a:t>Connected Traffic Signal System</a:t>
            </a:r>
            <a:r>
              <a:rPr lang="en-US" sz="1200" dirty="0"/>
              <a:t> in NeoCity works and why </a:t>
            </a:r>
            <a:r>
              <a:rPr lang="en-US" sz="1200" b="1" dirty="0"/>
              <a:t>5G connectivity</a:t>
            </a:r>
            <a:r>
              <a:rPr lang="en-US" sz="1200" dirty="0"/>
              <a:t> is critical for its performance. Understanding the system architecture and data flows is essential for identifying </a:t>
            </a:r>
            <a:r>
              <a:rPr lang="en-US" sz="1200" b="1" dirty="0"/>
              <a:t>assets</a:t>
            </a:r>
            <a:r>
              <a:rPr lang="en-US" sz="1200" dirty="0"/>
              <a:t>, </a:t>
            </a:r>
            <a:r>
              <a:rPr lang="en-US" sz="1200" b="1" dirty="0"/>
              <a:t>attack surfaces,</a:t>
            </a:r>
            <a:r>
              <a:rPr lang="en-US" sz="1200" dirty="0"/>
              <a:t> and stakeholders who depend on the service. A clear view of the scenario gives us the foundation to ask the right security questions.</a:t>
            </a:r>
          </a:p>
          <a:p>
            <a:r>
              <a:rPr lang="en-US" sz="1200" dirty="0"/>
              <a:t>The second objective introduces the </a:t>
            </a:r>
            <a:r>
              <a:rPr lang="en-US" sz="1200" b="1" dirty="0"/>
              <a:t>method</a:t>
            </a:r>
            <a:r>
              <a:rPr lang="en-US" sz="1200" dirty="0"/>
              <a:t> we will use throughout the PBL. Cybersecurity risk analysis is not performed randomly. It follows a structured workflow that begins with defining the </a:t>
            </a:r>
            <a:r>
              <a:rPr lang="en-US" sz="1200" b="1" dirty="0"/>
              <a:t>scope</a:t>
            </a:r>
            <a:r>
              <a:rPr lang="en-US" sz="1200" dirty="0"/>
              <a:t> and continues through </a:t>
            </a:r>
            <a:r>
              <a:rPr lang="en-US" sz="1200" b="1" dirty="0"/>
              <a:t>threat identification</a:t>
            </a:r>
            <a:r>
              <a:rPr lang="en-US" sz="1200" dirty="0"/>
              <a:t>, </a:t>
            </a:r>
            <a:r>
              <a:rPr lang="en-US" sz="1200" b="1" dirty="0"/>
              <a:t>risk evaluation</a:t>
            </a:r>
            <a:r>
              <a:rPr lang="en-US" sz="1200" dirty="0"/>
              <a:t>, </a:t>
            </a:r>
            <a:r>
              <a:rPr lang="en-US" sz="1200" b="1" dirty="0"/>
              <a:t>mitigation planning,</a:t>
            </a:r>
            <a:r>
              <a:rPr lang="en-US" sz="1200" dirty="0"/>
              <a:t> and </a:t>
            </a:r>
            <a:r>
              <a:rPr lang="en-US" sz="1200" b="1" dirty="0"/>
              <a:t>reporting</a:t>
            </a:r>
            <a:r>
              <a:rPr lang="en-US" sz="1200" dirty="0"/>
              <a:t>. You will apply these </a:t>
            </a:r>
            <a:r>
              <a:rPr lang="en-US" sz="1200" b="1" dirty="0"/>
              <a:t>five steps</a:t>
            </a:r>
            <a:r>
              <a:rPr lang="en-US" sz="1200" dirty="0"/>
              <a:t> to the NeoCity case, using observations and evidence from the lab environment to justify your decisions. This reinforces the importance of analytical reasoning and traceability in real cybersecurity work.</a:t>
            </a:r>
          </a:p>
          <a:p>
            <a:r>
              <a:rPr lang="en-US" sz="1200" dirty="0"/>
              <a:t>The third objective is related to the </a:t>
            </a:r>
            <a:r>
              <a:rPr lang="en-US" sz="1200" b="1" dirty="0"/>
              <a:t>tools</a:t>
            </a:r>
            <a:r>
              <a:rPr lang="en-US" sz="1200" dirty="0"/>
              <a:t>. To support your investigation, you will work with an </a:t>
            </a:r>
            <a:r>
              <a:rPr lang="en-US" sz="1200" b="1" dirty="0"/>
              <a:t>open-source 5G lab</a:t>
            </a:r>
            <a:r>
              <a:rPr lang="en-US" sz="1200" dirty="0"/>
              <a:t> that includes a simplified </a:t>
            </a:r>
            <a:r>
              <a:rPr lang="en-US" sz="1200" b="1" dirty="0"/>
              <a:t>5G core</a:t>
            </a:r>
            <a:r>
              <a:rPr lang="en-US" sz="1200" dirty="0"/>
              <a:t>, a </a:t>
            </a:r>
            <a:r>
              <a:rPr lang="en-US" sz="1200" b="1" dirty="0"/>
              <a:t>traffic management application</a:t>
            </a:r>
            <a:r>
              <a:rPr lang="en-US" sz="1200" dirty="0"/>
              <a:t>, </a:t>
            </a:r>
            <a:r>
              <a:rPr lang="en-US" sz="1200" b="1" dirty="0"/>
              <a:t>monitoring dashboards,</a:t>
            </a:r>
            <a:r>
              <a:rPr lang="en-US" sz="1200" dirty="0"/>
              <a:t> and a controlled </a:t>
            </a:r>
            <a:r>
              <a:rPr lang="en-US" sz="1200" b="1" dirty="0"/>
              <a:t>attack environment</a:t>
            </a:r>
            <a:r>
              <a:rPr lang="en-US" sz="1200" dirty="0"/>
              <a:t>. These tools will allow you to observe realistic events, detect anomalies, and collect information that feeds into your threat analysis. Becoming familiar with the purpose of each component in the toolchain is important before moving to hands-on activities.</a:t>
            </a:r>
          </a:p>
          <a:p>
            <a:r>
              <a:rPr lang="en-US" sz="1200" dirty="0"/>
              <a:t>Across these three goals, the central idea is to prepare you to </a:t>
            </a:r>
            <a:r>
              <a:rPr lang="en-US" sz="1200" b="1" dirty="0"/>
              <a:t>apply what you know</a:t>
            </a:r>
            <a:r>
              <a:rPr lang="en-US" sz="1200" dirty="0"/>
              <a:t>. By the end of Part 1, you should have a strong understanding of the real-world problem, a method to </a:t>
            </a:r>
            <a:r>
              <a:rPr lang="en-US" sz="1200" dirty="0" err="1"/>
              <a:t>analyse</a:t>
            </a:r>
            <a:r>
              <a:rPr lang="en-US" sz="1200" dirty="0"/>
              <a:t> it, and a practical toolkit that allows you to investigate risks in a 5 G-enabled</a:t>
            </a:r>
            <a:r>
              <a:rPr lang="en-US" sz="1200" b="1" dirty="0"/>
              <a:t> smart city</a:t>
            </a:r>
            <a:r>
              <a:rPr lang="en-US" sz="1200" dirty="0"/>
              <a:t> service. This preparation positions you to perform meaningful threat modelling and risk assessment in the next part of the activity.</a:t>
            </a: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1282025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Here, we explain how we are building a connection between the theoretical knowledge that you studied earlier in Unit 3.1 and the practical work that begins with this PBL activity. Up to now, you have learned the foundations of </a:t>
            </a:r>
            <a:r>
              <a:rPr lang="en-US" b="1" dirty="0"/>
              <a:t>cybersecurity in 5G networks</a:t>
            </a:r>
            <a:r>
              <a:rPr lang="en-US" dirty="0"/>
              <a:t>, including the </a:t>
            </a:r>
            <a:r>
              <a:rPr lang="en-US" b="1" dirty="0"/>
              <a:t>CIA triad</a:t>
            </a:r>
            <a:r>
              <a:rPr lang="en-US" dirty="0"/>
              <a:t>, the classification of </a:t>
            </a:r>
            <a:r>
              <a:rPr lang="en-US" b="1" dirty="0"/>
              <a:t>threats and vulnerabilities</a:t>
            </a:r>
            <a:r>
              <a:rPr lang="en-US" dirty="0"/>
              <a:t>, and the role of </a:t>
            </a:r>
            <a:r>
              <a:rPr lang="en-US" b="1" dirty="0"/>
              <a:t>identity and access management</a:t>
            </a:r>
            <a:r>
              <a:rPr lang="en-US" dirty="0"/>
              <a:t> in enforcing trust. These ideas represent the base of our understanding of what must be protected and why it matters. They are essential components of </a:t>
            </a:r>
            <a:r>
              <a:rPr lang="en-US" b="1" dirty="0"/>
              <a:t>security fundamentals</a:t>
            </a:r>
            <a:r>
              <a:rPr lang="en-US" dirty="0"/>
              <a:t>.</a:t>
            </a:r>
          </a:p>
          <a:p>
            <a:r>
              <a:rPr lang="en-US" dirty="0"/>
              <a:t>However, cybersecurity is never just an academic exercise. Knowing the theory is only useful when you can apply it to real systems and real situations. This is where our work in NeoCity begins. As shown in the visual, we now move toward </a:t>
            </a:r>
            <a:r>
              <a:rPr lang="en-US" b="1" dirty="0"/>
              <a:t>risk analysis in NeoCity</a:t>
            </a:r>
            <a:r>
              <a:rPr lang="en-US" dirty="0"/>
              <a:t>, which means placing ourselves in a realistic operational environment and making security decisions based on what we observe. The focus shifts to understanding how </a:t>
            </a:r>
            <a:r>
              <a:rPr lang="en-US" b="1" dirty="0"/>
              <a:t>threats evolve</a:t>
            </a:r>
            <a:r>
              <a:rPr lang="en-US" dirty="0"/>
              <a:t>, how </a:t>
            </a:r>
            <a:r>
              <a:rPr lang="en-US" b="1" dirty="0"/>
              <a:t>attack surfaces</a:t>
            </a:r>
            <a:r>
              <a:rPr lang="en-US" dirty="0"/>
              <a:t> appear as the network grows, and how operational evidence gives us insights into </a:t>
            </a:r>
            <a:r>
              <a:rPr lang="en-US" b="1" dirty="0"/>
              <a:t>actual risk levels</a:t>
            </a:r>
            <a:r>
              <a:rPr lang="en-US" dirty="0"/>
              <a:t>.</a:t>
            </a:r>
          </a:p>
          <a:p>
            <a:r>
              <a:rPr lang="en-US" dirty="0"/>
              <a:t>In this transition, your role changes as well. You are no longer only learning definitions. You are expected to </a:t>
            </a:r>
            <a:r>
              <a:rPr lang="en-US" b="1" dirty="0" err="1"/>
              <a:t>analyse</a:t>
            </a:r>
            <a:r>
              <a:rPr lang="en-US" dirty="0"/>
              <a:t>, </a:t>
            </a:r>
            <a:r>
              <a:rPr lang="en-US" b="1" dirty="0"/>
              <a:t>evaluate,</a:t>
            </a:r>
            <a:r>
              <a:rPr lang="en-US" dirty="0"/>
              <a:t> and </a:t>
            </a:r>
            <a:r>
              <a:rPr lang="en-US" b="1" dirty="0"/>
              <a:t>justify</a:t>
            </a:r>
            <a:r>
              <a:rPr lang="en-US" dirty="0"/>
              <a:t> your conclusions using information gathered from the lab environment. Every choice you make should be supported by </a:t>
            </a:r>
            <a:r>
              <a:rPr lang="en-US" b="1" dirty="0"/>
              <a:t>evidence</a:t>
            </a:r>
            <a:r>
              <a:rPr lang="en-US" dirty="0"/>
              <a:t> and a clear understanding of its impact on the system’s </a:t>
            </a:r>
            <a:r>
              <a:rPr lang="en-US" b="1" dirty="0"/>
              <a:t>confidentiality</a:t>
            </a:r>
            <a:r>
              <a:rPr lang="en-US" dirty="0"/>
              <a:t>, </a:t>
            </a:r>
            <a:r>
              <a:rPr lang="en-US" b="1" dirty="0"/>
              <a:t>integrity,</a:t>
            </a:r>
            <a:r>
              <a:rPr lang="en-US" dirty="0"/>
              <a:t> and </a:t>
            </a:r>
            <a:r>
              <a:rPr lang="en-US" b="1" dirty="0"/>
              <a:t>availability</a:t>
            </a:r>
            <a:r>
              <a:rPr lang="en-US" dirty="0"/>
              <a:t>.</a:t>
            </a:r>
          </a:p>
          <a:p>
            <a:r>
              <a:rPr lang="en-US" dirty="0"/>
              <a:t>This approach reflects real professional practice in 5G cybersecurity. When critical services such as traffic control depend on 5G connectivity, the consequences of security gaps become immediate and tangible. A decision that improves security is only valuable if it can be verified in operation and if it contributes to the resilience of the service.</a:t>
            </a:r>
          </a:p>
          <a:p>
            <a:r>
              <a:rPr lang="en-US" dirty="0"/>
              <a:t>With this mindset in place, we are ready to introduce the next part of the story. In the next slide, you will learn more about the NeoCity deployment itself, the challenges it faces, and why a thorough security analysis is urgently needed before the system becomes fully operational.</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We introduce here the scenario that you will investigate throughout this PBL activity. The system we are working with is called </a:t>
            </a:r>
            <a:r>
              <a:rPr lang="en-US" b="1" dirty="0"/>
              <a:t>NeoCity: Connected Traffic Signal System</a:t>
            </a:r>
            <a:r>
              <a:rPr lang="en-US" dirty="0"/>
              <a:t>. It uses </a:t>
            </a:r>
            <a:r>
              <a:rPr lang="en-US" b="1" dirty="0"/>
              <a:t>5G connectivity</a:t>
            </a:r>
            <a:r>
              <a:rPr lang="en-US" dirty="0"/>
              <a:t> to help the city manage real-time traffic conditions, improve mobility, and support safer roads for citizens.</a:t>
            </a:r>
          </a:p>
          <a:p>
            <a:r>
              <a:rPr lang="en-US" dirty="0"/>
              <a:t>At selected intersections across NeoCity, </a:t>
            </a:r>
            <a:r>
              <a:rPr lang="en-US" b="1" dirty="0"/>
              <a:t>Roadside Units</a:t>
            </a:r>
            <a:r>
              <a:rPr lang="en-US" dirty="0"/>
              <a:t>, or </a:t>
            </a:r>
            <a:r>
              <a:rPr lang="en-US" b="1" dirty="0"/>
              <a:t>RSUs</a:t>
            </a:r>
            <a:r>
              <a:rPr lang="en-US" dirty="0"/>
              <a:t>, collect two main types of information. The first type is </a:t>
            </a:r>
            <a:r>
              <a:rPr lang="en-US" b="1" dirty="0"/>
              <a:t>video data</a:t>
            </a:r>
            <a:r>
              <a:rPr lang="en-US" dirty="0"/>
              <a:t> from cameras that track how vehicles and pedestrians move through the junction. The second type is </a:t>
            </a:r>
            <a:r>
              <a:rPr lang="en-US" b="1" dirty="0"/>
              <a:t>telemetry data</a:t>
            </a:r>
            <a:r>
              <a:rPr lang="en-US" dirty="0"/>
              <a:t> from sensors that monitor road conditions and queues. Both data streams are transmitted over the </a:t>
            </a:r>
            <a:r>
              <a:rPr lang="en-US" b="1" dirty="0"/>
              <a:t>5G network</a:t>
            </a:r>
            <a:r>
              <a:rPr lang="en-US" dirty="0"/>
              <a:t> through a nearby </a:t>
            </a:r>
            <a:r>
              <a:rPr lang="en-US" b="1" dirty="0"/>
              <a:t>5G antenna</a:t>
            </a:r>
            <a:r>
              <a:rPr lang="en-US" dirty="0"/>
              <a:t> to a central </a:t>
            </a:r>
            <a:r>
              <a:rPr lang="en-US" b="1" dirty="0"/>
              <a:t>Traffic Control Platform</a:t>
            </a:r>
            <a:r>
              <a:rPr lang="en-US" dirty="0"/>
              <a:t>. There, the data is processed to adjust signal timings, detect congestion, and ensure efficient operation.</a:t>
            </a:r>
          </a:p>
          <a:p>
            <a:r>
              <a:rPr lang="en-US" dirty="0"/>
              <a:t>However, before this system becomes fully operational, the city has detected </a:t>
            </a:r>
            <a:r>
              <a:rPr lang="en-US" b="1" dirty="0"/>
              <a:t>anomalies</a:t>
            </a:r>
            <a:r>
              <a:rPr lang="en-US" dirty="0"/>
              <a:t> in the telemetry data coming from some of the roadside units. These anomalies could be caused by technical faults or by something more concerning. Since </a:t>
            </a:r>
            <a:r>
              <a:rPr lang="en-US" b="1" dirty="0"/>
              <a:t>5G-enabled traffic control has real-world</a:t>
            </a:r>
            <a:r>
              <a:rPr lang="en-US" dirty="0"/>
              <a:t> consequences, any uncertainty about the integrity or authenticity of this information requires immediate investigation. Even a small disruption in the communication path could lead to </a:t>
            </a:r>
            <a:r>
              <a:rPr lang="en-US" b="1" dirty="0"/>
              <a:t>unsafe traffic conditions</a:t>
            </a:r>
            <a:r>
              <a:rPr lang="en-US" dirty="0"/>
              <a:t>, for example, incorrect light changes or delays in emergency vehicle routes.</a:t>
            </a:r>
          </a:p>
          <a:p>
            <a:r>
              <a:rPr lang="en-US" dirty="0"/>
              <a:t>Our role in this activity is to examine this situation from a </a:t>
            </a:r>
            <a:r>
              <a:rPr lang="en-US" b="1" dirty="0"/>
              <a:t>cybersecurity risk</a:t>
            </a:r>
            <a:r>
              <a:rPr lang="en-US" dirty="0"/>
              <a:t> perspective. We need to understand the system, the data flows, and the technologies involved so that we can identify what might go wrong and how severe the impact could be. The diagram you see in this slide highlights the </a:t>
            </a:r>
            <a:r>
              <a:rPr lang="en-US" b="1" dirty="0"/>
              <a:t>critical assets</a:t>
            </a:r>
            <a:r>
              <a:rPr lang="en-US" dirty="0"/>
              <a:t> and the </a:t>
            </a:r>
            <a:r>
              <a:rPr lang="en-US" b="1" dirty="0"/>
              <a:t>data path</a:t>
            </a:r>
            <a:r>
              <a:rPr lang="en-US" dirty="0"/>
              <a:t> where the anomalies appear. This will guide our analysis as we move forward.</a:t>
            </a:r>
          </a:p>
          <a:p>
            <a:r>
              <a:rPr lang="en-US" dirty="0"/>
              <a:t>In the next slide, we will look at the different </a:t>
            </a:r>
            <a:r>
              <a:rPr lang="en-US" b="1" dirty="0"/>
              <a:t>stakeholders</a:t>
            </a:r>
            <a:r>
              <a:rPr lang="en-US" dirty="0"/>
              <a:t> involved in this system. Each group has specific responsibilities and security expectations. Understanding who owns which assets and who is accountable for protecting them is a key first step in any risk analysis.</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4028619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This slide presents the key </a:t>
            </a:r>
            <a:r>
              <a:rPr lang="en-US" b="1" dirty="0"/>
              <a:t>stakeholders</a:t>
            </a:r>
            <a:r>
              <a:rPr lang="en-US" dirty="0"/>
              <a:t> who share responsibility for the security of the </a:t>
            </a:r>
            <a:r>
              <a:rPr lang="en-US" b="1" dirty="0"/>
              <a:t>Connected Traffic Signal System</a:t>
            </a:r>
            <a:r>
              <a:rPr lang="en-US" dirty="0"/>
              <a:t> in NeoCity. Understanding who is involved and what role each actor plays is essential before performing </a:t>
            </a:r>
            <a:r>
              <a:rPr lang="en-US" b="1" dirty="0"/>
              <a:t>risk analysis</a:t>
            </a:r>
            <a:r>
              <a:rPr lang="en-US" dirty="0"/>
              <a:t>, because cybersecurity decisions always have operational and </a:t>
            </a:r>
            <a:r>
              <a:rPr lang="en-US" dirty="0" err="1"/>
              <a:t>organisational</a:t>
            </a:r>
            <a:r>
              <a:rPr lang="en-US" dirty="0"/>
              <a:t> consequences.</a:t>
            </a:r>
          </a:p>
          <a:p>
            <a:r>
              <a:rPr lang="en-US" dirty="0"/>
              <a:t>The first stakeholder is </a:t>
            </a:r>
            <a:r>
              <a:rPr lang="en-US" b="1" dirty="0" err="1"/>
              <a:t>UrbanTel</a:t>
            </a:r>
            <a:r>
              <a:rPr lang="en-US" dirty="0"/>
              <a:t>, the </a:t>
            </a:r>
            <a:r>
              <a:rPr lang="en-US" b="1" dirty="0"/>
              <a:t>5G operator</a:t>
            </a:r>
            <a:r>
              <a:rPr lang="en-US" dirty="0"/>
              <a:t>. </a:t>
            </a:r>
            <a:r>
              <a:rPr lang="en-US" dirty="0" err="1"/>
              <a:t>UrbanTel</a:t>
            </a:r>
            <a:r>
              <a:rPr lang="en-US" dirty="0"/>
              <a:t> designs, deploys and maintains the </a:t>
            </a:r>
            <a:r>
              <a:rPr lang="en-US" b="1" dirty="0"/>
              <a:t>5G connectivity</a:t>
            </a:r>
            <a:r>
              <a:rPr lang="en-US" dirty="0"/>
              <a:t> that the traffic system relies on. This means they are responsible for the correct functioning of the </a:t>
            </a:r>
            <a:r>
              <a:rPr lang="en-US" b="1" dirty="0"/>
              <a:t>radio access network</a:t>
            </a:r>
            <a:r>
              <a:rPr lang="en-US" dirty="0"/>
              <a:t>, the </a:t>
            </a:r>
            <a:r>
              <a:rPr lang="en-US" b="1" dirty="0"/>
              <a:t>5G core</a:t>
            </a:r>
            <a:r>
              <a:rPr lang="en-US" dirty="0"/>
              <a:t> and the related </a:t>
            </a:r>
            <a:r>
              <a:rPr lang="en-US" b="1" dirty="0"/>
              <a:t>network services</a:t>
            </a:r>
            <a:r>
              <a:rPr lang="en-US" dirty="0"/>
              <a:t> that transport video and telemetry to the central platform. Any loss of </a:t>
            </a:r>
            <a:r>
              <a:rPr lang="en-US" b="1" dirty="0"/>
              <a:t>availability</a:t>
            </a:r>
            <a:r>
              <a:rPr lang="en-US" dirty="0"/>
              <a:t> or </a:t>
            </a:r>
            <a:r>
              <a:rPr lang="en-US" b="1" dirty="0"/>
              <a:t>integrity</a:t>
            </a:r>
            <a:r>
              <a:rPr lang="en-US" dirty="0"/>
              <a:t> within their infrastructure can have a direct impact on public services.</a:t>
            </a:r>
          </a:p>
          <a:p>
            <a:r>
              <a:rPr lang="en-US" dirty="0"/>
              <a:t>The second stakeholder is the </a:t>
            </a:r>
            <a:r>
              <a:rPr lang="en-US" b="1" dirty="0"/>
              <a:t>NeoCity Traffic Authority</a:t>
            </a:r>
            <a:r>
              <a:rPr lang="en-US" dirty="0"/>
              <a:t>. This group operates the </a:t>
            </a:r>
            <a:r>
              <a:rPr lang="en-US" b="1" dirty="0"/>
              <a:t>traffic control platform</a:t>
            </a:r>
            <a:r>
              <a:rPr lang="en-US" dirty="0"/>
              <a:t> and makes decisions that affect the safety and efficiency of citizens. They depend on </a:t>
            </a:r>
            <a:r>
              <a:rPr lang="en-US" b="1" dirty="0"/>
              <a:t>trusted data</a:t>
            </a:r>
            <a:r>
              <a:rPr lang="en-US" dirty="0"/>
              <a:t> to adjust traffic signals, prevent congestion and </a:t>
            </a:r>
            <a:r>
              <a:rPr lang="en-US" dirty="0" err="1"/>
              <a:t>prioritise</a:t>
            </a:r>
            <a:r>
              <a:rPr lang="en-US" dirty="0"/>
              <a:t> </a:t>
            </a:r>
            <a:r>
              <a:rPr lang="en-US" b="1" dirty="0"/>
              <a:t>emergency vehicles</a:t>
            </a:r>
            <a:r>
              <a:rPr lang="en-US" dirty="0"/>
              <a:t>. Their responsibility is to ensure that the system remains </a:t>
            </a:r>
            <a:r>
              <a:rPr lang="en-US" b="1" dirty="0"/>
              <a:t>operational</a:t>
            </a:r>
            <a:r>
              <a:rPr lang="en-US" dirty="0"/>
              <a:t>, that decisions are accurate and that incidents are handled quickly.</a:t>
            </a:r>
          </a:p>
          <a:p>
            <a:r>
              <a:rPr lang="en-US" dirty="0"/>
              <a:t>The third stakeholder shown is </a:t>
            </a:r>
            <a:r>
              <a:rPr lang="en-US" b="1" dirty="0"/>
              <a:t>Public Safety Services</a:t>
            </a:r>
            <a:r>
              <a:rPr lang="en-US" dirty="0"/>
              <a:t>, including emergency responders such as firefighters, ambulance teams and police units. These </a:t>
            </a:r>
            <a:r>
              <a:rPr lang="en-US" dirty="0" err="1"/>
              <a:t>organisations</a:t>
            </a:r>
            <a:r>
              <a:rPr lang="en-US" dirty="0"/>
              <a:t> rely on timely access to the transport network and therefore depend on the </a:t>
            </a:r>
            <a:r>
              <a:rPr lang="en-US" b="1" dirty="0"/>
              <a:t>availability</a:t>
            </a:r>
            <a:r>
              <a:rPr lang="en-US" dirty="0"/>
              <a:t> and </a:t>
            </a:r>
            <a:r>
              <a:rPr lang="en-US" b="1" dirty="0"/>
              <a:t>accuracy</a:t>
            </a:r>
            <a:r>
              <a:rPr lang="en-US" dirty="0"/>
              <a:t> of traffic signal operations. For them, any cybersecurity failure could translate into </a:t>
            </a:r>
            <a:r>
              <a:rPr lang="en-US" b="1" dirty="0"/>
              <a:t>higher response times</a:t>
            </a:r>
            <a:r>
              <a:rPr lang="en-US" dirty="0"/>
              <a:t>, </a:t>
            </a:r>
            <a:r>
              <a:rPr lang="en-US" b="1" dirty="0"/>
              <a:t>unsafe routing</a:t>
            </a:r>
            <a:r>
              <a:rPr lang="en-US" dirty="0"/>
              <a:t> or even loss of life in critical situations.</a:t>
            </a:r>
          </a:p>
          <a:p>
            <a:r>
              <a:rPr lang="en-US" dirty="0"/>
              <a:t>These examples illustrate that cybersecurity in NeoCity is not only about protecting data or preventing </a:t>
            </a:r>
            <a:r>
              <a:rPr lang="en-US" dirty="0" err="1"/>
              <a:t>unauthorised</a:t>
            </a:r>
            <a:r>
              <a:rPr lang="en-US" dirty="0"/>
              <a:t> access. It is a shared responsibility that affects </a:t>
            </a:r>
            <a:r>
              <a:rPr lang="en-US" b="1" dirty="0"/>
              <a:t>public safety</a:t>
            </a:r>
            <a:r>
              <a:rPr lang="en-US" dirty="0"/>
              <a:t>, </a:t>
            </a:r>
            <a:r>
              <a:rPr lang="en-US" b="1" dirty="0"/>
              <a:t>service delivery</a:t>
            </a:r>
            <a:r>
              <a:rPr lang="en-US" dirty="0"/>
              <a:t> and </a:t>
            </a:r>
            <a:r>
              <a:rPr lang="en-US" b="1" dirty="0"/>
              <a:t>critical infrastructure reliability</a:t>
            </a:r>
            <a:r>
              <a:rPr lang="en-US" dirty="0"/>
              <a:t>. When </a:t>
            </a:r>
            <a:r>
              <a:rPr lang="en-US" dirty="0" err="1"/>
              <a:t>analysing</a:t>
            </a:r>
            <a:r>
              <a:rPr lang="en-US" dirty="0"/>
              <a:t> risks, we must consider how each stakeholder contributes to security, as well as how they are affected by weaknesses in the system.</a:t>
            </a:r>
          </a:p>
          <a:p>
            <a:r>
              <a:rPr lang="en-US" dirty="0"/>
              <a:t>In the next slide we will introduce the </a:t>
            </a:r>
            <a:r>
              <a:rPr lang="en-US" b="1" dirty="0"/>
              <a:t>risk analysis workflow</a:t>
            </a:r>
            <a:r>
              <a:rPr lang="en-US" dirty="0"/>
              <a:t> that you will apply in this PBL activity. This workflow will guide how you identify </a:t>
            </a:r>
            <a:r>
              <a:rPr lang="en-US" b="1" dirty="0"/>
              <a:t>threats</a:t>
            </a:r>
            <a:r>
              <a:rPr lang="en-US" dirty="0"/>
              <a:t>, evaluate </a:t>
            </a:r>
            <a:r>
              <a:rPr lang="en-US" b="1" dirty="0"/>
              <a:t>risks</a:t>
            </a:r>
            <a:r>
              <a:rPr lang="en-US" dirty="0"/>
              <a:t> and propose </a:t>
            </a:r>
            <a:r>
              <a:rPr lang="en-US" b="1" dirty="0"/>
              <a:t>mitigations</a:t>
            </a:r>
            <a:r>
              <a:rPr lang="en-US" dirty="0"/>
              <a:t> for this smart city service.</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49298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In this slide, we introduce the structured </a:t>
            </a:r>
            <a:r>
              <a:rPr lang="en-US" b="1" dirty="0"/>
              <a:t>risk analysis workflow</a:t>
            </a:r>
            <a:r>
              <a:rPr lang="en-US" dirty="0"/>
              <a:t> that we will use throughout the PBL activity. The process contains </a:t>
            </a:r>
            <a:r>
              <a:rPr lang="en-US" b="1" dirty="0"/>
              <a:t>five key steps</a:t>
            </a:r>
            <a:r>
              <a:rPr lang="en-US" dirty="0"/>
              <a:t>, each designed to support clear and </a:t>
            </a:r>
            <a:r>
              <a:rPr lang="en-US" b="1" dirty="0"/>
              <a:t>evidence-based</a:t>
            </a:r>
            <a:r>
              <a:rPr lang="en-US" dirty="0"/>
              <a:t> reasoning when </a:t>
            </a:r>
            <a:r>
              <a:rPr lang="en-US" dirty="0" err="1"/>
              <a:t>analysing</a:t>
            </a:r>
            <a:r>
              <a:rPr lang="en-US" dirty="0"/>
              <a:t> cybersecurity risks in </a:t>
            </a:r>
            <a:r>
              <a:rPr lang="en-US" dirty="0" err="1"/>
              <a:t>NeoCity</a:t>
            </a:r>
            <a:r>
              <a:rPr lang="en-US" dirty="0"/>
              <a:t>.</a:t>
            </a:r>
          </a:p>
          <a:p>
            <a:r>
              <a:rPr lang="en-US" dirty="0"/>
              <a:t>The first step is </a:t>
            </a:r>
            <a:r>
              <a:rPr lang="en-US" b="1" dirty="0"/>
              <a:t>Scope</a:t>
            </a:r>
            <a:r>
              <a:rPr lang="en-US" dirty="0"/>
              <a:t>. Before any analysis begins, we need to define the </a:t>
            </a:r>
            <a:r>
              <a:rPr lang="en-US" b="1" dirty="0"/>
              <a:t>boundaries</a:t>
            </a:r>
            <a:r>
              <a:rPr lang="en-US" dirty="0"/>
              <a:t> of what we are assessing and the </a:t>
            </a:r>
            <a:r>
              <a:rPr lang="en-US" b="1" dirty="0"/>
              <a:t>objectives</a:t>
            </a:r>
            <a:r>
              <a:rPr lang="en-US" dirty="0"/>
              <a:t> of this work. For example, are we focusing only on the roadside units, or on the entire traffic control system? A well-defined scope ensures that the investigation remains focused and manageable.</a:t>
            </a:r>
          </a:p>
          <a:p>
            <a:r>
              <a:rPr lang="en-US" dirty="0"/>
              <a:t>The second step is </a:t>
            </a:r>
            <a:r>
              <a:rPr lang="en-US" b="1" dirty="0"/>
              <a:t>Threats</a:t>
            </a:r>
            <a:r>
              <a:rPr lang="en-US" dirty="0"/>
              <a:t>. Here we identify </a:t>
            </a:r>
            <a:r>
              <a:rPr lang="en-US" b="1" dirty="0"/>
              <a:t>potential threats</a:t>
            </a:r>
            <a:r>
              <a:rPr lang="en-US" dirty="0"/>
              <a:t> and </a:t>
            </a:r>
            <a:r>
              <a:rPr lang="en-US" b="1" dirty="0"/>
              <a:t>vulnerabilities</a:t>
            </a:r>
            <a:r>
              <a:rPr lang="en-US" dirty="0"/>
              <a:t> that could compromise the system. This includes anything that could reduce </a:t>
            </a:r>
            <a:r>
              <a:rPr lang="en-US" b="1" dirty="0"/>
              <a:t>the confidentiality, integrity,</a:t>
            </a:r>
            <a:r>
              <a:rPr lang="en-US" dirty="0"/>
              <a:t> or </a:t>
            </a:r>
            <a:r>
              <a:rPr lang="en-US" b="1" dirty="0"/>
              <a:t>availability</a:t>
            </a:r>
            <a:r>
              <a:rPr lang="en-US" dirty="0"/>
              <a:t> of the traffic signal service. We rely on models, observations, and known attacker behaviors to uncover where weaknesses may exist.</a:t>
            </a:r>
          </a:p>
          <a:p>
            <a:r>
              <a:rPr lang="en-US" dirty="0"/>
              <a:t>The third step is </a:t>
            </a:r>
            <a:r>
              <a:rPr lang="en-US" b="1" dirty="0"/>
              <a:t>Risk</a:t>
            </a:r>
            <a:r>
              <a:rPr lang="en-US" dirty="0"/>
              <a:t>. In this stage, we evaluate the </a:t>
            </a:r>
            <a:r>
              <a:rPr lang="en-US" b="1" dirty="0"/>
              <a:t>likelihood</a:t>
            </a:r>
            <a:r>
              <a:rPr lang="en-US" dirty="0"/>
              <a:t> and </a:t>
            </a:r>
            <a:r>
              <a:rPr lang="en-US" b="1" dirty="0"/>
              <a:t>impact</a:t>
            </a:r>
            <a:r>
              <a:rPr lang="en-US" dirty="0"/>
              <a:t> of each threat scenario. Not all threats have the same consequences. A low probability attack that creates major disruption may still be high risk. This evaluation helps us prioritize what must be addressed first.</a:t>
            </a:r>
          </a:p>
          <a:p>
            <a:r>
              <a:rPr lang="en-US" dirty="0"/>
              <a:t>The fourth step is </a:t>
            </a:r>
            <a:r>
              <a:rPr lang="en-US" b="1" dirty="0"/>
              <a:t>Controls</a:t>
            </a:r>
            <a:r>
              <a:rPr lang="en-US" dirty="0"/>
              <a:t>. Once we understand the risk level, we select and propose </a:t>
            </a:r>
            <a:r>
              <a:rPr lang="en-US" b="1" dirty="0"/>
              <a:t>mitigation measures</a:t>
            </a:r>
            <a:r>
              <a:rPr lang="en-US" dirty="0"/>
              <a:t>. These may include technical controls, monitoring improvements, changes in configuration or stronger authentication requirements. The effectiveness of each control must be justified with reasoning and data.</a:t>
            </a:r>
          </a:p>
          <a:p>
            <a:r>
              <a:rPr lang="en-US" dirty="0"/>
              <a:t>The fifth and final step is </a:t>
            </a:r>
            <a:r>
              <a:rPr lang="en-US" b="1" dirty="0"/>
              <a:t>reporting</a:t>
            </a:r>
            <a:r>
              <a:rPr lang="en-US" dirty="0"/>
              <a:t>. We </a:t>
            </a:r>
            <a:r>
              <a:rPr lang="en-US" b="1" dirty="0"/>
              <a:t>document</a:t>
            </a:r>
            <a:r>
              <a:rPr lang="en-US" dirty="0"/>
              <a:t> the findings and </a:t>
            </a:r>
            <a:r>
              <a:rPr lang="en-US" b="1" dirty="0"/>
              <a:t>communicate</a:t>
            </a:r>
            <a:r>
              <a:rPr lang="en-US" dirty="0"/>
              <a:t> recommendations to the relevant stakeholders. A risk analysis is valuable only if the results guide decisions and help improve </a:t>
            </a:r>
            <a:r>
              <a:rPr lang="en-US" b="1" dirty="0"/>
              <a:t>security posture</a:t>
            </a:r>
            <a:r>
              <a:rPr lang="en-US" dirty="0"/>
              <a:t> in real operations.</a:t>
            </a:r>
          </a:p>
          <a:p>
            <a:r>
              <a:rPr lang="en-US" dirty="0"/>
              <a:t>You will use this workflow in Part 2 of the PBL when investigating the anomalies in </a:t>
            </a:r>
            <a:r>
              <a:rPr lang="en-US" dirty="0" err="1"/>
              <a:t>NeoCity</a:t>
            </a:r>
            <a:r>
              <a:rPr lang="en-US" dirty="0"/>
              <a:t>. For now, our next step is to understand the </a:t>
            </a:r>
            <a:r>
              <a:rPr lang="en-US" b="1" dirty="0"/>
              <a:t>toolchain</a:t>
            </a:r>
            <a:r>
              <a:rPr lang="en-US" dirty="0"/>
              <a:t> that enables us to gather evidence and validate risks in a realistic environment.</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881768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A practical investigation of cybersecurity risks requires visibility, control, and trustworthy evidence. For this reason, the </a:t>
            </a:r>
            <a:r>
              <a:rPr lang="en-US" dirty="0" err="1"/>
              <a:t>NeoCity</a:t>
            </a:r>
            <a:r>
              <a:rPr lang="en-US" dirty="0"/>
              <a:t> PBL uses a fully open-source </a:t>
            </a:r>
            <a:r>
              <a:rPr lang="en-US" b="1" dirty="0"/>
              <a:t>5G lab toolchain</a:t>
            </a:r>
            <a:r>
              <a:rPr lang="en-US" dirty="0"/>
              <a:t> that enables hands-on experimentation in a controlled environment. Each component in this diagram plays a specific role in supporting </a:t>
            </a:r>
            <a:r>
              <a:rPr lang="en-US" b="1" dirty="0"/>
              <a:t>risk analysis</a:t>
            </a:r>
            <a:r>
              <a:rPr lang="en-US" dirty="0"/>
              <a:t>.</a:t>
            </a:r>
          </a:p>
          <a:p>
            <a:r>
              <a:rPr lang="en-US" dirty="0"/>
              <a:t>At the center of the toolchain, we have </a:t>
            </a:r>
            <a:r>
              <a:rPr lang="en-US" b="1" dirty="0"/>
              <a:t>Open5GS</a:t>
            </a:r>
            <a:r>
              <a:rPr lang="en-US" dirty="0"/>
              <a:t>, which implements a simplified </a:t>
            </a:r>
            <a:r>
              <a:rPr lang="en-US" b="1" dirty="0"/>
              <a:t>5G core network</a:t>
            </a:r>
            <a:r>
              <a:rPr lang="en-US" dirty="0"/>
              <a:t>. It handles connectivity between roadside units and the traffic management service. Because it is containerized, students can observe and manipulate the network in ways that are not possible in commercial environments. Open5GS is the backbone that allows us to understand how </a:t>
            </a:r>
            <a:r>
              <a:rPr lang="en-US" b="1" dirty="0"/>
              <a:t>data flows</a:t>
            </a:r>
            <a:r>
              <a:rPr lang="en-US" dirty="0"/>
              <a:t>, where </a:t>
            </a:r>
            <a:r>
              <a:rPr lang="en-US" b="1" dirty="0"/>
              <a:t>trust boundaries</a:t>
            </a:r>
            <a:r>
              <a:rPr lang="en-US" dirty="0"/>
              <a:t> exist, and where attacks might cause disruption.</a:t>
            </a:r>
          </a:p>
          <a:p>
            <a:r>
              <a:rPr lang="en-US" dirty="0"/>
              <a:t>On the right side, we have the </a:t>
            </a:r>
            <a:r>
              <a:rPr lang="en-US" b="1" dirty="0"/>
              <a:t>MEC App</a:t>
            </a:r>
            <a:r>
              <a:rPr lang="en-US" dirty="0"/>
              <a:t>, which represents the </a:t>
            </a:r>
            <a:r>
              <a:rPr lang="en-US" b="1" dirty="0"/>
              <a:t>traffic control logic</a:t>
            </a:r>
            <a:r>
              <a:rPr lang="en-US" dirty="0"/>
              <a:t>. This application consumes video and telemetry to adjust traffic lights in real time. It gives us a clear view of how operational decisions depend on </a:t>
            </a:r>
            <a:r>
              <a:rPr lang="en-US" b="1" dirty="0"/>
              <a:t>data integrity</a:t>
            </a:r>
            <a:r>
              <a:rPr lang="en-US" dirty="0"/>
              <a:t>. When anomalies appear, this part of the system is directly affected, which makes it central to our investigation.</a:t>
            </a:r>
          </a:p>
          <a:p>
            <a:r>
              <a:rPr lang="en-US" dirty="0"/>
              <a:t>To observe what is happening inside the environment, we rely on </a:t>
            </a:r>
            <a:r>
              <a:rPr lang="en-US" b="1" dirty="0"/>
              <a:t>Prometheus</a:t>
            </a:r>
            <a:r>
              <a:rPr lang="en-US" dirty="0"/>
              <a:t> for </a:t>
            </a:r>
            <a:r>
              <a:rPr lang="en-US" b="1" dirty="0"/>
              <a:t>data collection</a:t>
            </a:r>
            <a:r>
              <a:rPr lang="en-US" dirty="0"/>
              <a:t> and </a:t>
            </a:r>
            <a:r>
              <a:rPr lang="en-US" b="1" dirty="0"/>
              <a:t>performance analysis</a:t>
            </a:r>
            <a:r>
              <a:rPr lang="en-US" dirty="0"/>
              <a:t>. Prometheus extracts metrics that help us monitor how the system behaves during attack simulations or configuration changes. These metrics become part of the evidence we use to justify findings.</a:t>
            </a:r>
          </a:p>
          <a:p>
            <a:r>
              <a:rPr lang="en-US" dirty="0"/>
              <a:t>Finally, </a:t>
            </a:r>
            <a:r>
              <a:rPr lang="en-US" b="1" dirty="0"/>
              <a:t>Suricata</a:t>
            </a:r>
            <a:r>
              <a:rPr lang="en-US" dirty="0"/>
              <a:t> operates as an </a:t>
            </a:r>
            <a:r>
              <a:rPr lang="en-US" b="1" dirty="0"/>
              <a:t>intrusion detection system</a:t>
            </a:r>
            <a:r>
              <a:rPr lang="en-US" dirty="0"/>
              <a:t>. It monitors network traffic and alerts when suspicious behavior is detected. Suricata helps us connect theory to practice by showing how </a:t>
            </a:r>
            <a:r>
              <a:rPr lang="en-US" b="1" dirty="0"/>
              <a:t>threats</a:t>
            </a:r>
            <a:r>
              <a:rPr lang="en-US" dirty="0"/>
              <a:t> can be identified inside a live 5G environment.</a:t>
            </a:r>
          </a:p>
          <a:p>
            <a:r>
              <a:rPr lang="en-US" dirty="0"/>
              <a:t>Together, these tools provide the </a:t>
            </a:r>
            <a:r>
              <a:rPr lang="en-US" b="1" dirty="0"/>
              <a:t>observability</a:t>
            </a:r>
            <a:r>
              <a:rPr lang="en-US" dirty="0"/>
              <a:t>, </a:t>
            </a:r>
            <a:r>
              <a:rPr lang="en-US" b="1" dirty="0"/>
              <a:t>diagnostic insight,</a:t>
            </a:r>
            <a:r>
              <a:rPr lang="en-US" dirty="0"/>
              <a:t> and </a:t>
            </a:r>
            <a:r>
              <a:rPr lang="en-US" b="1" dirty="0"/>
              <a:t>security monitoring</a:t>
            </a:r>
            <a:r>
              <a:rPr lang="en-US" dirty="0"/>
              <a:t> necessary for a rigorous analysis of risk. They allow us to validate assumptions, detect vulnerabilities, and evaluate which controls truly improve safety in </a:t>
            </a:r>
            <a:r>
              <a:rPr lang="en-US" dirty="0" err="1"/>
              <a:t>NeoCity</a:t>
            </a:r>
            <a:r>
              <a:rPr lang="en-US" dirty="0"/>
              <a:t>.</a:t>
            </a:r>
          </a:p>
          <a:p>
            <a:r>
              <a:rPr lang="en-US" dirty="0"/>
              <a:t>Having reviewed the toolchain, we can now focus on how all components interact. The next slide introduces the </a:t>
            </a:r>
            <a:r>
              <a:rPr lang="en-US" b="1" dirty="0"/>
              <a:t>lab architecture</a:t>
            </a:r>
            <a:r>
              <a:rPr lang="en-US" dirty="0"/>
              <a:t> that you will work with during hands-on tasks.</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88353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By now, we understand the tools that make up our 5G cybersecurity testbed. The next step is to see how everything fits together in the </a:t>
            </a:r>
            <a:r>
              <a:rPr lang="en-US" b="1" dirty="0"/>
              <a:t>lab architecture</a:t>
            </a:r>
            <a:r>
              <a:rPr lang="en-US" dirty="0"/>
              <a:t>. All components run inside a </a:t>
            </a:r>
            <a:r>
              <a:rPr lang="en-US" b="1" dirty="0"/>
              <a:t>Docker Container Network</a:t>
            </a:r>
            <a:r>
              <a:rPr lang="en-US" dirty="0"/>
              <a:t> on a </a:t>
            </a:r>
            <a:r>
              <a:rPr lang="en-US" b="1" dirty="0"/>
              <a:t>single student device</a:t>
            </a:r>
            <a:r>
              <a:rPr lang="en-US" dirty="0"/>
              <a:t>, making the environment portable, reproducible and safe for experimentation.</a:t>
            </a:r>
          </a:p>
          <a:p>
            <a:r>
              <a:rPr lang="en-US" dirty="0"/>
              <a:t>Running everything locally gives us full visibility and avoids the complexity of real operator networks. This setup creates a </a:t>
            </a:r>
            <a:r>
              <a:rPr lang="en-US" b="1" dirty="0"/>
              <a:t>closed sandbox</a:t>
            </a:r>
            <a:r>
              <a:rPr lang="en-US" dirty="0"/>
              <a:t> where we can observe every packet, service and interaction without affecting external systems. It also means that students can restart, modify or break parts of the system without permanent consequences, which is essential to learning by doing.</a:t>
            </a:r>
          </a:p>
          <a:p>
            <a:r>
              <a:rPr lang="en-US" dirty="0"/>
              <a:t>Inside the container network, the </a:t>
            </a:r>
            <a:r>
              <a:rPr lang="en-US" b="1" dirty="0"/>
              <a:t>Traffic Source</a:t>
            </a:r>
            <a:r>
              <a:rPr lang="en-US" dirty="0"/>
              <a:t> simulates </a:t>
            </a:r>
            <a:r>
              <a:rPr lang="en-US" b="1" dirty="0"/>
              <a:t>sensor data</a:t>
            </a:r>
            <a:r>
              <a:rPr lang="en-US" dirty="0"/>
              <a:t> such as telemetry from roadside units. This is the type of information </a:t>
            </a:r>
            <a:r>
              <a:rPr lang="en-US" dirty="0" err="1"/>
              <a:t>NeoCity</a:t>
            </a:r>
            <a:r>
              <a:rPr lang="en-US" dirty="0"/>
              <a:t> relies on to operate traffic lights and manage real time traffic flow. Simulating data allows us to introduce anomalies and malicious behavior under controlled conditions.</a:t>
            </a:r>
          </a:p>
          <a:p>
            <a:r>
              <a:rPr lang="en-US" dirty="0"/>
              <a:t>The simulated data flows through </a:t>
            </a:r>
            <a:r>
              <a:rPr lang="en-US" b="1" dirty="0"/>
              <a:t>Open5GS</a:t>
            </a:r>
            <a:r>
              <a:rPr lang="en-US" dirty="0"/>
              <a:t>, which acts as the </a:t>
            </a:r>
            <a:r>
              <a:rPr lang="en-US" b="1" dirty="0"/>
              <a:t>5G core</a:t>
            </a:r>
            <a:r>
              <a:rPr lang="en-US" dirty="0"/>
              <a:t>. Here we focus on how </a:t>
            </a:r>
            <a:r>
              <a:rPr lang="en-US" b="1" dirty="0"/>
              <a:t>registration</a:t>
            </a:r>
            <a:r>
              <a:rPr lang="en-US" dirty="0"/>
              <a:t>, </a:t>
            </a:r>
            <a:r>
              <a:rPr lang="en-US" b="1" dirty="0"/>
              <a:t>authentication</a:t>
            </a:r>
            <a:r>
              <a:rPr lang="en-US" dirty="0"/>
              <a:t> and </a:t>
            </a:r>
            <a:r>
              <a:rPr lang="en-US" b="1" dirty="0"/>
              <a:t>session management</a:t>
            </a:r>
            <a:r>
              <a:rPr lang="en-US" dirty="0"/>
              <a:t> functions support communication between services. This helps us identify </a:t>
            </a:r>
            <a:r>
              <a:rPr lang="en-US" b="1" dirty="0"/>
              <a:t>trust boundaries</a:t>
            </a:r>
            <a:r>
              <a:rPr lang="en-US" dirty="0"/>
              <a:t> and understand where attackers might target the system.</a:t>
            </a:r>
          </a:p>
          <a:p>
            <a:r>
              <a:rPr lang="en-US" dirty="0"/>
              <a:t>The </a:t>
            </a:r>
            <a:r>
              <a:rPr lang="en-US" b="1" dirty="0"/>
              <a:t>MEC App</a:t>
            </a:r>
            <a:r>
              <a:rPr lang="en-US" dirty="0"/>
              <a:t> receives the data and performs </a:t>
            </a:r>
            <a:r>
              <a:rPr lang="en-US" b="1" dirty="0"/>
              <a:t>traffic control logic</a:t>
            </a:r>
            <a:r>
              <a:rPr lang="en-US" dirty="0"/>
              <a:t>, similar to how smart city services work in real deployments. Any loss of data integrity here directly affects </a:t>
            </a:r>
            <a:r>
              <a:rPr lang="en-US" b="1" dirty="0"/>
              <a:t>operational decision making</a:t>
            </a:r>
            <a:r>
              <a:rPr lang="en-US" dirty="0"/>
              <a:t>, which allows us to connect cybersecurity risks to real world impact.</a:t>
            </a:r>
          </a:p>
          <a:p>
            <a:r>
              <a:rPr lang="en-US" dirty="0"/>
              <a:t>Finally, the </a:t>
            </a:r>
            <a:r>
              <a:rPr lang="en-US" b="1" dirty="0"/>
              <a:t>Monitoring and Security</a:t>
            </a:r>
            <a:r>
              <a:rPr lang="en-US" dirty="0"/>
              <a:t> services collect metrics and inspect traffic. They provide evidence for </a:t>
            </a:r>
            <a:r>
              <a:rPr lang="en-US" b="1" dirty="0"/>
              <a:t>risk evaluation</a:t>
            </a:r>
            <a:r>
              <a:rPr lang="en-US" dirty="0"/>
              <a:t>, </a:t>
            </a:r>
            <a:r>
              <a:rPr lang="en-US" b="1" dirty="0"/>
              <a:t>incident detection</a:t>
            </a:r>
            <a:r>
              <a:rPr lang="en-US" dirty="0"/>
              <a:t> and </a:t>
            </a:r>
            <a:r>
              <a:rPr lang="en-US" b="1" dirty="0"/>
              <a:t>reporting</a:t>
            </a:r>
            <a:r>
              <a:rPr lang="en-US" dirty="0"/>
              <a:t>.</a:t>
            </a:r>
          </a:p>
          <a:p>
            <a:r>
              <a:rPr lang="en-US" dirty="0"/>
              <a:t>Seeing the architecture as a whole prepares us for the </a:t>
            </a:r>
            <a:r>
              <a:rPr lang="en-US" b="1" dirty="0"/>
              <a:t>hands on</a:t>
            </a:r>
            <a:r>
              <a:rPr lang="en-US" dirty="0"/>
              <a:t> phase. Up next, we will launch the lab environment and validate that all components are running correctly before beginning the </a:t>
            </a:r>
            <a:r>
              <a:rPr lang="en-US" b="1" dirty="0"/>
              <a:t>risk analysis workflow</a:t>
            </a:r>
            <a:r>
              <a:rPr lang="en-US" dirty="0"/>
              <a:t>.</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464135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Getting the lab running is the first hands-on activity in this PBL. Once the environment is deployed, we can begin collecting evidence and exploring risks in a realistic 5G scenario. The steps shown here outline the entire </a:t>
            </a:r>
            <a:r>
              <a:rPr lang="en-US" b="1" dirty="0" err="1"/>
              <a:t>quickstart</a:t>
            </a:r>
            <a:r>
              <a:rPr lang="en-US" b="1" dirty="0"/>
              <a:t> workflow</a:t>
            </a:r>
            <a:r>
              <a:rPr lang="en-US" dirty="0"/>
              <a:t>, making it simple for anyone to set up the </a:t>
            </a:r>
            <a:r>
              <a:rPr lang="en-US" dirty="0" err="1"/>
              <a:t>NeoCity</a:t>
            </a:r>
            <a:r>
              <a:rPr lang="en-US" dirty="0"/>
              <a:t> lab without deep infrastructure knowledge.</a:t>
            </a:r>
          </a:p>
          <a:p>
            <a:r>
              <a:rPr lang="en-US" dirty="0"/>
              <a:t>The process begins by </a:t>
            </a:r>
            <a:r>
              <a:rPr lang="en-US" b="1" dirty="0"/>
              <a:t>cloning the repository</a:t>
            </a:r>
            <a:r>
              <a:rPr lang="en-US" dirty="0"/>
              <a:t> that contains all components of the lab. This ensures everyone works with the same codebase and configuration files. It also allows updates to be distributed quickly to all students if improvements or fixes are needed.</a:t>
            </a:r>
          </a:p>
          <a:p>
            <a:r>
              <a:rPr lang="en-US" dirty="0"/>
              <a:t>Next, we </a:t>
            </a:r>
            <a:r>
              <a:rPr lang="en-US" b="1" dirty="0"/>
              <a:t>launch the containerized environment</a:t>
            </a:r>
            <a:r>
              <a:rPr lang="en-US" dirty="0"/>
              <a:t> using Docker Compose. This action automatically starts the </a:t>
            </a:r>
            <a:r>
              <a:rPr lang="en-US" b="1" dirty="0"/>
              <a:t>5G core (Open5GS)</a:t>
            </a:r>
            <a:r>
              <a:rPr lang="en-US" dirty="0"/>
              <a:t>, the </a:t>
            </a:r>
            <a:r>
              <a:rPr lang="en-US" b="1" dirty="0"/>
              <a:t>MEC traffic control application</a:t>
            </a:r>
            <a:r>
              <a:rPr lang="en-US" dirty="0"/>
              <a:t>, as well as the </a:t>
            </a:r>
            <a:r>
              <a:rPr lang="en-US" b="1" dirty="0"/>
              <a:t>monitoring and security stack</a:t>
            </a:r>
            <a:r>
              <a:rPr lang="en-US" dirty="0"/>
              <a:t>. The goal is to provide an operational system with minimal effort, letting students focus on analysis rather than installation issues.</a:t>
            </a:r>
          </a:p>
          <a:p>
            <a:r>
              <a:rPr lang="en-US" dirty="0"/>
              <a:t>Once the environment is running, it is important to </a:t>
            </a:r>
            <a:r>
              <a:rPr lang="en-US" b="1" dirty="0"/>
              <a:t>verify service availability</a:t>
            </a:r>
            <a:r>
              <a:rPr lang="en-US" dirty="0"/>
              <a:t>. This can be done by checking logs, confirming that ports are open, or inspecting dashboards. Ensuring that each service is alive and communicating prevents confusion later when evaluating abnormal behavior or detecting attacks.</a:t>
            </a:r>
          </a:p>
          <a:p>
            <a:r>
              <a:rPr lang="en-US" dirty="0"/>
              <a:t>The final step is to </a:t>
            </a:r>
            <a:r>
              <a:rPr lang="en-US" b="1" dirty="0"/>
              <a:t>start the traffic simulation</a:t>
            </a:r>
            <a:r>
              <a:rPr lang="en-US" dirty="0"/>
              <a:t>. This simulation acts as the data source that feeds the traffic control logic. With data flowing through all components, we can now observe how the system behaves in normal conditions before introducing changes or threats.</a:t>
            </a:r>
          </a:p>
          <a:p>
            <a:r>
              <a:rPr lang="en-US" dirty="0"/>
              <a:t>When these four actions are completed, the student is fully equipped to begin </a:t>
            </a:r>
            <a:r>
              <a:rPr lang="en-US" b="1" dirty="0"/>
              <a:t>risk analysis</a:t>
            </a:r>
            <a:r>
              <a:rPr lang="en-US" dirty="0"/>
              <a:t> activities. They will be able to investigate anomalies, validate detection tools, and evaluate the impact of compromised data inside a controlled smart city test environment.</a:t>
            </a:r>
          </a:p>
          <a:p>
            <a:r>
              <a:rPr lang="en-US" dirty="0"/>
              <a:t>The next slides will guide the students through these hands-on tasks step by step, connecting each part of the analysis workflow with practical evidence from the lab.</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830122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Setting the </a:t>
            </a:r>
            <a:r>
              <a:rPr lang="en-US" b="1" dirty="0"/>
              <a:t>scope</a:t>
            </a:r>
            <a:r>
              <a:rPr lang="en-US" dirty="0"/>
              <a:t> is the foundation of any cybersecurity risk analysis. Without clear boundaries, it becomes difficult to decide which systems to evaluate, which data to collect, and which vulnerabilities truly matter. That is why we begin by defining exactly what is included and excluded from our investigation.</a:t>
            </a:r>
          </a:p>
          <a:p>
            <a:r>
              <a:rPr lang="en-US" dirty="0"/>
              <a:t>In the case of </a:t>
            </a:r>
            <a:r>
              <a:rPr lang="en-US" dirty="0" err="1"/>
              <a:t>NeoCity</a:t>
            </a:r>
            <a:r>
              <a:rPr lang="en-US" dirty="0"/>
              <a:t>, we are focusing on the </a:t>
            </a:r>
            <a:r>
              <a:rPr lang="en-US" b="1" dirty="0"/>
              <a:t>Connected Traffic Signal System</a:t>
            </a:r>
            <a:r>
              <a:rPr lang="en-US" dirty="0"/>
              <a:t>. This includes the </a:t>
            </a:r>
            <a:r>
              <a:rPr lang="en-US" b="1" dirty="0"/>
              <a:t>telemetry</a:t>
            </a:r>
            <a:r>
              <a:rPr lang="en-US" dirty="0"/>
              <a:t> that travels from roadside devices, the </a:t>
            </a:r>
            <a:r>
              <a:rPr lang="en-US" b="1" dirty="0"/>
              <a:t>5G connectivity</a:t>
            </a:r>
            <a:r>
              <a:rPr lang="en-US" dirty="0"/>
              <a:t> provided by the core network, and the </a:t>
            </a:r>
            <a:r>
              <a:rPr lang="en-US" b="1" dirty="0"/>
              <a:t>traffic control logic</a:t>
            </a:r>
            <a:r>
              <a:rPr lang="en-US" dirty="0"/>
              <a:t> executed in the MEC application. These are the elements directly involved in the anomaly that triggered the investigation. By narrowing the scope to the systems that process operational data, we can work efficiently and avoid distractions.</a:t>
            </a:r>
          </a:p>
          <a:p>
            <a:r>
              <a:rPr lang="en-US" dirty="0"/>
              <a:t>Equally important is identifying what is </a:t>
            </a:r>
            <a:r>
              <a:rPr lang="en-US" b="1" dirty="0"/>
              <a:t>out of scope</a:t>
            </a:r>
            <a:r>
              <a:rPr lang="en-US" dirty="0"/>
              <a:t>. For example, citizen smartphones, internet content services, or unrelated municipal systems may interact with </a:t>
            </a:r>
            <a:r>
              <a:rPr lang="en-US" dirty="0" err="1"/>
              <a:t>NeoCity’s</a:t>
            </a:r>
            <a:r>
              <a:rPr lang="en-US" dirty="0"/>
              <a:t> architecture, but they are not relevant to the specific risk being assessed. Declaring these elements out of scope prevents confusion later when threats are considered. It keeps the analysis aligned with </a:t>
            </a:r>
            <a:r>
              <a:rPr lang="en-US" b="1" dirty="0"/>
              <a:t>evidence</a:t>
            </a:r>
            <a:r>
              <a:rPr lang="en-US" dirty="0"/>
              <a:t> and operational relevance.</a:t>
            </a:r>
          </a:p>
          <a:p>
            <a:r>
              <a:rPr lang="en-US" dirty="0"/>
              <a:t>Defining the scope also helps formalize </a:t>
            </a:r>
            <a:r>
              <a:rPr lang="en-US" b="1" dirty="0"/>
              <a:t>assumptions</a:t>
            </a:r>
            <a:r>
              <a:rPr lang="en-US" dirty="0"/>
              <a:t>. For instance, we assume that the network infrastructure outside the core </a:t>
            </a:r>
            <a:r>
              <a:rPr lang="en-US"/>
              <a:t>behaves normally </a:t>
            </a:r>
            <a:r>
              <a:rPr lang="en-US" dirty="0"/>
              <a:t>and that legitimate users are authorized correctly. If these assumptions change during the investigation, the scope can be adjusted, but at least we begin from a structured baseline.</a:t>
            </a:r>
          </a:p>
          <a:p>
            <a:r>
              <a:rPr lang="en-US" dirty="0"/>
              <a:t>A </a:t>
            </a:r>
            <a:r>
              <a:rPr lang="en-US" b="1" dirty="0"/>
              <a:t>clear scope</a:t>
            </a:r>
            <a:r>
              <a:rPr lang="en-US" dirty="0"/>
              <a:t> improves communication with stakeholders. When presenting risk findings, decision makers need to understand what the conclusions apply to and what remains unknown. Precision avoids overestimating or underestimating the severity of issues.</a:t>
            </a:r>
          </a:p>
          <a:p>
            <a:r>
              <a:rPr lang="en-US" dirty="0"/>
              <a:t>Now that we understand the boundaries of the problem, we can focus on what could go wrong inside that defined space. The next step in the workflow is to identify </a:t>
            </a:r>
            <a:r>
              <a:rPr lang="en-US" b="1" dirty="0"/>
              <a:t>threats</a:t>
            </a:r>
            <a:r>
              <a:rPr lang="en-US" dirty="0"/>
              <a:t> that might compromise the security or performance of the scoped system.</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4159734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Once we have a clear scope, the next task is to identify what could threaten the system we are analyzing. A threat can be any circumstance, capability or event that has the potential to compromise the </a:t>
            </a:r>
            <a:r>
              <a:rPr lang="en-US" b="1" dirty="0"/>
              <a:t>Confidentiality</a:t>
            </a:r>
            <a:r>
              <a:rPr lang="en-US" dirty="0"/>
              <a:t>, </a:t>
            </a:r>
            <a:r>
              <a:rPr lang="en-US" b="1" dirty="0"/>
              <a:t>Integrity</a:t>
            </a:r>
            <a:r>
              <a:rPr lang="en-US" dirty="0"/>
              <a:t> or </a:t>
            </a:r>
            <a:r>
              <a:rPr lang="en-US" b="1" dirty="0"/>
              <a:t>Availability</a:t>
            </a:r>
            <a:r>
              <a:rPr lang="en-US" dirty="0"/>
              <a:t> of the service. These three principles represent the core goals of </a:t>
            </a:r>
            <a:r>
              <a:rPr lang="en-US" b="1" dirty="0"/>
              <a:t>cybersecurity protection</a:t>
            </a:r>
            <a:r>
              <a:rPr lang="en-US" dirty="0"/>
              <a:t>, and understanding how a threat can impact each one helps us determine the severity of the risk.</a:t>
            </a:r>
          </a:p>
          <a:p>
            <a:r>
              <a:rPr lang="en-US" dirty="0"/>
              <a:t>Starting with </a:t>
            </a:r>
            <a:r>
              <a:rPr lang="en-US" b="1" dirty="0"/>
              <a:t>Confidentiality</a:t>
            </a:r>
            <a:r>
              <a:rPr lang="en-US" dirty="0"/>
              <a:t>, we focus on whether sensitive information could be exposed or accessed by unauthorized actors. In the </a:t>
            </a:r>
            <a:r>
              <a:rPr lang="en-US" dirty="0" err="1"/>
              <a:t>NeoCity</a:t>
            </a:r>
            <a:r>
              <a:rPr lang="en-US" dirty="0"/>
              <a:t> context, telemetry data from roadside units might reveal traffic patterns or vehicle behavior if intercepted. This could lead to </a:t>
            </a:r>
            <a:r>
              <a:rPr lang="en-US" b="1" dirty="0"/>
              <a:t>data breaches</a:t>
            </a:r>
            <a:r>
              <a:rPr lang="en-US" dirty="0"/>
              <a:t> or </a:t>
            </a:r>
            <a:r>
              <a:rPr lang="en-US" b="1" dirty="0"/>
              <a:t>privacy violations</a:t>
            </a:r>
            <a:r>
              <a:rPr lang="en-US" dirty="0"/>
              <a:t>, especially when combined with other city data sources.</a:t>
            </a:r>
          </a:p>
          <a:p>
            <a:r>
              <a:rPr lang="en-US" b="1" dirty="0"/>
              <a:t>Integrity</a:t>
            </a:r>
            <a:r>
              <a:rPr lang="en-US" dirty="0"/>
              <a:t> refers to the trustworthiness of the information flowing through the system. If an attacker tampers with telemetry data, falsifies alerts or injects fake traffic conditions, the MEC application could make harmful decisions. A manipulated signal timing plan could increase congestion or create dangerous situations for pedestrians and vehicles. Preserving integrity is therefore essential for safe real-world operation.</a:t>
            </a:r>
          </a:p>
          <a:p>
            <a:r>
              <a:rPr lang="en-US" dirty="0"/>
              <a:t>The third category is </a:t>
            </a:r>
            <a:r>
              <a:rPr lang="en-US" b="1" dirty="0"/>
              <a:t>Availability</a:t>
            </a:r>
            <a:r>
              <a:rPr lang="en-US" dirty="0"/>
              <a:t>, which measures whether the system continues functioning when required. A targeted </a:t>
            </a:r>
            <a:r>
              <a:rPr lang="en-US" b="1" dirty="0"/>
              <a:t>DDoS attack</a:t>
            </a:r>
            <a:r>
              <a:rPr lang="en-US" dirty="0"/>
              <a:t> against the 5G core or a failure in the monitoring system could delay or interrupt data delivery. Even temporary service disruption can create cascading effects in a safety critical environment like traffic coordination.</a:t>
            </a:r>
          </a:p>
          <a:p>
            <a:r>
              <a:rPr lang="en-US" dirty="0"/>
              <a:t>Threat identification does not require confirming that an attack is already happening. Instead, we explore </a:t>
            </a:r>
            <a:r>
              <a:rPr lang="en-US" b="1" dirty="0"/>
              <a:t>what an attacker with certain motives and capabilities might try to do</a:t>
            </a:r>
            <a:r>
              <a:rPr lang="en-US" dirty="0"/>
              <a:t>. This structured anticipation is key to proactive risk reduction.</a:t>
            </a:r>
          </a:p>
          <a:p>
            <a:r>
              <a:rPr lang="en-US" dirty="0"/>
              <a:t>With a better understanding of how threats could undermine the objectives of the </a:t>
            </a:r>
            <a:r>
              <a:rPr lang="en-US" dirty="0" err="1"/>
              <a:t>NeoCity</a:t>
            </a:r>
            <a:r>
              <a:rPr lang="en-US" dirty="0"/>
              <a:t> traffic system, we are ready to assess their significance. The next step of the workflow is to analyze </a:t>
            </a:r>
            <a:r>
              <a:rPr lang="en-US" b="1" dirty="0"/>
              <a:t>likelihood</a:t>
            </a:r>
            <a:r>
              <a:rPr lang="en-US" dirty="0"/>
              <a:t> and </a:t>
            </a:r>
            <a:r>
              <a:rPr lang="en-US" b="1" dirty="0"/>
              <a:t>impact</a:t>
            </a:r>
            <a:r>
              <a:rPr lang="en-US" dirty="0"/>
              <a:t> so we can prioritize which risks demand the most attention.</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768295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Evaluating the </a:t>
            </a:r>
            <a:r>
              <a:rPr lang="en-US" b="1" dirty="0"/>
              <a:t>risk</a:t>
            </a:r>
            <a:r>
              <a:rPr lang="en-US" dirty="0"/>
              <a:t> of each identified threat helps us understand which scenarios deserve the most attention. Not every vulnerability or possible attack represents the same danger. Some issues may be inconvenient but not harmful, while others could put lives at risk. The risk assessment process allows us to compare threats using two dimensions: </a:t>
            </a:r>
            <a:r>
              <a:rPr lang="en-US" b="1" dirty="0"/>
              <a:t>likelihood</a:t>
            </a:r>
            <a:r>
              <a:rPr lang="en-US" dirty="0"/>
              <a:t> and </a:t>
            </a:r>
            <a:r>
              <a:rPr lang="en-US" b="1" dirty="0"/>
              <a:t>impact</a:t>
            </a:r>
            <a:r>
              <a:rPr lang="en-US" dirty="0"/>
              <a:t>.</a:t>
            </a:r>
          </a:p>
          <a:p>
            <a:r>
              <a:rPr lang="en-US" b="1" dirty="0"/>
              <a:t>Likelihood</a:t>
            </a:r>
            <a:r>
              <a:rPr lang="en-US" dirty="0"/>
              <a:t> represents how probable it is that a threat will occur. In the </a:t>
            </a:r>
            <a:r>
              <a:rPr lang="en-US" dirty="0" err="1"/>
              <a:t>NeoCity</a:t>
            </a:r>
            <a:r>
              <a:rPr lang="en-US" dirty="0"/>
              <a:t> case, we consider factors such as attacker capability, access to roadside devices and exposure of the communication path. A threat with a high chance of being executed should be prioritized, especially if exploitation does not require sophisticated tools.</a:t>
            </a:r>
          </a:p>
          <a:p>
            <a:r>
              <a:rPr lang="en-US" b="1" dirty="0"/>
              <a:t>Impact</a:t>
            </a:r>
            <a:r>
              <a:rPr lang="en-US" dirty="0"/>
              <a:t> measures the potential harm if the threat materializes. In a smart traffic system, operational impact translates directly into </a:t>
            </a:r>
            <a:r>
              <a:rPr lang="en-US" b="1" dirty="0"/>
              <a:t>safety</a:t>
            </a:r>
            <a:r>
              <a:rPr lang="en-US" dirty="0"/>
              <a:t>, </a:t>
            </a:r>
            <a:r>
              <a:rPr lang="en-US" b="1" dirty="0"/>
              <a:t>mobility</a:t>
            </a:r>
            <a:r>
              <a:rPr lang="en-US" dirty="0"/>
              <a:t> and </a:t>
            </a:r>
            <a:r>
              <a:rPr lang="en-US" b="1" dirty="0"/>
              <a:t>public trust</a:t>
            </a:r>
            <a:r>
              <a:rPr lang="en-US" dirty="0"/>
              <a:t>. For example, if telemetry is manipulated and traffic lights behave incorrectly, the consequences could include collisions, blocked emergency vehicles or panic among road users.</a:t>
            </a:r>
          </a:p>
          <a:p>
            <a:r>
              <a:rPr lang="en-US" dirty="0"/>
              <a:t>By combining likelihood and impact in a </a:t>
            </a:r>
            <a:r>
              <a:rPr lang="en-US" b="1" dirty="0"/>
              <a:t>risk matrix</a:t>
            </a:r>
            <a:r>
              <a:rPr lang="en-US" dirty="0"/>
              <a:t>, we assign a </a:t>
            </a:r>
            <a:r>
              <a:rPr lang="en-US" b="1" dirty="0"/>
              <a:t>risk level</a:t>
            </a:r>
            <a:r>
              <a:rPr lang="en-US" dirty="0"/>
              <a:t>: typically </a:t>
            </a:r>
            <a:r>
              <a:rPr lang="en-US" b="1" dirty="0"/>
              <a:t>Green</a:t>
            </a:r>
            <a:r>
              <a:rPr lang="en-US" dirty="0"/>
              <a:t> for low, </a:t>
            </a:r>
            <a:r>
              <a:rPr lang="en-US" b="1" dirty="0"/>
              <a:t>Yellow</a:t>
            </a:r>
            <a:r>
              <a:rPr lang="en-US" dirty="0"/>
              <a:t> for medium and </a:t>
            </a:r>
            <a:r>
              <a:rPr lang="en-US" b="1" dirty="0"/>
              <a:t>Red</a:t>
            </a:r>
            <a:r>
              <a:rPr lang="en-US" dirty="0"/>
              <a:t> for high risk situations. Red items require urgent attention, because their consequences are unacceptable. In our example, </a:t>
            </a:r>
            <a:r>
              <a:rPr lang="en-US" b="1" dirty="0"/>
              <a:t>manipulated telemetry</a:t>
            </a:r>
            <a:r>
              <a:rPr lang="en-US" dirty="0"/>
              <a:t> often results in </a:t>
            </a:r>
            <a:r>
              <a:rPr lang="en-US" b="1" dirty="0"/>
              <a:t>high impact</a:t>
            </a:r>
            <a:r>
              <a:rPr lang="en-US" dirty="0"/>
              <a:t>, since incorrect data drives unsafe operational decisions.</a:t>
            </a:r>
          </a:p>
          <a:p>
            <a:r>
              <a:rPr lang="en-US" dirty="0"/>
              <a:t>This structured method prevents assumptions and personal judgement from controlling security priorities. Instead, decisions are guided by evidence: how strong the threat is and how severe the consequences would be.</a:t>
            </a:r>
          </a:p>
          <a:p>
            <a:r>
              <a:rPr lang="en-US" dirty="0"/>
              <a:t>Risk assessment also supports communication among </a:t>
            </a:r>
            <a:r>
              <a:rPr lang="en-US" b="1" dirty="0"/>
              <a:t>stakeholders</a:t>
            </a:r>
            <a:r>
              <a:rPr lang="en-US" dirty="0"/>
              <a:t>. It enables operators, engineers and safety teams to understand why certain vulnerabilities must be treated immediately while others can be handled later. A clear risk level ensures a clear message.</a:t>
            </a:r>
          </a:p>
          <a:p>
            <a:r>
              <a:rPr lang="en-US" dirty="0"/>
              <a:t>Once the highest risks are identified, the next step is to take action. We now move to </a:t>
            </a:r>
            <a:r>
              <a:rPr lang="en-US" b="1" dirty="0"/>
              <a:t>Step 4</a:t>
            </a:r>
            <a:r>
              <a:rPr lang="en-US" dirty="0"/>
              <a:t>, where we propose and evaluate </a:t>
            </a:r>
            <a:r>
              <a:rPr lang="en-US" b="1" dirty="0"/>
              <a:t>controls</a:t>
            </a:r>
            <a:r>
              <a:rPr lang="en-US" dirty="0"/>
              <a:t> that can reduce the likelihood or impact of the most critical threats.</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924000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After risks have been identified and assessed, the next objective is to reduce both the </a:t>
            </a:r>
            <a:r>
              <a:rPr lang="en-US" b="1" dirty="0"/>
              <a:t>likelihood</a:t>
            </a:r>
            <a:r>
              <a:rPr lang="en-US" dirty="0"/>
              <a:t> and the </a:t>
            </a:r>
            <a:r>
              <a:rPr lang="en-US" b="1" dirty="0"/>
              <a:t>impact</a:t>
            </a:r>
            <a:r>
              <a:rPr lang="en-US" dirty="0"/>
              <a:t> of those risks. This is achieved through the implementation of </a:t>
            </a:r>
            <a:r>
              <a:rPr lang="en-US" b="1" dirty="0"/>
              <a:t>security controls</a:t>
            </a:r>
            <a:r>
              <a:rPr lang="en-US" dirty="0"/>
              <a:t>. In the </a:t>
            </a:r>
            <a:r>
              <a:rPr lang="en-US" dirty="0" err="1"/>
              <a:t>NeoCity</a:t>
            </a:r>
            <a:r>
              <a:rPr lang="en-US" dirty="0"/>
              <a:t> traffic signal system, controls work together to protect the </a:t>
            </a:r>
            <a:r>
              <a:rPr lang="en-US" b="1" dirty="0"/>
              <a:t>confidentiality</a:t>
            </a:r>
            <a:r>
              <a:rPr lang="en-US" dirty="0"/>
              <a:t>, </a:t>
            </a:r>
            <a:r>
              <a:rPr lang="en-US" b="1" dirty="0"/>
              <a:t>integrity</a:t>
            </a:r>
            <a:r>
              <a:rPr lang="en-US" dirty="0"/>
              <a:t>, and </a:t>
            </a:r>
            <a:r>
              <a:rPr lang="en-US" b="1" dirty="0"/>
              <a:t>availability</a:t>
            </a:r>
            <a:r>
              <a:rPr lang="en-US" dirty="0"/>
              <a:t> of operational data and services.</a:t>
            </a:r>
          </a:p>
          <a:p>
            <a:r>
              <a:rPr lang="en-US" dirty="0"/>
              <a:t>The first category is </a:t>
            </a:r>
            <a:r>
              <a:rPr lang="en-US" b="1" dirty="0"/>
              <a:t>Network Monitoring</a:t>
            </a:r>
            <a:r>
              <a:rPr lang="en-US" dirty="0"/>
              <a:t>. A 5G environment is dynamic, with devices connecting and transmitting data continuously. Monitoring network traffic allows detection of patterns that indicate malicious activity, including </a:t>
            </a:r>
            <a:r>
              <a:rPr lang="en-US" b="1" dirty="0"/>
              <a:t>anomaly detection</a:t>
            </a:r>
            <a:r>
              <a:rPr lang="en-US" dirty="0"/>
              <a:t>, command and control behaviors, or early signs of </a:t>
            </a:r>
            <a:r>
              <a:rPr lang="en-US" b="1" dirty="0"/>
              <a:t>DDoS attacks</a:t>
            </a:r>
            <a:r>
              <a:rPr lang="en-US" dirty="0"/>
              <a:t>. Tools like Suricata generate alerts when deviations from normal behavior suggest a potential intrusion, enabling quick investigation.</a:t>
            </a:r>
          </a:p>
          <a:p>
            <a:r>
              <a:rPr lang="en-US" dirty="0"/>
              <a:t>The second category is </a:t>
            </a:r>
            <a:r>
              <a:rPr lang="en-US" b="1" dirty="0"/>
              <a:t>Data Validation</a:t>
            </a:r>
            <a:r>
              <a:rPr lang="en-US" dirty="0"/>
              <a:t>. Traffic signal decisions rely on telemetry from roadside units and other sensors. If an attacker manipulates these data streams, the system may make unsafe operational decisions. Validation mechanisms ensure </a:t>
            </a:r>
            <a:r>
              <a:rPr lang="en-US" b="1" dirty="0"/>
              <a:t>data integrity</a:t>
            </a:r>
            <a:r>
              <a:rPr lang="en-US" dirty="0"/>
              <a:t> by verifying authenticity, filtering corrupted input, and applying consistency checks before data influence actuation or analytics.</a:t>
            </a:r>
          </a:p>
          <a:p>
            <a:r>
              <a:rPr lang="en-US" dirty="0"/>
              <a:t>A third control area is </a:t>
            </a:r>
            <a:r>
              <a:rPr lang="en-US" b="1" dirty="0"/>
              <a:t>Access Control</a:t>
            </a:r>
            <a:r>
              <a:rPr lang="en-US" dirty="0"/>
              <a:t>. Critical services must only be accessed by authenticated and authorized users. Techniques such as </a:t>
            </a:r>
            <a:r>
              <a:rPr lang="en-US" b="1" dirty="0"/>
              <a:t>user authentication</a:t>
            </a:r>
            <a:r>
              <a:rPr lang="en-US" dirty="0"/>
              <a:t> and </a:t>
            </a:r>
            <a:r>
              <a:rPr lang="en-US" b="1" dirty="0"/>
              <a:t>role-based access</a:t>
            </a:r>
            <a:r>
              <a:rPr lang="en-US" dirty="0"/>
              <a:t> reduce opportunities for unauthorized configuration changes or lateral movement inside the operational environment. Limiting privileges directly lowers the probability of successful exploitation.</a:t>
            </a:r>
          </a:p>
          <a:p>
            <a:r>
              <a:rPr lang="en-US" dirty="0"/>
              <a:t>Finally, </a:t>
            </a:r>
            <a:r>
              <a:rPr lang="en-US" b="1" dirty="0"/>
              <a:t>Alerting and Response</a:t>
            </a:r>
            <a:r>
              <a:rPr lang="en-US" dirty="0"/>
              <a:t> mechanisms support operations teams by generating </a:t>
            </a:r>
            <a:r>
              <a:rPr lang="en-US" b="1" dirty="0"/>
              <a:t>incident notifications</a:t>
            </a:r>
            <a:r>
              <a:rPr lang="en-US" dirty="0"/>
              <a:t> and enabling automated containment actions when threats are detected. Timely response is essential to minimizing service disruption, particularly in systems with safety-critical implications like urban traffic management.</a:t>
            </a:r>
          </a:p>
          <a:p>
            <a:r>
              <a:rPr lang="en-US" dirty="0"/>
              <a:t>Together, these controls form a layered defense strategy. Each one addresses different attack vectors while contributing to a stronger </a:t>
            </a:r>
            <a:r>
              <a:rPr lang="en-US" b="1" dirty="0"/>
              <a:t>security posture</a:t>
            </a:r>
            <a:r>
              <a:rPr lang="en-US" dirty="0"/>
              <a:t>. Controls must also remain effective over time, meaning they require ongoing verification, performance monitoring, and iterative refinement. With these protections in place, the risk landscape becomes manageable and measurable, preparing the system for the final step of the workflow, which focuses on </a:t>
            </a:r>
            <a:r>
              <a:rPr lang="en-US" b="1" dirty="0"/>
              <a:t>reporting</a:t>
            </a:r>
            <a:r>
              <a:rPr lang="en-US" dirty="0"/>
              <a:t> and continuous improvement.</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274472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The final stage of the analysis process focuses on </a:t>
            </a:r>
            <a:r>
              <a:rPr lang="en-US" b="1" dirty="0"/>
              <a:t>reporting</a:t>
            </a:r>
            <a:r>
              <a:rPr lang="en-US" dirty="0"/>
              <a:t>. At this point, all the work completed throughout the assessment comes together in a structured output that informs future security decisions. The reporting activities on the slide highlight four key responsibilities.</a:t>
            </a:r>
          </a:p>
          <a:p>
            <a:r>
              <a:rPr lang="en-US" dirty="0"/>
              <a:t>First, the team must </a:t>
            </a:r>
            <a:r>
              <a:rPr lang="en-US" b="1" dirty="0"/>
              <a:t>document findings</a:t>
            </a:r>
            <a:r>
              <a:rPr lang="en-US" dirty="0"/>
              <a:t>. This involves organizing all relevant information: the system components within scope, the </a:t>
            </a:r>
            <a:r>
              <a:rPr lang="en-US" b="1" dirty="0"/>
              <a:t>identified threats</a:t>
            </a:r>
            <a:r>
              <a:rPr lang="en-US" dirty="0"/>
              <a:t>, the results of the </a:t>
            </a:r>
            <a:r>
              <a:rPr lang="en-US" b="1" dirty="0"/>
              <a:t>risk assessment</a:t>
            </a:r>
            <a:r>
              <a:rPr lang="en-US" dirty="0"/>
              <a:t>, and the security </a:t>
            </a:r>
            <a:r>
              <a:rPr lang="en-US" b="1" dirty="0"/>
              <a:t>controls</a:t>
            </a:r>
            <a:r>
              <a:rPr lang="en-US" dirty="0"/>
              <a:t> that have been applied. Clear documentation ensures traceability, helps justify decisions, and allows the assessment to be repeated or updated later.</a:t>
            </a:r>
          </a:p>
          <a:p>
            <a:r>
              <a:rPr lang="en-US" dirty="0"/>
              <a:t>Next, we </a:t>
            </a:r>
            <a:r>
              <a:rPr lang="en-US" b="1" dirty="0"/>
              <a:t>assess residual risk</a:t>
            </a:r>
            <a:r>
              <a:rPr lang="en-US" dirty="0"/>
              <a:t>. Even after mitigation efforts, some level of risk remains. This may be due to technical limitations, cost constraints, or because further actions are planned but not yet implemented. By describing what risks are still present and assigning them a risk level, stakeholders can prioritize future improvements. Understanding residual risk also supports accountability. It demonstrates that the team has recognized ongoing exposure rather than assuming everything is now safe.</a:t>
            </a:r>
          </a:p>
          <a:p>
            <a:r>
              <a:rPr lang="en-US" dirty="0"/>
              <a:t>The third task is to </a:t>
            </a:r>
            <a:r>
              <a:rPr lang="en-US" b="1" dirty="0"/>
              <a:t>provide recommendations</a:t>
            </a:r>
            <a:r>
              <a:rPr lang="en-US" dirty="0"/>
              <a:t>. Strong reporting not only states what was found but also proposes what should happen next. Recommendations may include adding new controls, improving monitoring rules, adjusting access policies, or scheduling periodic security reviews. These suggestions transform the report into an action plan for continuous improvement.</a:t>
            </a:r>
          </a:p>
          <a:p>
            <a:r>
              <a:rPr lang="en-US" dirty="0"/>
              <a:t>Finally, the results must be </a:t>
            </a:r>
            <a:r>
              <a:rPr lang="en-US" b="1" dirty="0"/>
              <a:t>communicated to stakeholders</a:t>
            </a:r>
            <a:r>
              <a:rPr lang="en-US" dirty="0"/>
              <a:t>. Different audiences require different levels of detail. Technical teams need specific evidence to validate and maintain protections. Operational managers need clear summaries to support service continuity. Public authorities and compliance auditors need assurance that the system is addressing safety and privacy requirements. Effective communication strengthens trust and motivates timely decision-making.</a:t>
            </a:r>
          </a:p>
          <a:p>
            <a:r>
              <a:rPr lang="en-US" dirty="0"/>
              <a:t>Reporting, therefore, closes the loop between operational insights and </a:t>
            </a:r>
            <a:r>
              <a:rPr lang="en-US" b="1" dirty="0"/>
              <a:t>design-time security</a:t>
            </a:r>
            <a:r>
              <a:rPr lang="en-US" dirty="0"/>
              <a:t>. The knowledge gained here will influence future architectures, enabling </a:t>
            </a:r>
            <a:r>
              <a:rPr lang="en-US" dirty="0" err="1"/>
              <a:t>NeoCity</a:t>
            </a:r>
            <a:r>
              <a:rPr lang="en-US" dirty="0"/>
              <a:t> to evolve securely as new features and services are deployed. By documenting, evaluating, recommending, and communicating, the city ensures that cybersecurity remains an ongoing, proactive responsibility.</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675494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The first part of the PBL helped establish the foundation that is needed before any meaningful cybersecurity assessment can take place. We began by exploring the </a:t>
            </a:r>
            <a:r>
              <a:rPr lang="en-US" b="1" dirty="0"/>
              <a:t>Scenario Context</a:t>
            </a:r>
            <a:r>
              <a:rPr lang="en-US" dirty="0"/>
              <a:t>, gaining a clear understanding of how </a:t>
            </a:r>
            <a:r>
              <a:rPr lang="en-US" dirty="0" err="1"/>
              <a:t>NeoCity</a:t>
            </a:r>
            <a:r>
              <a:rPr lang="en-US" dirty="0"/>
              <a:t> uses </a:t>
            </a:r>
            <a:r>
              <a:rPr lang="en-US" b="1" dirty="0"/>
              <a:t>5G connectivity</a:t>
            </a:r>
            <a:r>
              <a:rPr lang="en-US" dirty="0"/>
              <a:t> to enable smart traffic signal control. Recognizing the architecture, data flows, and operational requirements gave us visibility into what needs to be protected and why security matters for both safety and efficiency.</a:t>
            </a:r>
          </a:p>
          <a:p>
            <a:r>
              <a:rPr lang="en-US" dirty="0"/>
              <a:t>Next, we examined </a:t>
            </a:r>
            <a:r>
              <a:rPr lang="en-US" b="1" dirty="0"/>
              <a:t>Threats and Vulnerabilities</a:t>
            </a:r>
            <a:r>
              <a:rPr lang="en-US" dirty="0"/>
              <a:t>. By mapping risks to the principles of </a:t>
            </a:r>
            <a:r>
              <a:rPr lang="en-US" b="1" dirty="0"/>
              <a:t>Confidentiality</a:t>
            </a:r>
            <a:r>
              <a:rPr lang="en-US" dirty="0"/>
              <a:t>, </a:t>
            </a:r>
            <a:r>
              <a:rPr lang="en-US" b="1" dirty="0"/>
              <a:t>Integrity</a:t>
            </a:r>
            <a:r>
              <a:rPr lang="en-US" dirty="0"/>
              <a:t>, and </a:t>
            </a:r>
            <a:r>
              <a:rPr lang="en-US" b="1" dirty="0"/>
              <a:t>Availability</a:t>
            </a:r>
            <a:r>
              <a:rPr lang="en-US" dirty="0"/>
              <a:t>, we identified what could go wrong if security controls fail. Examples included unauthorized access, manipulated telemetry, or service outages that could directly disrupt urban mobility and emergency response.</a:t>
            </a:r>
          </a:p>
          <a:p>
            <a:r>
              <a:rPr lang="en-US" dirty="0"/>
              <a:t>With threats identified, we introduced the </a:t>
            </a:r>
            <a:r>
              <a:rPr lang="en-US" b="1" dirty="0"/>
              <a:t>Risk Assessment Workflow</a:t>
            </a:r>
            <a:r>
              <a:rPr lang="en-US" dirty="0"/>
              <a:t>. This structured method supports decision-making by analyzing the </a:t>
            </a:r>
            <a:r>
              <a:rPr lang="en-US" b="1" dirty="0"/>
              <a:t>likelihood</a:t>
            </a:r>
            <a:r>
              <a:rPr lang="en-US" dirty="0"/>
              <a:t> of each threat and its </a:t>
            </a:r>
            <a:r>
              <a:rPr lang="en-US" b="1" dirty="0"/>
              <a:t>potential impact</a:t>
            </a:r>
            <a:r>
              <a:rPr lang="en-US" dirty="0"/>
              <a:t>. We explored how a </a:t>
            </a:r>
            <a:r>
              <a:rPr lang="en-US" b="1" dirty="0"/>
              <a:t>risk matrix</a:t>
            </a:r>
            <a:r>
              <a:rPr lang="en-US" dirty="0"/>
              <a:t> helps categorize risks into different priority levels so that effort is focused where it truly provides value. This approach ensures that limited resources are used efficiently to protect the most critical components.</a:t>
            </a:r>
          </a:p>
          <a:p>
            <a:r>
              <a:rPr lang="en-US" dirty="0"/>
              <a:t>We then looked at </a:t>
            </a:r>
            <a:r>
              <a:rPr lang="en-US" b="1" dirty="0"/>
              <a:t>Security Controls</a:t>
            </a:r>
            <a:r>
              <a:rPr lang="en-US" dirty="0"/>
              <a:t> that can reduce risk in practice. Monitoring systems like Suricata and Prometheus detect anomalies and collect operational evidence. Access control limits who or what can communicate with system components. Data validation protects against manipulation at the application layer. These controls reflect the shift from secure by design to </a:t>
            </a:r>
            <a:r>
              <a:rPr lang="en-US" b="1" dirty="0"/>
              <a:t>secure by operation</a:t>
            </a:r>
            <a:r>
              <a:rPr lang="en-US" dirty="0"/>
              <a:t>.</a:t>
            </a:r>
          </a:p>
          <a:p>
            <a:r>
              <a:rPr lang="en-US" dirty="0"/>
              <a:t>Finally, we covered </a:t>
            </a:r>
            <a:r>
              <a:rPr lang="en-US" b="1" dirty="0"/>
              <a:t>Reporting and Residual Risk</a:t>
            </a:r>
            <a:r>
              <a:rPr lang="en-US" dirty="0"/>
              <a:t>. Clear documentation and communication make the analysis useful to decision makers. Even after applying controls, some risk remains, and it must be made visible so stakeholders can plan further improvements and maintain accountability.</a:t>
            </a:r>
          </a:p>
          <a:p>
            <a:r>
              <a:rPr lang="en-US" dirty="0"/>
              <a:t>By bringing these elements together, we built a complete picture of how cybersecurity should be analyzed in a modern </a:t>
            </a:r>
            <a:r>
              <a:rPr lang="en-US" b="1" dirty="0"/>
              <a:t>5G-enabled smart city</a:t>
            </a:r>
            <a:r>
              <a:rPr lang="en-US" dirty="0"/>
              <a:t>. In the next part of the activity, students will use these methods hands on, applying them to real operational data in the </a:t>
            </a:r>
            <a:r>
              <a:rPr lang="en-US" dirty="0" err="1"/>
              <a:t>NeoCity</a:t>
            </a:r>
            <a:r>
              <a:rPr lang="en-US" dirty="0"/>
              <a:t> environment.</a:t>
            </a:r>
          </a:p>
          <a:p>
            <a:endParaRPr lang="en-GB" sz="1200" dirty="0">
              <a:latin typeface="Times New Roman" panose="02020603050405020304" pitchFamily="18" charset="0"/>
              <a:cs typeface="Times New Roman" panose="02020603050405020304" pitchFamily="18" charset="0"/>
            </a:endParaRP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015227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4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4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4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4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4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4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4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4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6"/>
          <p:cNvSpPr>
            <a:spLocks noGrp="1"/>
          </p:cNvSpPr>
          <p:nvPr>
            <p:ph type="pic" idx="2"/>
          </p:nvPr>
        </p:nvSpPr>
        <p:spPr>
          <a:xfrm>
            <a:off x="1792288" y="612775"/>
            <a:ext cx="5486400" cy="4114800"/>
          </a:xfrm>
          <a:prstGeom prst="rect">
            <a:avLst/>
          </a:prstGeom>
          <a:noFill/>
          <a:ln>
            <a:noFill/>
          </a:ln>
        </p:spPr>
      </p:sp>
      <p:sp>
        <p:nvSpPr>
          <p:cNvPr id="68" name="Google Shape;68;p4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2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sp>
      <p:grpSp>
        <p:nvGrpSpPr>
          <p:cNvPr id="407" name="Google Shape;407;p24"/>
          <p:cNvGrpSpPr/>
          <p:nvPr/>
        </p:nvGrpSpPr>
        <p:grpSpPr>
          <a:xfrm>
            <a:off x="10359108" y="1951543"/>
            <a:ext cx="4893340" cy="1552148"/>
            <a:chOff x="0" y="-38100"/>
            <a:chExt cx="1288781" cy="408796"/>
          </a:xfrm>
        </p:grpSpPr>
        <p:sp>
          <p:nvSpPr>
            <p:cNvPr id="408" name="Google Shape;408;p24"/>
            <p:cNvSpPr/>
            <p:nvPr/>
          </p:nvSpPr>
          <p:spPr>
            <a:xfrm>
              <a:off x="0" y="0"/>
              <a:ext cx="1288781" cy="370696"/>
            </a:xfrm>
            <a:custGeom>
              <a:avLst/>
              <a:gdLst/>
              <a:ahLst/>
              <a:cxnLst/>
              <a:rect l="l" t="t" r="r" b="b"/>
              <a:pathLst>
                <a:path w="1288781" h="370696" extrusionOk="0">
                  <a:moveTo>
                    <a:pt x="80689" y="0"/>
                  </a:moveTo>
                  <a:lnTo>
                    <a:pt x="1208092" y="0"/>
                  </a:lnTo>
                  <a:cubicBezTo>
                    <a:pt x="1252655" y="0"/>
                    <a:pt x="1288781" y="36126"/>
                    <a:pt x="1288781" y="80689"/>
                  </a:cubicBezTo>
                  <a:lnTo>
                    <a:pt x="1288781" y="290007"/>
                  </a:lnTo>
                  <a:cubicBezTo>
                    <a:pt x="1288781" y="334570"/>
                    <a:pt x="1252655" y="370696"/>
                    <a:pt x="1208092" y="370696"/>
                  </a:cubicBezTo>
                  <a:lnTo>
                    <a:pt x="80689" y="370696"/>
                  </a:lnTo>
                  <a:cubicBezTo>
                    <a:pt x="59289" y="370696"/>
                    <a:pt x="38765" y="362195"/>
                    <a:pt x="23633" y="347063"/>
                  </a:cubicBezTo>
                  <a:cubicBezTo>
                    <a:pt x="8501" y="331931"/>
                    <a:pt x="0" y="311407"/>
                    <a:pt x="0" y="290007"/>
                  </a:cubicBezTo>
                  <a:lnTo>
                    <a:pt x="0" y="80689"/>
                  </a:lnTo>
                  <a:cubicBezTo>
                    <a:pt x="0" y="59289"/>
                    <a:pt x="8501" y="38765"/>
                    <a:pt x="23633" y="23633"/>
                  </a:cubicBezTo>
                  <a:cubicBezTo>
                    <a:pt x="38765" y="8501"/>
                    <a:pt x="59289" y="0"/>
                    <a:pt x="806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4"/>
            <p:cNvSpPr txBox="1"/>
            <p:nvPr/>
          </p:nvSpPr>
          <p:spPr>
            <a:xfrm>
              <a:off x="0" y="-38100"/>
              <a:ext cx="1288781" cy="40879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10" name="Google Shape;410;p24"/>
          <p:cNvSpPr/>
          <p:nvPr/>
        </p:nvSpPr>
        <p:spPr>
          <a:xfrm>
            <a:off x="10513853" y="2290412"/>
            <a:ext cx="4560703" cy="1016657"/>
          </a:xfrm>
          <a:custGeom>
            <a:avLst/>
            <a:gdLst/>
            <a:ahLst/>
            <a:cxnLst/>
            <a:rect l="l" t="t" r="r" b="b"/>
            <a:pathLst>
              <a:path w="4560703" h="1016657" extrusionOk="0">
                <a:moveTo>
                  <a:pt x="0" y="0"/>
                </a:moveTo>
                <a:lnTo>
                  <a:pt x="4560703" y="0"/>
                </a:lnTo>
                <a:lnTo>
                  <a:pt x="4560703" y="1016657"/>
                </a:lnTo>
                <a:lnTo>
                  <a:pt x="0" y="1016657"/>
                </a:lnTo>
                <a:lnTo>
                  <a:pt x="0" y="0"/>
                </a:lnTo>
                <a:close/>
              </a:path>
            </a:pathLst>
          </a:custGeom>
          <a:blipFill rotWithShape="1">
            <a:blip r:embed="rId4">
              <a:alphaModFix/>
            </a:blip>
            <a:stretch>
              <a:fillRect/>
            </a:stretch>
          </a:blipFill>
          <a:ln>
            <a:noFill/>
          </a:ln>
        </p:spPr>
      </p:sp>
      <p:sp>
        <p:nvSpPr>
          <p:cNvPr id="411" name="Google Shape;411;p24"/>
          <p:cNvSpPr/>
          <p:nvPr/>
        </p:nvSpPr>
        <p:spPr>
          <a:xfrm>
            <a:off x="341364" y="725233"/>
            <a:ext cx="8802636" cy="3774130"/>
          </a:xfrm>
          <a:custGeom>
            <a:avLst/>
            <a:gdLst/>
            <a:ahLst/>
            <a:cxnLst/>
            <a:rect l="l" t="t" r="r" b="b"/>
            <a:pathLst>
              <a:path w="8802636" h="3774130" extrusionOk="0">
                <a:moveTo>
                  <a:pt x="0" y="0"/>
                </a:moveTo>
                <a:lnTo>
                  <a:pt x="8802636" y="0"/>
                </a:lnTo>
                <a:lnTo>
                  <a:pt x="8802636" y="3774131"/>
                </a:lnTo>
                <a:lnTo>
                  <a:pt x="0" y="3774131"/>
                </a:lnTo>
                <a:lnTo>
                  <a:pt x="0" y="0"/>
                </a:lnTo>
                <a:close/>
              </a:path>
            </a:pathLst>
          </a:custGeom>
          <a:blipFill rotWithShape="1">
            <a:blip r:embed="rId5">
              <a:alphaModFix/>
            </a:blip>
            <a:stretch>
              <a:fillRect l="-440" r="-439"/>
            </a:stretch>
          </a:blipFill>
          <a:ln>
            <a:noFill/>
          </a:ln>
        </p:spPr>
      </p:sp>
      <p:sp>
        <p:nvSpPr>
          <p:cNvPr id="412" name="Google Shape;412;p24"/>
          <p:cNvSpPr txBox="1"/>
          <p:nvPr/>
        </p:nvSpPr>
        <p:spPr>
          <a:xfrm>
            <a:off x="9139238" y="4749165"/>
            <a:ext cx="9525" cy="1455420"/>
          </a:xfrm>
          <a:prstGeom prst="rect">
            <a:avLst/>
          </a:prstGeom>
          <a:noFill/>
          <a:ln>
            <a:noFill/>
          </a:ln>
        </p:spPr>
        <p:txBody>
          <a:bodyPr spcFirstLastPara="1" wrap="square" lIns="0" tIns="0" rIns="0" bIns="0" anchor="t" anchorCtr="0">
            <a:spAutoFit/>
          </a:bodyPr>
          <a:lstStyle/>
          <a:p>
            <a:pPr marL="0" marR="0" lvl="0" indent="0" algn="ctr" rtl="0">
              <a:lnSpc>
                <a:spcPct val="326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ctr" rtl="0">
              <a:lnSpc>
                <a:spcPct val="32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3" name="Google Shape;413;p24"/>
          <p:cNvSpPr txBox="1"/>
          <p:nvPr/>
        </p:nvSpPr>
        <p:spPr>
          <a:xfrm>
            <a:off x="1828800" y="5771095"/>
            <a:ext cx="15678147" cy="4343240"/>
          </a:xfrm>
          <a:prstGeom prst="rect">
            <a:avLst/>
          </a:prstGeom>
          <a:noFill/>
          <a:ln>
            <a:noFill/>
          </a:ln>
        </p:spPr>
        <p:txBody>
          <a:bodyPr spcFirstLastPara="1" wrap="square" lIns="0" tIns="0" rIns="0" bIns="0" anchor="t" anchorCtr="0">
            <a:spAutoFit/>
          </a:bodyPr>
          <a:lstStyle/>
          <a:p>
            <a:pPr marL="0" marR="0" lvl="0" indent="0" algn="l" rtl="0">
              <a:lnSpc>
                <a:spcPct val="251750"/>
              </a:lnSpc>
              <a:spcBef>
                <a:spcPts val="0"/>
              </a:spcBef>
              <a:spcAft>
                <a:spcPts val="0"/>
              </a:spcAft>
              <a:buNone/>
            </a:pPr>
            <a:r>
              <a:rPr lang="en-US" sz="2800" b="1" i="0" u="none" strike="noStrike" cap="none" dirty="0">
                <a:solidFill>
                  <a:srgbClr val="333333"/>
                </a:solidFill>
                <a:latin typeface="Montserrat"/>
                <a:ea typeface="Montserrat"/>
                <a:cs typeface="Montserrat"/>
                <a:sym typeface="Montserrat"/>
              </a:rPr>
              <a:t>Unit 3.1: Fundamentals of Cybersecurity in 5G Networks</a:t>
            </a:r>
            <a:endParaRPr dirty="0"/>
          </a:p>
          <a:p>
            <a:pPr marL="0" marR="0" lvl="0" indent="0" algn="l" rtl="0">
              <a:lnSpc>
                <a:spcPct val="251750"/>
              </a:lnSpc>
              <a:spcBef>
                <a:spcPts val="0"/>
              </a:spcBef>
              <a:spcAft>
                <a:spcPts val="0"/>
              </a:spcAft>
              <a:buNone/>
            </a:pPr>
            <a:r>
              <a:rPr lang="en-US" sz="2800" b="1" i="0" u="none" strike="noStrike" cap="none" dirty="0">
                <a:solidFill>
                  <a:srgbClr val="333333"/>
                </a:solidFill>
                <a:latin typeface="Montserrat"/>
                <a:ea typeface="Montserrat"/>
                <a:cs typeface="Montserrat"/>
                <a:sym typeface="Montserrat"/>
              </a:rPr>
              <a:t>Section 3.1.8: </a:t>
            </a:r>
            <a:r>
              <a:rPr lang="en-GB" sz="2800" b="1" i="0" u="none" strike="noStrike" cap="none" dirty="0">
                <a:solidFill>
                  <a:srgbClr val="333333"/>
                </a:solidFill>
                <a:latin typeface="Montserrat"/>
                <a:ea typeface="Montserrat"/>
                <a:cs typeface="Montserrat"/>
                <a:sym typeface="Montserrat"/>
              </a:rPr>
              <a:t>PBL - Cybersecurity Risk Analysis in 5G Smart Cities </a:t>
            </a:r>
          </a:p>
          <a:p>
            <a:pPr marL="0" marR="0" lvl="0" indent="0" algn="l" rtl="0">
              <a:lnSpc>
                <a:spcPct val="251750"/>
              </a:lnSpc>
              <a:spcBef>
                <a:spcPts val="0"/>
              </a:spcBef>
              <a:spcAft>
                <a:spcPts val="0"/>
              </a:spcAft>
              <a:buNone/>
            </a:pPr>
            <a:r>
              <a:rPr lang="en-GB" sz="2800" b="1" dirty="0">
                <a:solidFill>
                  <a:srgbClr val="333333"/>
                </a:solidFill>
                <a:latin typeface="Montserrat"/>
                <a:ea typeface="Montserrat"/>
                <a:cs typeface="Montserrat"/>
                <a:sym typeface="Montserrat"/>
              </a:rPr>
              <a:t>Part 1:</a:t>
            </a:r>
            <a:r>
              <a:rPr lang="en-GB" sz="2800" b="1" i="0" u="none" strike="noStrike" cap="none" dirty="0">
                <a:solidFill>
                  <a:srgbClr val="333333"/>
                </a:solidFill>
                <a:latin typeface="Montserrat"/>
                <a:ea typeface="Montserrat"/>
                <a:cs typeface="Montserrat"/>
                <a:sym typeface="Montserrat"/>
              </a:rPr>
              <a:t> Introduction &amp; Lab Architecture</a:t>
            </a:r>
          </a:p>
          <a:p>
            <a:pPr marL="0" marR="0" lvl="0" indent="0" algn="l" rtl="0">
              <a:lnSpc>
                <a:spcPct val="251750"/>
              </a:lnSpc>
              <a:spcBef>
                <a:spcPts val="0"/>
              </a:spcBef>
              <a:spcAft>
                <a:spcPts val="0"/>
              </a:spcAft>
              <a:buNone/>
            </a:pPr>
            <a:r>
              <a:rPr lang="en-GB" sz="2800" b="1" i="0" u="none" strike="noStrike" cap="none" dirty="0" err="1">
                <a:solidFill>
                  <a:srgbClr val="333333"/>
                </a:solidFill>
                <a:latin typeface="Montserrat"/>
                <a:ea typeface="Montserrat"/>
                <a:cs typeface="Montserrat"/>
                <a:sym typeface="Montserrat"/>
              </a:rPr>
              <a:t>NeoCity</a:t>
            </a:r>
            <a:r>
              <a:rPr lang="en-GB" sz="2800" b="1" i="0" u="none" strike="noStrike" cap="none" dirty="0">
                <a:solidFill>
                  <a:srgbClr val="333333"/>
                </a:solidFill>
                <a:latin typeface="Montserrat"/>
                <a:ea typeface="Montserrat"/>
                <a:cs typeface="Montserrat"/>
                <a:sym typeface="Montserrat"/>
              </a:rPr>
              <a:t> scenario - Connected Traffic Signal System</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1. </a:t>
            </a:r>
            <a:r>
              <a:rPr lang="en-GB" sz="3999" b="1" i="0" u="none" strike="noStrike" cap="none" dirty="0">
                <a:solidFill>
                  <a:srgbClr val="3A91B9"/>
                </a:solidFill>
                <a:latin typeface="Montserrat"/>
                <a:ea typeface="Montserrat"/>
                <a:cs typeface="Montserrat"/>
                <a:sym typeface="Montserrat"/>
              </a:rPr>
              <a:t>Learning Objectives</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700" y="2514179"/>
            <a:ext cx="16394189" cy="68107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US" sz="2400" dirty="0">
                <a:solidFill>
                  <a:schemeClr val="tx1"/>
                </a:solidFill>
                <a:latin typeface="Montserrat" pitchFamily="34" charset="0"/>
                <a:ea typeface="Montserrat" pitchFamily="34" charset="-122"/>
                <a:cs typeface="Montserrat" pitchFamily="34" charset="-120"/>
              </a:rPr>
              <a:t>Understand the NeoCity </a:t>
            </a:r>
            <a:r>
              <a:rPr lang="en-US" sz="2400" b="1" dirty="0">
                <a:solidFill>
                  <a:schemeClr val="tx1"/>
                </a:solidFill>
                <a:latin typeface="Montserrat" pitchFamily="34" charset="0"/>
                <a:ea typeface="Montserrat" pitchFamily="34" charset="-122"/>
                <a:cs typeface="Montserrat" pitchFamily="34" charset="-120"/>
              </a:rPr>
              <a:t>Connected Traffic Signal System </a:t>
            </a:r>
            <a:r>
              <a:rPr lang="en-US" sz="2400" dirty="0">
                <a:solidFill>
                  <a:schemeClr val="tx1"/>
                </a:solidFill>
                <a:latin typeface="Montserrat" pitchFamily="34" charset="0"/>
                <a:ea typeface="Montserrat" pitchFamily="34" charset="-122"/>
                <a:cs typeface="Montserrat" pitchFamily="34" charset="-120"/>
              </a:rPr>
              <a:t>scenario</a:t>
            </a:r>
          </a:p>
          <a:p>
            <a:pPr marL="342900" indent="-342900" algn="just">
              <a:lnSpc>
                <a:spcPct val="150000"/>
              </a:lnSpc>
              <a:buFont typeface="Arial" panose="020B0604020202020204" pitchFamily="34" charset="0"/>
              <a:buChar char="•"/>
            </a:pPr>
            <a:r>
              <a:rPr lang="en-US" sz="2400" dirty="0">
                <a:solidFill>
                  <a:schemeClr val="tx1"/>
                </a:solidFill>
                <a:latin typeface="Montserrat" pitchFamily="34" charset="0"/>
                <a:ea typeface="Montserrat" pitchFamily="34" charset="-122"/>
                <a:cs typeface="Montserrat" pitchFamily="34" charset="-120"/>
              </a:rPr>
              <a:t>Explain how </a:t>
            </a:r>
            <a:r>
              <a:rPr lang="en-US" sz="2400" b="1" dirty="0">
                <a:solidFill>
                  <a:schemeClr val="tx1"/>
                </a:solidFill>
                <a:latin typeface="Montserrat" pitchFamily="34" charset="0"/>
                <a:ea typeface="Montserrat" pitchFamily="34" charset="-122"/>
                <a:cs typeface="Montserrat" pitchFamily="34" charset="-120"/>
              </a:rPr>
              <a:t>PBL</a:t>
            </a:r>
            <a:r>
              <a:rPr lang="en-US" sz="2400" dirty="0">
                <a:solidFill>
                  <a:schemeClr val="tx1"/>
                </a:solidFill>
                <a:latin typeface="Montserrat" pitchFamily="34" charset="0"/>
                <a:ea typeface="Montserrat" pitchFamily="34" charset="-122"/>
                <a:cs typeface="Montserrat" pitchFamily="34" charset="-120"/>
              </a:rPr>
              <a:t> will be used to perform cybersecurity risk analysis</a:t>
            </a:r>
          </a:p>
          <a:p>
            <a:pPr marL="342900" indent="-342900" algn="just">
              <a:lnSpc>
                <a:spcPct val="150000"/>
              </a:lnSpc>
              <a:buFont typeface="Arial" panose="020B0604020202020204" pitchFamily="34" charset="0"/>
              <a:buChar char="•"/>
            </a:pPr>
            <a:r>
              <a:rPr lang="en-US" sz="2400" dirty="0">
                <a:solidFill>
                  <a:schemeClr val="tx1"/>
                </a:solidFill>
                <a:latin typeface="Montserrat" pitchFamily="34" charset="0"/>
                <a:ea typeface="Montserrat" pitchFamily="34" charset="-122"/>
                <a:cs typeface="Montserrat" pitchFamily="34" charset="-120"/>
              </a:rPr>
              <a:t>Describe the </a:t>
            </a:r>
            <a:r>
              <a:rPr lang="en-US" sz="2400" b="1" dirty="0">
                <a:solidFill>
                  <a:schemeClr val="tx1"/>
                </a:solidFill>
                <a:latin typeface="Montserrat" pitchFamily="34" charset="0"/>
                <a:ea typeface="Montserrat" pitchFamily="34" charset="-122"/>
                <a:cs typeface="Montserrat" pitchFamily="34" charset="-120"/>
              </a:rPr>
              <a:t>five-step workflow </a:t>
            </a:r>
            <a:r>
              <a:rPr lang="en-US" sz="2400" dirty="0">
                <a:solidFill>
                  <a:schemeClr val="tx1"/>
                </a:solidFill>
                <a:latin typeface="Montserrat" pitchFamily="34" charset="0"/>
                <a:ea typeface="Montserrat" pitchFamily="34" charset="-122"/>
                <a:cs typeface="Montserrat" pitchFamily="34" charset="-120"/>
              </a:rPr>
              <a:t>for risk analysis used in this unit</a:t>
            </a:r>
          </a:p>
          <a:p>
            <a:pPr marL="342900" indent="-342900" algn="just">
              <a:lnSpc>
                <a:spcPct val="150000"/>
              </a:lnSpc>
              <a:buFont typeface="Arial" panose="020B0604020202020204" pitchFamily="34" charset="0"/>
              <a:buChar char="•"/>
            </a:pPr>
            <a:r>
              <a:rPr lang="en-US" sz="2400" dirty="0" err="1">
                <a:solidFill>
                  <a:schemeClr val="tx1"/>
                </a:solidFill>
                <a:latin typeface="Montserrat" pitchFamily="34" charset="0"/>
                <a:ea typeface="Montserrat" pitchFamily="34" charset="-122"/>
                <a:cs typeface="Montserrat" pitchFamily="34" charset="-120"/>
              </a:rPr>
              <a:t>Recognise</a:t>
            </a:r>
            <a:r>
              <a:rPr lang="en-US" sz="2400" dirty="0">
                <a:solidFill>
                  <a:schemeClr val="tx1"/>
                </a:solidFill>
                <a:latin typeface="Montserrat" pitchFamily="34" charset="0"/>
                <a:ea typeface="Montserrat" pitchFamily="34" charset="-122"/>
                <a:cs typeface="Montserrat" pitchFamily="34" charset="-120"/>
              </a:rPr>
              <a:t> the key components of the </a:t>
            </a:r>
            <a:r>
              <a:rPr lang="en-US" sz="2400" b="1" dirty="0">
                <a:solidFill>
                  <a:schemeClr val="tx1"/>
                </a:solidFill>
                <a:latin typeface="Montserrat" pitchFamily="34" charset="0"/>
                <a:ea typeface="Montserrat" pitchFamily="34" charset="-122"/>
                <a:cs typeface="Montserrat" pitchFamily="34" charset="-120"/>
              </a:rPr>
              <a:t>open source 5G lab </a:t>
            </a:r>
            <a:r>
              <a:rPr lang="en-US" sz="2400" dirty="0">
                <a:solidFill>
                  <a:schemeClr val="tx1"/>
                </a:solidFill>
                <a:latin typeface="Montserrat" pitchFamily="34" charset="0"/>
                <a:ea typeface="Montserrat" pitchFamily="34" charset="-122"/>
                <a:cs typeface="Montserrat" pitchFamily="34" charset="-120"/>
              </a:rPr>
              <a:t>used in Part 2</a:t>
            </a:r>
          </a:p>
          <a:p>
            <a:pPr marL="342900" indent="-342900" algn="just">
              <a:lnSpc>
                <a:spcPct val="150000"/>
              </a:lnSpc>
              <a:buFont typeface="Arial" panose="020B0604020202020204" pitchFamily="34" charset="0"/>
              <a:buChar char="•"/>
            </a:pPr>
            <a:r>
              <a:rPr lang="en-US" sz="2400" dirty="0">
                <a:solidFill>
                  <a:schemeClr val="tx1"/>
                </a:solidFill>
                <a:latin typeface="Montserrat" pitchFamily="34" charset="0"/>
                <a:ea typeface="Montserrat" pitchFamily="34" charset="-122"/>
                <a:cs typeface="Montserrat" pitchFamily="34" charset="-120"/>
              </a:rPr>
              <a:t>Prepare to gather </a:t>
            </a:r>
            <a:r>
              <a:rPr lang="en-US" sz="2400" b="1" dirty="0">
                <a:solidFill>
                  <a:schemeClr val="tx1"/>
                </a:solidFill>
                <a:latin typeface="Montserrat" pitchFamily="34" charset="0"/>
                <a:ea typeface="Montserrat" pitchFamily="34" charset="-122"/>
                <a:cs typeface="Montserrat" pitchFamily="34" charset="-120"/>
              </a:rPr>
              <a:t>evidence</a:t>
            </a:r>
            <a:r>
              <a:rPr lang="en-US" sz="2400" dirty="0">
                <a:solidFill>
                  <a:schemeClr val="tx1"/>
                </a:solidFill>
                <a:latin typeface="Montserrat" pitchFamily="34" charset="0"/>
                <a:ea typeface="Montserrat" pitchFamily="34" charset="-122"/>
                <a:cs typeface="Montserrat" pitchFamily="34" charset="-120"/>
              </a:rPr>
              <a:t> for threat modelling and risk evaluation</a:t>
            </a:r>
            <a:endParaRPr lang="en-GB" sz="2400" b="1" dirty="0">
              <a:solidFill>
                <a:schemeClr val="tx1"/>
              </a:solidFill>
              <a:latin typeface="Montserrat" pitchFamily="34" charset="0"/>
              <a:ea typeface="Montserrat" pitchFamily="34" charset="-122"/>
              <a:cs typeface="Montserrat" pitchFamily="34" charset="-120"/>
            </a:endParaRPr>
          </a:p>
        </p:txBody>
      </p:sp>
      <p:pic>
        <p:nvPicPr>
          <p:cNvPr id="1026" name="Picture 2">
            <a:extLst>
              <a:ext uri="{FF2B5EF4-FFF2-40B4-BE49-F238E27FC236}">
                <a16:creationId xmlns:a16="http://schemas.microsoft.com/office/drawing/2014/main" id="{58F59AD3-D665-840F-5293-97074DA4643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7047" b="13025"/>
          <a:stretch/>
        </p:blipFill>
        <p:spPr bwMode="auto">
          <a:xfrm>
            <a:off x="5083978" y="5639341"/>
            <a:ext cx="9276697" cy="4376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30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2. From Fundamentals to PBL: Applying 5G Security Knowledge</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16394189"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We now move from </a:t>
            </a:r>
            <a:r>
              <a:rPr lang="en-US" sz="2400" b="1" dirty="0">
                <a:solidFill>
                  <a:srgbClr val="384653"/>
                </a:solidFill>
                <a:latin typeface="Montserrat" pitchFamily="34" charset="0"/>
                <a:ea typeface="Montserrat" pitchFamily="34" charset="-122"/>
                <a:cs typeface="Montserrat" pitchFamily="34" charset="-120"/>
              </a:rPr>
              <a:t>security fundamentals </a:t>
            </a:r>
            <a:r>
              <a:rPr lang="en-US" sz="2400" dirty="0">
                <a:solidFill>
                  <a:srgbClr val="384653"/>
                </a:solidFill>
                <a:latin typeface="Montserrat" pitchFamily="34" charset="0"/>
                <a:ea typeface="Montserrat" pitchFamily="34" charset="-122"/>
                <a:cs typeface="Montserrat" pitchFamily="34" charset="-120"/>
              </a:rPr>
              <a:t>to </a:t>
            </a:r>
            <a:r>
              <a:rPr lang="en-US" sz="2400" b="1" dirty="0">
                <a:solidFill>
                  <a:srgbClr val="384653"/>
                </a:solidFill>
                <a:latin typeface="Montserrat" pitchFamily="34" charset="0"/>
                <a:ea typeface="Montserrat" pitchFamily="34" charset="-122"/>
                <a:cs typeface="Montserrat" pitchFamily="34" charset="-120"/>
              </a:rPr>
              <a:t>practical analysis</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Apply </a:t>
            </a:r>
            <a:r>
              <a:rPr lang="en-US" sz="2400" b="1" dirty="0">
                <a:solidFill>
                  <a:srgbClr val="384653"/>
                </a:solidFill>
                <a:latin typeface="Montserrat" pitchFamily="34" charset="0"/>
                <a:ea typeface="Montserrat" pitchFamily="34" charset="-122"/>
                <a:cs typeface="Montserrat" pitchFamily="34" charset="-120"/>
              </a:rPr>
              <a:t>CIA, threats, vulnerabilities, </a:t>
            </a:r>
            <a:r>
              <a:rPr lang="en-US" sz="2400" dirty="0">
                <a:solidFill>
                  <a:srgbClr val="384653"/>
                </a:solidFill>
                <a:latin typeface="Montserrat" pitchFamily="34" charset="0"/>
                <a:ea typeface="Montserrat" pitchFamily="34" charset="-122"/>
                <a:cs typeface="Montserrat" pitchFamily="34" charset="-120"/>
              </a:rPr>
              <a:t>and </a:t>
            </a:r>
            <a:r>
              <a:rPr lang="en-US" sz="2400" b="1" dirty="0">
                <a:solidFill>
                  <a:srgbClr val="384653"/>
                </a:solidFill>
                <a:latin typeface="Montserrat" pitchFamily="34" charset="0"/>
                <a:ea typeface="Montserrat" pitchFamily="34" charset="-122"/>
                <a:cs typeface="Montserrat" pitchFamily="34" charset="-120"/>
              </a:rPr>
              <a:t>risk concepts </a:t>
            </a:r>
            <a:r>
              <a:rPr lang="en-US" sz="2400" dirty="0">
                <a:solidFill>
                  <a:srgbClr val="384653"/>
                </a:solidFill>
                <a:latin typeface="Montserrat" pitchFamily="34" charset="0"/>
                <a:ea typeface="Montserrat" pitchFamily="34" charset="-122"/>
                <a:cs typeface="Montserrat" pitchFamily="34" charset="-120"/>
              </a:rPr>
              <a:t>to a real 5G system</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Shift from </a:t>
            </a:r>
            <a:r>
              <a:rPr lang="en-US" sz="2400" b="1" dirty="0">
                <a:solidFill>
                  <a:srgbClr val="384653"/>
                </a:solidFill>
                <a:latin typeface="Montserrat" pitchFamily="34" charset="0"/>
                <a:ea typeface="Montserrat" pitchFamily="34" charset="-122"/>
                <a:cs typeface="Montserrat" pitchFamily="34" charset="-120"/>
              </a:rPr>
              <a:t>design-time </a:t>
            </a:r>
            <a:r>
              <a:rPr lang="en-US" sz="2400" dirty="0">
                <a:solidFill>
                  <a:srgbClr val="384653"/>
                </a:solidFill>
                <a:latin typeface="Montserrat" pitchFamily="34" charset="0"/>
                <a:ea typeface="Montserrat" pitchFamily="34" charset="-122"/>
                <a:cs typeface="Montserrat" pitchFamily="34" charset="-120"/>
              </a:rPr>
              <a:t>security to </a:t>
            </a:r>
            <a:r>
              <a:rPr lang="en-US" sz="2400" b="1" dirty="0">
                <a:solidFill>
                  <a:srgbClr val="384653"/>
                </a:solidFill>
                <a:latin typeface="Montserrat" pitchFamily="34" charset="0"/>
                <a:ea typeface="Montserrat" pitchFamily="34" charset="-122"/>
                <a:cs typeface="Montserrat" pitchFamily="34" charset="-120"/>
              </a:rPr>
              <a:t>operation and evidence-based</a:t>
            </a:r>
            <a:r>
              <a:rPr lang="en-US" sz="2400" dirty="0">
                <a:solidFill>
                  <a:srgbClr val="384653"/>
                </a:solidFill>
                <a:latin typeface="Montserrat" pitchFamily="34" charset="0"/>
                <a:ea typeface="Montserrat" pitchFamily="34" charset="-122"/>
                <a:cs typeface="Montserrat" pitchFamily="34" charset="-120"/>
              </a:rPr>
              <a:t> security</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Your role: </a:t>
            </a:r>
            <a:r>
              <a:rPr lang="en-US" sz="2400" b="1" dirty="0" err="1">
                <a:solidFill>
                  <a:srgbClr val="384653"/>
                </a:solidFill>
                <a:latin typeface="Montserrat" pitchFamily="34" charset="0"/>
                <a:ea typeface="Montserrat" pitchFamily="34" charset="-122"/>
                <a:cs typeface="Montserrat" pitchFamily="34" charset="-120"/>
              </a:rPr>
              <a:t>analyse</a:t>
            </a:r>
            <a:r>
              <a:rPr lang="en-US" sz="2400" b="1" dirty="0">
                <a:solidFill>
                  <a:srgbClr val="384653"/>
                </a:solidFill>
                <a:latin typeface="Montserrat" pitchFamily="34" charset="0"/>
                <a:ea typeface="Montserrat" pitchFamily="34" charset="-122"/>
                <a:cs typeface="Montserrat" pitchFamily="34" charset="-120"/>
              </a:rPr>
              <a:t>, decide</a:t>
            </a:r>
            <a:r>
              <a:rPr lang="en-US" sz="2400" dirty="0">
                <a:solidFill>
                  <a:srgbClr val="384653"/>
                </a:solidFill>
                <a:latin typeface="Montserrat" pitchFamily="34" charset="0"/>
                <a:ea typeface="Montserrat" pitchFamily="34" charset="-122"/>
                <a:cs typeface="Montserrat" pitchFamily="34" charset="-120"/>
              </a:rPr>
              <a:t>, and </a:t>
            </a:r>
            <a:r>
              <a:rPr lang="en-US" sz="2400" b="1" dirty="0">
                <a:solidFill>
                  <a:srgbClr val="384653"/>
                </a:solidFill>
                <a:latin typeface="Montserrat" pitchFamily="34" charset="0"/>
                <a:ea typeface="Montserrat" pitchFamily="34" charset="-122"/>
                <a:cs typeface="Montserrat" pitchFamily="34" charset="-120"/>
              </a:rPr>
              <a:t>justify</a:t>
            </a:r>
            <a:r>
              <a:rPr lang="en-US" sz="2400" dirty="0">
                <a:solidFill>
                  <a:srgbClr val="384653"/>
                </a:solidFill>
                <a:latin typeface="Montserrat" pitchFamily="34" charset="0"/>
                <a:ea typeface="Montserrat" pitchFamily="34" charset="-122"/>
                <a:cs typeface="Montserrat" pitchFamily="34" charset="-120"/>
              </a:rPr>
              <a:t> with real lab evidence</a:t>
            </a:r>
          </a:p>
          <a:p>
            <a:pPr marL="0" indent="0" algn="l">
              <a:lnSpc>
                <a:spcPct val="150000"/>
              </a:lnSpc>
              <a:buNone/>
            </a:pPr>
            <a:endParaRPr lang="en-US" sz="2400" dirty="0"/>
          </a:p>
          <a:p>
            <a:pPr marL="0" indent="0" algn="l">
              <a:lnSpc>
                <a:spcPct val="150000"/>
              </a:lnSpc>
              <a:buNone/>
            </a:pPr>
            <a:endParaRPr lang="en-US" sz="2400" dirty="0"/>
          </a:p>
        </p:txBody>
      </p:sp>
      <p:pic>
        <p:nvPicPr>
          <p:cNvPr id="2050" name="Picture 2">
            <a:extLst>
              <a:ext uri="{FF2B5EF4-FFF2-40B4-BE49-F238E27FC236}">
                <a16:creationId xmlns:a16="http://schemas.microsoft.com/office/drawing/2014/main" id="{078018D7-DDFC-D463-6F85-DEBB000B626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9480" b="13264"/>
          <a:stretch/>
        </p:blipFill>
        <p:spPr bwMode="auto">
          <a:xfrm>
            <a:off x="3477427" y="4764144"/>
            <a:ext cx="13052392" cy="52514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dirty="0">
                <a:solidFill>
                  <a:srgbClr val="3A91B9"/>
                </a:solidFill>
                <a:latin typeface="Montserrat"/>
                <a:ea typeface="Montserrat"/>
                <a:cs typeface="Montserrat"/>
                <a:sym typeface="Montserrat"/>
              </a:rPr>
              <a:t>3</a:t>
            </a:r>
            <a:r>
              <a:rPr lang="en-US" sz="3999" b="1" i="0" u="none" strike="noStrike" cap="none" dirty="0">
                <a:solidFill>
                  <a:srgbClr val="3A91B9"/>
                </a:solidFill>
                <a:latin typeface="Montserrat"/>
                <a:ea typeface="Montserrat"/>
                <a:cs typeface="Montserrat"/>
                <a:sym typeface="Montserrat"/>
              </a:rPr>
              <a:t>. NeoCity Scenario: A 5G Connected Traffic Signal System</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16394189"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Smart intersections rely on </a:t>
            </a:r>
            <a:r>
              <a:rPr lang="en-US" sz="2400" b="1" dirty="0">
                <a:solidFill>
                  <a:srgbClr val="384653"/>
                </a:solidFill>
                <a:latin typeface="Montserrat" pitchFamily="34" charset="0"/>
                <a:ea typeface="Montserrat" pitchFamily="34" charset="-122"/>
                <a:cs typeface="Montserrat" pitchFamily="34" charset="-120"/>
              </a:rPr>
              <a:t>5G connectivity </a:t>
            </a:r>
            <a:r>
              <a:rPr lang="en-US" sz="2400" dirty="0">
                <a:solidFill>
                  <a:srgbClr val="384653"/>
                </a:solidFill>
                <a:latin typeface="Montserrat" pitchFamily="34" charset="0"/>
                <a:ea typeface="Montserrat" pitchFamily="34" charset="-122"/>
                <a:cs typeface="Montserrat" pitchFamily="34" charset="-120"/>
              </a:rPr>
              <a:t>for real-time decisions</a:t>
            </a:r>
          </a:p>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Roadside Units (RSUs)</a:t>
            </a:r>
            <a:r>
              <a:rPr lang="en-US" sz="2400" dirty="0">
                <a:solidFill>
                  <a:srgbClr val="384653"/>
                </a:solidFill>
                <a:latin typeface="Montserrat" pitchFamily="34" charset="0"/>
                <a:ea typeface="Montserrat" pitchFamily="34" charset="-122"/>
                <a:cs typeface="Montserrat" pitchFamily="34" charset="-120"/>
              </a:rPr>
              <a:t> collect video and sensor data from traffic flows</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Anomalies detected in </a:t>
            </a:r>
            <a:r>
              <a:rPr lang="en-US" sz="2400" b="1" dirty="0">
                <a:solidFill>
                  <a:srgbClr val="384653"/>
                </a:solidFill>
                <a:latin typeface="Montserrat" pitchFamily="34" charset="0"/>
                <a:ea typeface="Montserrat" pitchFamily="34" charset="-122"/>
                <a:cs typeface="Montserrat" pitchFamily="34" charset="-120"/>
              </a:rPr>
              <a:t>network telemetry </a:t>
            </a:r>
            <a:r>
              <a:rPr lang="en-US" sz="2400" dirty="0">
                <a:solidFill>
                  <a:srgbClr val="384653"/>
                </a:solidFill>
                <a:latin typeface="Montserrat" pitchFamily="34" charset="0"/>
                <a:ea typeface="Montserrat" pitchFamily="34" charset="-122"/>
                <a:cs typeface="Montserrat" pitchFamily="34" charset="-120"/>
              </a:rPr>
              <a:t>raise security concerns</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Service deployment is paused until </a:t>
            </a:r>
            <a:r>
              <a:rPr lang="en-US" sz="2400" b="1" dirty="0">
                <a:solidFill>
                  <a:srgbClr val="384653"/>
                </a:solidFill>
                <a:latin typeface="Montserrat" pitchFamily="34" charset="0"/>
                <a:ea typeface="Montserrat" pitchFamily="34" charset="-122"/>
                <a:cs typeface="Montserrat" pitchFamily="34" charset="-120"/>
              </a:rPr>
              <a:t>risk analysis </a:t>
            </a:r>
            <a:r>
              <a:rPr lang="en-US" sz="2400" dirty="0">
                <a:solidFill>
                  <a:srgbClr val="384653"/>
                </a:solidFill>
                <a:latin typeface="Montserrat" pitchFamily="34" charset="0"/>
                <a:ea typeface="Montserrat" pitchFamily="34" charset="-122"/>
                <a:cs typeface="Montserrat" pitchFamily="34" charset="-120"/>
              </a:rPr>
              <a:t>is completed</a:t>
            </a:r>
            <a:endParaRPr lang="en-US" sz="2400" dirty="0"/>
          </a:p>
          <a:p>
            <a:pPr marL="0" indent="0" algn="l">
              <a:lnSpc>
                <a:spcPct val="150000"/>
              </a:lnSpc>
              <a:buNone/>
            </a:pPr>
            <a:endParaRPr lang="en-US" sz="2400" dirty="0"/>
          </a:p>
        </p:txBody>
      </p:sp>
      <p:pic>
        <p:nvPicPr>
          <p:cNvPr id="3074" name="Picture 2">
            <a:extLst>
              <a:ext uri="{FF2B5EF4-FFF2-40B4-BE49-F238E27FC236}">
                <a16:creationId xmlns:a16="http://schemas.microsoft.com/office/drawing/2014/main" id="{0A4065EF-6667-D991-FC22-7DB5EEF1709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173" t="13662" r="6927" b="9012"/>
          <a:stretch/>
        </p:blipFill>
        <p:spPr bwMode="auto">
          <a:xfrm>
            <a:off x="6589472" y="4631014"/>
            <a:ext cx="7869478" cy="5465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121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4. Who is Responsible for 5G Security in NeoCity?</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16394189"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Multiple </a:t>
            </a:r>
            <a:r>
              <a:rPr lang="en-US" sz="2400" b="1" dirty="0">
                <a:solidFill>
                  <a:srgbClr val="384653"/>
                </a:solidFill>
                <a:latin typeface="Montserrat" pitchFamily="34" charset="0"/>
                <a:ea typeface="Montserrat" pitchFamily="34" charset="-122"/>
                <a:cs typeface="Montserrat" pitchFamily="34" charset="-120"/>
              </a:rPr>
              <a:t>stakeholders</a:t>
            </a:r>
            <a:r>
              <a:rPr lang="en-US" sz="2400" dirty="0">
                <a:solidFill>
                  <a:srgbClr val="384653"/>
                </a:solidFill>
                <a:latin typeface="Montserrat" pitchFamily="34" charset="0"/>
                <a:ea typeface="Montserrat" pitchFamily="34" charset="-122"/>
                <a:cs typeface="Montserrat" pitchFamily="34" charset="-120"/>
              </a:rPr>
              <a:t> share responsibility for securing operations</a:t>
            </a:r>
          </a:p>
          <a:p>
            <a:pPr marL="342900" lvl="8" indent="-342900" algn="just">
              <a:lnSpc>
                <a:spcPct val="150000"/>
              </a:lnSpc>
              <a:buFont typeface="Arial" panose="020B0604020202020204" pitchFamily="34" charset="0"/>
              <a:buChar char="•"/>
            </a:pPr>
            <a:r>
              <a:rPr lang="en-US" sz="2400" b="1" dirty="0" err="1">
                <a:solidFill>
                  <a:srgbClr val="384653"/>
                </a:solidFill>
                <a:latin typeface="Montserrat" pitchFamily="34" charset="0"/>
                <a:ea typeface="Montserrat" pitchFamily="34" charset="-122"/>
                <a:cs typeface="Montserrat" pitchFamily="34" charset="-120"/>
              </a:rPr>
              <a:t>UrbanTel</a:t>
            </a:r>
            <a:r>
              <a:rPr lang="en-US" sz="2400" b="1" dirty="0">
                <a:solidFill>
                  <a:srgbClr val="384653"/>
                </a:solidFill>
                <a:latin typeface="Montserrat" pitchFamily="34" charset="0"/>
                <a:ea typeface="Montserrat" pitchFamily="34" charset="-122"/>
                <a:cs typeface="Montserrat" pitchFamily="34" charset="-120"/>
              </a:rPr>
              <a:t> </a:t>
            </a:r>
            <a:r>
              <a:rPr lang="en-US" sz="2400" dirty="0">
                <a:solidFill>
                  <a:srgbClr val="384653"/>
                </a:solidFill>
                <a:latin typeface="Montserrat" pitchFamily="34" charset="0"/>
                <a:ea typeface="Montserrat" pitchFamily="34" charset="-122"/>
                <a:cs typeface="Montserrat" pitchFamily="34" charset="-120"/>
              </a:rPr>
              <a:t>provides and maintains the 5G network infrastructure</a:t>
            </a:r>
          </a:p>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NeoCity Traffic Authority </a:t>
            </a:r>
            <a:r>
              <a:rPr lang="en-US" sz="2400" dirty="0">
                <a:solidFill>
                  <a:srgbClr val="384653"/>
                </a:solidFill>
                <a:latin typeface="Montserrat" pitchFamily="34" charset="0"/>
                <a:ea typeface="Montserrat" pitchFamily="34" charset="-122"/>
                <a:cs typeface="Montserrat" pitchFamily="34" charset="-120"/>
              </a:rPr>
              <a:t>operates the traffic control service and depends on trustworthy data</a:t>
            </a:r>
          </a:p>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Public Safety Services </a:t>
            </a:r>
            <a:r>
              <a:rPr lang="en-US" sz="2400" dirty="0">
                <a:solidFill>
                  <a:srgbClr val="384653"/>
                </a:solidFill>
                <a:latin typeface="Montserrat" pitchFamily="34" charset="0"/>
                <a:ea typeface="Montserrat" pitchFamily="34" charset="-122"/>
                <a:cs typeface="Montserrat" pitchFamily="34" charset="-120"/>
              </a:rPr>
              <a:t>rely on system availability for emergency responses</a:t>
            </a:r>
            <a:endParaRPr lang="en-US" sz="2400" dirty="0"/>
          </a:p>
        </p:txBody>
      </p:sp>
      <p:pic>
        <p:nvPicPr>
          <p:cNvPr id="4098" name="Picture 2">
            <a:extLst>
              <a:ext uri="{FF2B5EF4-FFF2-40B4-BE49-F238E27FC236}">
                <a16:creationId xmlns:a16="http://schemas.microsoft.com/office/drawing/2014/main" id="{BABDC897-8D66-7AF4-DC8B-5AA2C27A6D8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019" t="11696" r="3788" b="6725"/>
          <a:stretch/>
        </p:blipFill>
        <p:spPr bwMode="auto">
          <a:xfrm>
            <a:off x="6488952" y="4762500"/>
            <a:ext cx="7564080" cy="565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2680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5. Risk Analysis Workflow for </a:t>
            </a:r>
            <a:r>
              <a:rPr lang="en-US" sz="3999" b="1" i="0" u="none" strike="noStrike" cap="none" dirty="0" err="1">
                <a:solidFill>
                  <a:srgbClr val="3A91B9"/>
                </a:solidFill>
                <a:latin typeface="Montserrat"/>
                <a:ea typeface="Montserrat"/>
                <a:cs typeface="Montserrat"/>
                <a:sym typeface="Montserrat"/>
              </a:rPr>
              <a:t>NeoCity</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16394189"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We follow a </a:t>
            </a:r>
            <a:r>
              <a:rPr lang="en-US" sz="2400" b="1" dirty="0">
                <a:solidFill>
                  <a:srgbClr val="384653"/>
                </a:solidFill>
                <a:latin typeface="Montserrat" pitchFamily="34" charset="0"/>
                <a:ea typeface="Montserrat" pitchFamily="34" charset="-122"/>
                <a:cs typeface="Montserrat" pitchFamily="34" charset="-120"/>
              </a:rPr>
              <a:t>five-step</a:t>
            </a:r>
            <a:r>
              <a:rPr lang="en-US" sz="2400" dirty="0">
                <a:solidFill>
                  <a:srgbClr val="384653"/>
                </a:solidFill>
                <a:latin typeface="Montserrat" pitchFamily="34" charset="0"/>
                <a:ea typeface="Montserrat" pitchFamily="34" charset="-122"/>
                <a:cs typeface="Montserrat" pitchFamily="34" charset="-120"/>
              </a:rPr>
              <a:t> workflow to </a:t>
            </a:r>
            <a:r>
              <a:rPr lang="en-US" sz="2400" dirty="0" err="1">
                <a:solidFill>
                  <a:srgbClr val="384653"/>
                </a:solidFill>
                <a:latin typeface="Montserrat" pitchFamily="34" charset="0"/>
                <a:ea typeface="Montserrat" pitchFamily="34" charset="-122"/>
                <a:cs typeface="Montserrat" pitchFamily="34" charset="-120"/>
              </a:rPr>
              <a:t>analyse</a:t>
            </a:r>
            <a:r>
              <a:rPr lang="en-US" sz="2400" dirty="0">
                <a:solidFill>
                  <a:srgbClr val="384653"/>
                </a:solidFill>
                <a:latin typeface="Montserrat" pitchFamily="34" charset="0"/>
                <a:ea typeface="Montserrat" pitchFamily="34" charset="-122"/>
                <a:cs typeface="Montserrat" pitchFamily="34" charset="-120"/>
              </a:rPr>
              <a:t> cybersecurity risks</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Each step supports </a:t>
            </a:r>
            <a:r>
              <a:rPr lang="en-US" sz="2400" b="1" dirty="0">
                <a:solidFill>
                  <a:srgbClr val="384653"/>
                </a:solidFill>
                <a:latin typeface="Montserrat" pitchFamily="34" charset="0"/>
                <a:ea typeface="Montserrat" pitchFamily="34" charset="-122"/>
                <a:cs typeface="Montserrat" pitchFamily="34" charset="-120"/>
              </a:rPr>
              <a:t>evidence-based</a:t>
            </a:r>
            <a:r>
              <a:rPr lang="en-US" sz="2400" dirty="0">
                <a:solidFill>
                  <a:srgbClr val="384653"/>
                </a:solidFill>
                <a:latin typeface="Montserrat" pitchFamily="34" charset="0"/>
                <a:ea typeface="Montserrat" pitchFamily="34" charset="-122"/>
                <a:cs typeface="Montserrat" pitchFamily="34" charset="-120"/>
              </a:rPr>
              <a:t> decision-making</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Results guide </a:t>
            </a:r>
            <a:r>
              <a:rPr lang="en-US" sz="2400" b="1" dirty="0">
                <a:solidFill>
                  <a:srgbClr val="384653"/>
                </a:solidFill>
                <a:latin typeface="Montserrat" pitchFamily="34" charset="0"/>
                <a:ea typeface="Montserrat" pitchFamily="34" charset="-122"/>
                <a:cs typeface="Montserrat" pitchFamily="34" charset="-120"/>
              </a:rPr>
              <a:t>mitigations </a:t>
            </a:r>
            <a:r>
              <a:rPr lang="en-US" sz="2400" dirty="0">
                <a:solidFill>
                  <a:srgbClr val="384653"/>
                </a:solidFill>
                <a:latin typeface="Montserrat" pitchFamily="34" charset="0"/>
                <a:ea typeface="Montserrat" pitchFamily="34" charset="-122"/>
                <a:cs typeface="Montserrat" pitchFamily="34" charset="-120"/>
              </a:rPr>
              <a:t>and stakeholder communication</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Same workflow used in the </a:t>
            </a:r>
            <a:r>
              <a:rPr lang="en-US" sz="2400" b="1" dirty="0">
                <a:solidFill>
                  <a:srgbClr val="384653"/>
                </a:solidFill>
                <a:latin typeface="Montserrat" pitchFamily="34" charset="0"/>
                <a:ea typeface="Montserrat" pitchFamily="34" charset="-122"/>
                <a:cs typeface="Montserrat" pitchFamily="34" charset="-120"/>
              </a:rPr>
              <a:t>PBL investigation</a:t>
            </a:r>
            <a:endParaRPr lang="en-US" sz="2400" b="1" dirty="0"/>
          </a:p>
        </p:txBody>
      </p:sp>
      <p:pic>
        <p:nvPicPr>
          <p:cNvPr id="1026" name="Picture 2">
            <a:extLst>
              <a:ext uri="{FF2B5EF4-FFF2-40B4-BE49-F238E27FC236}">
                <a16:creationId xmlns:a16="http://schemas.microsoft.com/office/drawing/2014/main" id="{CFE5753C-CAD4-AE74-D2C1-B64606F65A7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1348" b="8578"/>
          <a:stretch/>
        </p:blipFill>
        <p:spPr bwMode="auto">
          <a:xfrm>
            <a:off x="6224443" y="2991369"/>
            <a:ext cx="11198446" cy="6955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1150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6. Open Source 5G Lab Toolchain </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16394189"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A lightweight </a:t>
            </a:r>
            <a:r>
              <a:rPr lang="en-US" sz="2400" b="1" dirty="0">
                <a:solidFill>
                  <a:srgbClr val="384653"/>
                </a:solidFill>
                <a:latin typeface="Montserrat" pitchFamily="34" charset="0"/>
                <a:ea typeface="Montserrat" pitchFamily="34" charset="-122"/>
                <a:cs typeface="Montserrat" pitchFamily="34" charset="-120"/>
              </a:rPr>
              <a:t>5G testbed </a:t>
            </a:r>
            <a:r>
              <a:rPr lang="en-US" sz="2400" dirty="0">
                <a:solidFill>
                  <a:srgbClr val="384653"/>
                </a:solidFill>
                <a:latin typeface="Montserrat" pitchFamily="34" charset="0"/>
                <a:ea typeface="Montserrat" pitchFamily="34" charset="-122"/>
                <a:cs typeface="Montserrat" pitchFamily="34" charset="-120"/>
              </a:rPr>
              <a:t>to explore cybersecurity risks in </a:t>
            </a:r>
            <a:r>
              <a:rPr lang="en-US" sz="2400" dirty="0" err="1">
                <a:solidFill>
                  <a:srgbClr val="384653"/>
                </a:solidFill>
                <a:latin typeface="Montserrat" pitchFamily="34" charset="0"/>
                <a:ea typeface="Montserrat" pitchFamily="34" charset="-122"/>
                <a:cs typeface="Montserrat" pitchFamily="34" charset="-120"/>
              </a:rPr>
              <a:t>NeoCity</a:t>
            </a:r>
            <a:endParaRPr lang="en-US" sz="2400" dirty="0">
              <a:solidFill>
                <a:srgbClr val="384653"/>
              </a:solidFill>
              <a:latin typeface="Montserrat" pitchFamily="34" charset="0"/>
              <a:ea typeface="Montserrat" pitchFamily="34" charset="-122"/>
              <a:cs typeface="Montserrat" pitchFamily="34" charset="-120"/>
            </a:endParaRP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Includes </a:t>
            </a:r>
            <a:r>
              <a:rPr lang="en-US" sz="2400" b="1" dirty="0">
                <a:solidFill>
                  <a:srgbClr val="384653"/>
                </a:solidFill>
                <a:latin typeface="Montserrat" pitchFamily="34" charset="0"/>
                <a:ea typeface="Montserrat" pitchFamily="34" charset="-122"/>
                <a:cs typeface="Montserrat" pitchFamily="34" charset="-120"/>
              </a:rPr>
              <a:t>Open5GS</a:t>
            </a:r>
            <a:r>
              <a:rPr lang="en-US" sz="2400" dirty="0">
                <a:solidFill>
                  <a:srgbClr val="384653"/>
                </a:solidFill>
                <a:latin typeface="Montserrat" pitchFamily="34" charset="0"/>
                <a:ea typeface="Montserrat" pitchFamily="34" charset="-122"/>
                <a:cs typeface="Montserrat" pitchFamily="34" charset="-120"/>
              </a:rPr>
              <a:t>, a </a:t>
            </a:r>
            <a:r>
              <a:rPr lang="en-US" sz="2400" b="1" dirty="0">
                <a:solidFill>
                  <a:srgbClr val="384653"/>
                </a:solidFill>
                <a:latin typeface="Montserrat" pitchFamily="34" charset="0"/>
                <a:ea typeface="Montserrat" pitchFamily="34" charset="-122"/>
                <a:cs typeface="Montserrat" pitchFamily="34" charset="-120"/>
              </a:rPr>
              <a:t>MEC service</a:t>
            </a:r>
            <a:r>
              <a:rPr lang="en-US" sz="2400" dirty="0">
                <a:solidFill>
                  <a:srgbClr val="384653"/>
                </a:solidFill>
                <a:latin typeface="Montserrat" pitchFamily="34" charset="0"/>
                <a:ea typeface="Montserrat" pitchFamily="34" charset="-122"/>
                <a:cs typeface="Montserrat" pitchFamily="34" charset="-120"/>
              </a:rPr>
              <a:t>, and live monitoring tools</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Supports </a:t>
            </a:r>
            <a:r>
              <a:rPr lang="en-US" sz="2400" b="1" dirty="0">
                <a:solidFill>
                  <a:srgbClr val="384653"/>
                </a:solidFill>
                <a:latin typeface="Montserrat" pitchFamily="34" charset="0"/>
                <a:ea typeface="Montserrat" pitchFamily="34" charset="-122"/>
                <a:cs typeface="Montserrat" pitchFamily="34" charset="-120"/>
              </a:rPr>
              <a:t>attack simulation </a:t>
            </a:r>
            <a:r>
              <a:rPr lang="en-US" sz="2400" dirty="0">
                <a:solidFill>
                  <a:srgbClr val="384653"/>
                </a:solidFill>
                <a:latin typeface="Montserrat" pitchFamily="34" charset="0"/>
                <a:ea typeface="Montserrat" pitchFamily="34" charset="-122"/>
                <a:cs typeface="Montserrat" pitchFamily="34" charset="-120"/>
              </a:rPr>
              <a:t>and evidence collection</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Fully containerized to run on a student laptop</a:t>
            </a:r>
            <a:endParaRPr lang="en-US" sz="2400" b="1" dirty="0"/>
          </a:p>
        </p:txBody>
      </p:sp>
      <p:pic>
        <p:nvPicPr>
          <p:cNvPr id="2050" name="Picture 2">
            <a:extLst>
              <a:ext uri="{FF2B5EF4-FFF2-40B4-BE49-F238E27FC236}">
                <a16:creationId xmlns:a16="http://schemas.microsoft.com/office/drawing/2014/main" id="{2713506D-73FB-F8C7-DFB8-03DE13BCFA7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275" t="14096" r="9460" b="13356"/>
          <a:stretch/>
        </p:blipFill>
        <p:spPr bwMode="auto">
          <a:xfrm>
            <a:off x="4930587" y="4838699"/>
            <a:ext cx="8982635" cy="4744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823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7. Lab Architecture Overview</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16394189"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All components run as </a:t>
            </a:r>
            <a:r>
              <a:rPr lang="en-US" sz="2400" b="1" dirty="0">
                <a:solidFill>
                  <a:srgbClr val="384653"/>
                </a:solidFill>
                <a:latin typeface="Montserrat" pitchFamily="34" charset="0"/>
                <a:ea typeface="Montserrat" pitchFamily="34" charset="-122"/>
                <a:cs typeface="Montserrat" pitchFamily="34" charset="-120"/>
              </a:rPr>
              <a:t>Docker containers </a:t>
            </a:r>
            <a:r>
              <a:rPr lang="en-US" sz="2400" dirty="0">
                <a:solidFill>
                  <a:srgbClr val="384653"/>
                </a:solidFill>
                <a:latin typeface="Montserrat" pitchFamily="34" charset="0"/>
                <a:ea typeface="Montserrat" pitchFamily="34" charset="-122"/>
                <a:cs typeface="Montserrat" pitchFamily="34" charset="-120"/>
              </a:rPr>
              <a:t>on a single machine</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Includes </a:t>
            </a:r>
            <a:r>
              <a:rPr lang="en-US" sz="2400" b="1" dirty="0">
                <a:solidFill>
                  <a:srgbClr val="384653"/>
                </a:solidFill>
                <a:latin typeface="Montserrat" pitchFamily="34" charset="0"/>
                <a:ea typeface="Montserrat" pitchFamily="34" charset="-122"/>
                <a:cs typeface="Montserrat" pitchFamily="34" charset="-120"/>
              </a:rPr>
              <a:t>traffic data source, 5G core, MEC app</a:t>
            </a:r>
            <a:r>
              <a:rPr lang="en-US" sz="2400" dirty="0">
                <a:solidFill>
                  <a:srgbClr val="384653"/>
                </a:solidFill>
                <a:latin typeface="Montserrat" pitchFamily="34" charset="0"/>
                <a:ea typeface="Montserrat" pitchFamily="34" charset="-122"/>
                <a:cs typeface="Montserrat" pitchFamily="34" charset="-120"/>
              </a:rPr>
              <a:t>, and </a:t>
            </a:r>
            <a:r>
              <a:rPr lang="en-US" sz="2400" b="1" dirty="0">
                <a:solidFill>
                  <a:srgbClr val="384653"/>
                </a:solidFill>
                <a:latin typeface="Montserrat" pitchFamily="34" charset="0"/>
                <a:ea typeface="Montserrat" pitchFamily="34" charset="-122"/>
                <a:cs typeface="Montserrat" pitchFamily="34" charset="-120"/>
              </a:rPr>
              <a:t>monitoring stack</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Network flows mirror </a:t>
            </a:r>
            <a:r>
              <a:rPr lang="en-US" sz="2400" dirty="0" err="1">
                <a:solidFill>
                  <a:srgbClr val="384653"/>
                </a:solidFill>
                <a:latin typeface="Montserrat" pitchFamily="34" charset="0"/>
                <a:ea typeface="Montserrat" pitchFamily="34" charset="-122"/>
                <a:cs typeface="Montserrat" pitchFamily="34" charset="-120"/>
              </a:rPr>
              <a:t>NeoCity’s</a:t>
            </a:r>
            <a:r>
              <a:rPr lang="en-US" sz="2400" dirty="0">
                <a:solidFill>
                  <a:srgbClr val="384653"/>
                </a:solidFill>
                <a:latin typeface="Montserrat" pitchFamily="34" charset="0"/>
                <a:ea typeface="Montserrat" pitchFamily="34" charset="-122"/>
                <a:cs typeface="Montserrat" pitchFamily="34" charset="-120"/>
              </a:rPr>
              <a:t> real data path</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Designed for </a:t>
            </a:r>
            <a:r>
              <a:rPr lang="en-US" sz="2400" b="1" dirty="0">
                <a:solidFill>
                  <a:srgbClr val="384653"/>
                </a:solidFill>
                <a:latin typeface="Montserrat" pitchFamily="34" charset="0"/>
                <a:ea typeface="Montserrat" pitchFamily="34" charset="-122"/>
                <a:cs typeface="Montserrat" pitchFamily="34" charset="-120"/>
              </a:rPr>
              <a:t>controlled testing </a:t>
            </a:r>
            <a:r>
              <a:rPr lang="en-US" sz="2400" dirty="0">
                <a:solidFill>
                  <a:srgbClr val="384653"/>
                </a:solidFill>
                <a:latin typeface="Montserrat" pitchFamily="34" charset="0"/>
                <a:ea typeface="Montserrat" pitchFamily="34" charset="-122"/>
                <a:cs typeface="Montserrat" pitchFamily="34" charset="-120"/>
              </a:rPr>
              <a:t>and repeatable experiments</a:t>
            </a:r>
            <a:endParaRPr lang="en-US" sz="2400" b="1" dirty="0"/>
          </a:p>
        </p:txBody>
      </p:sp>
      <p:pic>
        <p:nvPicPr>
          <p:cNvPr id="3075" name="Picture 3">
            <a:extLst>
              <a:ext uri="{FF2B5EF4-FFF2-40B4-BE49-F238E27FC236}">
                <a16:creationId xmlns:a16="http://schemas.microsoft.com/office/drawing/2014/main" id="{28E1E705-1DD6-EB4D-FE1A-D5DCCAC9E9E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5750" b="15617"/>
          <a:stretch/>
        </p:blipFill>
        <p:spPr bwMode="auto">
          <a:xfrm>
            <a:off x="2894314" y="5053478"/>
            <a:ext cx="12007727" cy="467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1028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8. </a:t>
            </a:r>
            <a:r>
              <a:rPr lang="en-US" sz="3999" b="1" i="0" u="none" strike="noStrike" cap="none" dirty="0" err="1">
                <a:solidFill>
                  <a:srgbClr val="3A91B9"/>
                </a:solidFill>
                <a:latin typeface="Montserrat"/>
                <a:ea typeface="Montserrat"/>
                <a:cs typeface="Montserrat"/>
                <a:sym typeface="Montserrat"/>
              </a:rPr>
              <a:t>Quickstart</a:t>
            </a:r>
            <a:r>
              <a:rPr lang="en-US" sz="3999" b="1" i="0" u="none" strike="noStrike" cap="none" dirty="0">
                <a:solidFill>
                  <a:srgbClr val="3A91B9"/>
                </a:solidFill>
                <a:latin typeface="Montserrat"/>
                <a:ea typeface="Montserrat"/>
                <a:cs typeface="Montserrat"/>
                <a:sym typeface="Montserrat"/>
              </a:rPr>
              <a:t>: Launching the Lab </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16394189"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Clone the repository and deploy the </a:t>
            </a:r>
            <a:r>
              <a:rPr lang="en-US" sz="2400" b="1" dirty="0">
                <a:solidFill>
                  <a:srgbClr val="384653"/>
                </a:solidFill>
                <a:latin typeface="Montserrat" pitchFamily="34" charset="0"/>
                <a:ea typeface="Montserrat" pitchFamily="34" charset="-122"/>
                <a:cs typeface="Montserrat" pitchFamily="34" charset="-120"/>
              </a:rPr>
              <a:t>Docker lab environment</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Verify </a:t>
            </a:r>
            <a:r>
              <a:rPr lang="en-US" sz="2400" b="1" dirty="0">
                <a:solidFill>
                  <a:srgbClr val="384653"/>
                </a:solidFill>
                <a:latin typeface="Montserrat" pitchFamily="34" charset="0"/>
                <a:ea typeface="Montserrat" pitchFamily="34" charset="-122"/>
                <a:cs typeface="Montserrat" pitchFamily="34" charset="-120"/>
              </a:rPr>
              <a:t>Open5GS, MEC app, Suricata</a:t>
            </a:r>
            <a:r>
              <a:rPr lang="en-US" sz="2400" dirty="0">
                <a:solidFill>
                  <a:srgbClr val="384653"/>
                </a:solidFill>
                <a:latin typeface="Montserrat" pitchFamily="34" charset="0"/>
                <a:ea typeface="Montserrat" pitchFamily="34" charset="-122"/>
                <a:cs typeface="Montserrat" pitchFamily="34" charset="-120"/>
              </a:rPr>
              <a:t>, and </a:t>
            </a:r>
            <a:r>
              <a:rPr lang="en-US" sz="2400" b="1" dirty="0">
                <a:solidFill>
                  <a:srgbClr val="384653"/>
                </a:solidFill>
                <a:latin typeface="Montserrat" pitchFamily="34" charset="0"/>
                <a:ea typeface="Montserrat" pitchFamily="34" charset="-122"/>
                <a:cs typeface="Montserrat" pitchFamily="34" charset="-120"/>
              </a:rPr>
              <a:t>Prometheus</a:t>
            </a:r>
            <a:r>
              <a:rPr lang="en-US" sz="2400" dirty="0">
                <a:solidFill>
                  <a:srgbClr val="384653"/>
                </a:solidFill>
                <a:latin typeface="Montserrat" pitchFamily="34" charset="0"/>
                <a:ea typeface="Montserrat" pitchFamily="34" charset="-122"/>
                <a:cs typeface="Montserrat" pitchFamily="34" charset="-120"/>
              </a:rPr>
              <a:t> are running</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Confirm </a:t>
            </a:r>
            <a:r>
              <a:rPr lang="en-US" sz="2400" b="1" dirty="0">
                <a:solidFill>
                  <a:srgbClr val="384653"/>
                </a:solidFill>
                <a:latin typeface="Montserrat" pitchFamily="34" charset="0"/>
                <a:ea typeface="Montserrat" pitchFamily="34" charset="-122"/>
                <a:cs typeface="Montserrat" pitchFamily="34" charset="-120"/>
              </a:rPr>
              <a:t>traffic data </a:t>
            </a:r>
            <a:r>
              <a:rPr lang="en-US" sz="2400" dirty="0">
                <a:solidFill>
                  <a:srgbClr val="384653"/>
                </a:solidFill>
                <a:latin typeface="Montserrat" pitchFamily="34" charset="0"/>
                <a:ea typeface="Montserrat" pitchFamily="34" charset="-122"/>
                <a:cs typeface="Montserrat" pitchFamily="34" charset="-120"/>
              </a:rPr>
              <a:t>flows end-to-end</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Ready to begin </a:t>
            </a:r>
            <a:r>
              <a:rPr lang="en-US" sz="2400" b="1" dirty="0">
                <a:solidFill>
                  <a:srgbClr val="384653"/>
                </a:solidFill>
                <a:latin typeface="Montserrat" pitchFamily="34" charset="0"/>
                <a:ea typeface="Montserrat" pitchFamily="34" charset="-122"/>
                <a:cs typeface="Montserrat" pitchFamily="34" charset="-120"/>
              </a:rPr>
              <a:t>risk analysis </a:t>
            </a:r>
            <a:r>
              <a:rPr lang="en-US" sz="2400" dirty="0">
                <a:solidFill>
                  <a:srgbClr val="384653"/>
                </a:solidFill>
                <a:latin typeface="Montserrat" pitchFamily="34" charset="0"/>
                <a:ea typeface="Montserrat" pitchFamily="34" charset="-122"/>
                <a:cs typeface="Montserrat" pitchFamily="34" charset="-120"/>
              </a:rPr>
              <a:t>activities</a:t>
            </a:r>
            <a:endParaRPr lang="en-US" sz="2400" b="1" dirty="0"/>
          </a:p>
        </p:txBody>
      </p:sp>
      <p:pic>
        <p:nvPicPr>
          <p:cNvPr id="4100" name="Picture 4">
            <a:extLst>
              <a:ext uri="{FF2B5EF4-FFF2-40B4-BE49-F238E27FC236}">
                <a16:creationId xmlns:a16="http://schemas.microsoft.com/office/drawing/2014/main" id="{53CF3E22-9A7E-214A-2B9E-A970F676372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42395"/>
          <a:stretch/>
        </p:blipFill>
        <p:spPr bwMode="auto">
          <a:xfrm>
            <a:off x="4000499" y="5598368"/>
            <a:ext cx="11947971" cy="347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180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9. Step 1: Define the Scope </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16394189"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Identify </a:t>
            </a:r>
            <a:r>
              <a:rPr lang="en-US" sz="2400" b="1" dirty="0">
                <a:solidFill>
                  <a:srgbClr val="384653"/>
                </a:solidFill>
                <a:latin typeface="Montserrat" pitchFamily="34" charset="0"/>
                <a:ea typeface="Montserrat" pitchFamily="34" charset="-122"/>
                <a:cs typeface="Montserrat" pitchFamily="34" charset="-120"/>
              </a:rPr>
              <a:t>what is included </a:t>
            </a:r>
            <a:r>
              <a:rPr lang="en-US" sz="2400" dirty="0">
                <a:solidFill>
                  <a:srgbClr val="384653"/>
                </a:solidFill>
                <a:latin typeface="Montserrat" pitchFamily="34" charset="0"/>
                <a:ea typeface="Montserrat" pitchFamily="34" charset="-122"/>
                <a:cs typeface="Montserrat" pitchFamily="34" charset="-120"/>
              </a:rPr>
              <a:t>and </a:t>
            </a:r>
            <a:r>
              <a:rPr lang="en-US" sz="2400" b="1" dirty="0">
                <a:solidFill>
                  <a:srgbClr val="384653"/>
                </a:solidFill>
                <a:latin typeface="Montserrat" pitchFamily="34" charset="0"/>
                <a:ea typeface="Montserrat" pitchFamily="34" charset="-122"/>
                <a:cs typeface="Montserrat" pitchFamily="34" charset="-120"/>
              </a:rPr>
              <a:t>what is excluded </a:t>
            </a:r>
            <a:r>
              <a:rPr lang="en-US" sz="2400" dirty="0">
                <a:solidFill>
                  <a:srgbClr val="384653"/>
                </a:solidFill>
                <a:latin typeface="Montserrat" pitchFamily="34" charset="0"/>
                <a:ea typeface="Montserrat" pitchFamily="34" charset="-122"/>
                <a:cs typeface="Montserrat" pitchFamily="34" charset="-120"/>
              </a:rPr>
              <a:t>in the analysis</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Focus on </a:t>
            </a:r>
            <a:r>
              <a:rPr lang="en-US" sz="2400" b="1" dirty="0">
                <a:solidFill>
                  <a:srgbClr val="384653"/>
                </a:solidFill>
                <a:latin typeface="Montserrat" pitchFamily="34" charset="0"/>
                <a:ea typeface="Montserrat" pitchFamily="34" charset="-122"/>
                <a:cs typeface="Montserrat" pitchFamily="34" charset="-120"/>
              </a:rPr>
              <a:t>the Connected Traffic Signal System </a:t>
            </a:r>
            <a:r>
              <a:rPr lang="en-US" sz="2400" dirty="0">
                <a:solidFill>
                  <a:srgbClr val="384653"/>
                </a:solidFill>
                <a:latin typeface="Montserrat" pitchFamily="34" charset="0"/>
                <a:ea typeface="Montserrat" pitchFamily="34" charset="-122"/>
                <a:cs typeface="Montserrat" pitchFamily="34" charset="-120"/>
              </a:rPr>
              <a:t>and its data flow</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Prioritize </a:t>
            </a:r>
            <a:r>
              <a:rPr lang="en-US" sz="2400" b="1" dirty="0">
                <a:solidFill>
                  <a:srgbClr val="384653"/>
                </a:solidFill>
                <a:latin typeface="Montserrat" pitchFamily="34" charset="0"/>
                <a:ea typeface="Montserrat" pitchFamily="34" charset="-122"/>
                <a:cs typeface="Montserrat" pitchFamily="34" charset="-120"/>
              </a:rPr>
              <a:t>anomaly</a:t>
            </a:r>
            <a:r>
              <a:rPr lang="en-US" sz="2400" dirty="0">
                <a:solidFill>
                  <a:srgbClr val="384653"/>
                </a:solidFill>
                <a:latin typeface="Montserrat" pitchFamily="34" charset="0"/>
                <a:ea typeface="Montserrat" pitchFamily="34" charset="-122"/>
                <a:cs typeface="Montserrat" pitchFamily="34" charset="-120"/>
              </a:rPr>
              <a:t> affecting roadside telemetry</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Establish </a:t>
            </a:r>
            <a:r>
              <a:rPr lang="en-US" sz="2400" b="1" dirty="0">
                <a:solidFill>
                  <a:srgbClr val="384653"/>
                </a:solidFill>
                <a:latin typeface="Montserrat" pitchFamily="34" charset="0"/>
                <a:ea typeface="Montserrat" pitchFamily="34" charset="-122"/>
                <a:cs typeface="Montserrat" pitchFamily="34" charset="-120"/>
              </a:rPr>
              <a:t>assumptions</a:t>
            </a:r>
            <a:r>
              <a:rPr lang="en-US" sz="2400" dirty="0">
                <a:solidFill>
                  <a:srgbClr val="384653"/>
                </a:solidFill>
                <a:latin typeface="Montserrat" pitchFamily="34" charset="0"/>
                <a:ea typeface="Montserrat" pitchFamily="34" charset="-122"/>
                <a:cs typeface="Montserrat" pitchFamily="34" charset="-120"/>
              </a:rPr>
              <a:t> and </a:t>
            </a:r>
            <a:r>
              <a:rPr lang="en-US" sz="2400" b="1" dirty="0">
                <a:solidFill>
                  <a:srgbClr val="384653"/>
                </a:solidFill>
                <a:latin typeface="Montserrat" pitchFamily="34" charset="0"/>
                <a:ea typeface="Montserrat" pitchFamily="34" charset="-122"/>
                <a:cs typeface="Montserrat" pitchFamily="34" charset="-120"/>
              </a:rPr>
              <a:t>operational boundaries</a:t>
            </a:r>
            <a:endParaRPr lang="en-US" sz="2400" b="1" dirty="0"/>
          </a:p>
        </p:txBody>
      </p:sp>
      <p:pic>
        <p:nvPicPr>
          <p:cNvPr id="5122" name="Picture 2">
            <a:extLst>
              <a:ext uri="{FF2B5EF4-FFF2-40B4-BE49-F238E27FC236}">
                <a16:creationId xmlns:a16="http://schemas.microsoft.com/office/drawing/2014/main" id="{C8FE86A8-7D87-0C26-7CF6-CE554BAF71A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57" t="4769" r="-457" b="11077"/>
          <a:stretch/>
        </p:blipFill>
        <p:spPr bwMode="auto">
          <a:xfrm>
            <a:off x="3081085" y="3861054"/>
            <a:ext cx="12125830" cy="5685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094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dirty="0">
                <a:solidFill>
                  <a:srgbClr val="3A91B9"/>
                </a:solidFill>
                <a:latin typeface="Montserrat"/>
                <a:ea typeface="Montserrat"/>
                <a:cs typeface="Montserrat"/>
                <a:sym typeface="Montserrat"/>
              </a:rPr>
              <a:t>10</a:t>
            </a:r>
            <a:r>
              <a:rPr lang="en-US" sz="3999" b="1" i="0" u="none" strike="noStrike" cap="none" dirty="0">
                <a:solidFill>
                  <a:srgbClr val="3A91B9"/>
                </a:solidFill>
                <a:latin typeface="Montserrat"/>
                <a:ea typeface="Montserrat"/>
                <a:cs typeface="Montserrat"/>
                <a:sym typeface="Montserrat"/>
              </a:rPr>
              <a:t>. Step 2: Identify Threats</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16394189"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Determine </a:t>
            </a:r>
            <a:r>
              <a:rPr lang="en-US" sz="2400" b="1" dirty="0">
                <a:solidFill>
                  <a:srgbClr val="384653"/>
                </a:solidFill>
                <a:latin typeface="Montserrat" pitchFamily="34" charset="0"/>
                <a:ea typeface="Montserrat" pitchFamily="34" charset="-122"/>
                <a:cs typeface="Montserrat" pitchFamily="34" charset="-120"/>
              </a:rPr>
              <a:t>what could go wrong </a:t>
            </a:r>
            <a:r>
              <a:rPr lang="en-US" sz="2400" dirty="0">
                <a:solidFill>
                  <a:srgbClr val="384653"/>
                </a:solidFill>
                <a:latin typeface="Montserrat" pitchFamily="34" charset="0"/>
                <a:ea typeface="Montserrat" pitchFamily="34" charset="-122"/>
                <a:cs typeface="Montserrat" pitchFamily="34" charset="-120"/>
              </a:rPr>
              <a:t>in the scoped system</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Focus on the </a:t>
            </a:r>
            <a:r>
              <a:rPr lang="en-US" sz="2400" b="1" dirty="0">
                <a:solidFill>
                  <a:srgbClr val="384653"/>
                </a:solidFill>
                <a:latin typeface="Montserrat" pitchFamily="34" charset="0"/>
                <a:ea typeface="Montserrat" pitchFamily="34" charset="-122"/>
                <a:cs typeface="Montserrat" pitchFamily="34" charset="-120"/>
              </a:rPr>
              <a:t>telemetry anomaly </a:t>
            </a:r>
            <a:r>
              <a:rPr lang="en-US" sz="2400" dirty="0">
                <a:solidFill>
                  <a:srgbClr val="384653"/>
                </a:solidFill>
                <a:latin typeface="Montserrat" pitchFamily="34" charset="0"/>
                <a:ea typeface="Montserrat" pitchFamily="34" charset="-122"/>
                <a:cs typeface="Montserrat" pitchFamily="34" charset="-120"/>
              </a:rPr>
              <a:t>as a potential attack vector</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Consider threats to </a:t>
            </a:r>
            <a:r>
              <a:rPr lang="en-US" sz="2400" b="1" dirty="0">
                <a:solidFill>
                  <a:srgbClr val="384653"/>
                </a:solidFill>
                <a:latin typeface="Montserrat" pitchFamily="34" charset="0"/>
                <a:ea typeface="Montserrat" pitchFamily="34" charset="-122"/>
                <a:cs typeface="Montserrat" pitchFamily="34" charset="-120"/>
              </a:rPr>
              <a:t>availability, integrity</a:t>
            </a:r>
            <a:r>
              <a:rPr lang="en-US" sz="2400" dirty="0">
                <a:solidFill>
                  <a:srgbClr val="384653"/>
                </a:solidFill>
                <a:latin typeface="Montserrat" pitchFamily="34" charset="0"/>
                <a:ea typeface="Montserrat" pitchFamily="34" charset="-122"/>
                <a:cs typeface="Montserrat" pitchFamily="34" charset="-120"/>
              </a:rPr>
              <a:t>, and </a:t>
            </a:r>
            <a:r>
              <a:rPr lang="en-US" sz="2400" b="1" dirty="0">
                <a:solidFill>
                  <a:srgbClr val="384653"/>
                </a:solidFill>
                <a:latin typeface="Montserrat" pitchFamily="34" charset="0"/>
                <a:ea typeface="Montserrat" pitchFamily="34" charset="-122"/>
                <a:cs typeface="Montserrat" pitchFamily="34" charset="-120"/>
              </a:rPr>
              <a:t>confidentiality</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Document attacker </a:t>
            </a:r>
            <a:r>
              <a:rPr lang="en-US" sz="2400" b="1" dirty="0">
                <a:solidFill>
                  <a:srgbClr val="384653"/>
                </a:solidFill>
                <a:latin typeface="Montserrat" pitchFamily="34" charset="0"/>
                <a:ea typeface="Montserrat" pitchFamily="34" charset="-122"/>
                <a:cs typeface="Montserrat" pitchFamily="34" charset="-120"/>
              </a:rPr>
              <a:t>capabilities, motivation</a:t>
            </a:r>
            <a:r>
              <a:rPr lang="en-US" sz="2400" dirty="0">
                <a:solidFill>
                  <a:srgbClr val="384653"/>
                </a:solidFill>
                <a:latin typeface="Montserrat" pitchFamily="34" charset="0"/>
                <a:ea typeface="Montserrat" pitchFamily="34" charset="-122"/>
                <a:cs typeface="Montserrat" pitchFamily="34" charset="-120"/>
              </a:rPr>
              <a:t>, and </a:t>
            </a:r>
            <a:r>
              <a:rPr lang="en-US" sz="2400" b="1" dirty="0">
                <a:solidFill>
                  <a:srgbClr val="384653"/>
                </a:solidFill>
                <a:latin typeface="Montserrat" pitchFamily="34" charset="0"/>
                <a:ea typeface="Montserrat" pitchFamily="34" charset="-122"/>
                <a:cs typeface="Montserrat" pitchFamily="34" charset="-120"/>
              </a:rPr>
              <a:t>entry points</a:t>
            </a:r>
            <a:endParaRPr lang="en-US" sz="2400" b="1" dirty="0"/>
          </a:p>
        </p:txBody>
      </p:sp>
      <p:pic>
        <p:nvPicPr>
          <p:cNvPr id="6146" name="Picture 2">
            <a:extLst>
              <a:ext uri="{FF2B5EF4-FFF2-40B4-BE49-F238E27FC236}">
                <a16:creationId xmlns:a16="http://schemas.microsoft.com/office/drawing/2014/main" id="{368BAE02-E02F-7C6F-0CC4-B50AC547943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512" t="15856" r="7790" b="12557"/>
          <a:stretch/>
        </p:blipFill>
        <p:spPr bwMode="auto">
          <a:xfrm>
            <a:off x="5029199" y="4936103"/>
            <a:ext cx="10933043" cy="5160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02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dirty="0">
                <a:solidFill>
                  <a:srgbClr val="3A91B9"/>
                </a:solidFill>
                <a:latin typeface="Montserrat"/>
                <a:ea typeface="Montserrat"/>
                <a:cs typeface="Montserrat"/>
                <a:sym typeface="Montserrat"/>
              </a:rPr>
              <a:t>11</a:t>
            </a:r>
            <a:r>
              <a:rPr lang="en-US" sz="3999" b="1" i="0" u="none" strike="noStrike" cap="none" dirty="0">
                <a:solidFill>
                  <a:srgbClr val="3A91B9"/>
                </a:solidFill>
                <a:latin typeface="Montserrat"/>
                <a:ea typeface="Montserrat"/>
                <a:cs typeface="Montserrat"/>
                <a:sym typeface="Montserrat"/>
              </a:rPr>
              <a:t>. Step 3: Assess the Risk</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16394189"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Evaluate the </a:t>
            </a:r>
            <a:r>
              <a:rPr lang="en-US" sz="2400" b="1" dirty="0">
                <a:solidFill>
                  <a:srgbClr val="384653"/>
                </a:solidFill>
                <a:latin typeface="Montserrat" pitchFamily="34" charset="0"/>
                <a:ea typeface="Montserrat" pitchFamily="34" charset="-122"/>
                <a:cs typeface="Montserrat" pitchFamily="34" charset="-120"/>
              </a:rPr>
              <a:t>likelihood</a:t>
            </a:r>
            <a:r>
              <a:rPr lang="en-US" sz="2400" dirty="0">
                <a:solidFill>
                  <a:srgbClr val="384653"/>
                </a:solidFill>
                <a:latin typeface="Montserrat" pitchFamily="34" charset="0"/>
                <a:ea typeface="Montserrat" pitchFamily="34" charset="-122"/>
                <a:cs typeface="Montserrat" pitchFamily="34" charset="-120"/>
              </a:rPr>
              <a:t> and </a:t>
            </a:r>
            <a:r>
              <a:rPr lang="en-US" sz="2400" b="1" dirty="0">
                <a:solidFill>
                  <a:srgbClr val="384653"/>
                </a:solidFill>
                <a:latin typeface="Montserrat" pitchFamily="34" charset="0"/>
                <a:ea typeface="Montserrat" pitchFamily="34" charset="-122"/>
                <a:cs typeface="Montserrat" pitchFamily="34" charset="-120"/>
              </a:rPr>
              <a:t>impact</a:t>
            </a:r>
            <a:r>
              <a:rPr lang="en-US" sz="2400" dirty="0">
                <a:solidFill>
                  <a:srgbClr val="384653"/>
                </a:solidFill>
                <a:latin typeface="Montserrat" pitchFamily="34" charset="0"/>
                <a:ea typeface="Montserrat" pitchFamily="34" charset="-122"/>
                <a:cs typeface="Montserrat" pitchFamily="34" charset="-120"/>
              </a:rPr>
              <a:t> of each threat scenario</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Use a </a:t>
            </a:r>
            <a:r>
              <a:rPr lang="en-US" sz="2400" b="1" dirty="0">
                <a:solidFill>
                  <a:srgbClr val="384653"/>
                </a:solidFill>
                <a:latin typeface="Montserrat" pitchFamily="34" charset="0"/>
                <a:ea typeface="Montserrat" pitchFamily="34" charset="-122"/>
                <a:cs typeface="Montserrat" pitchFamily="34" charset="-120"/>
              </a:rPr>
              <a:t>risk matrix </a:t>
            </a:r>
            <a:r>
              <a:rPr lang="en-US" sz="2400" dirty="0">
                <a:solidFill>
                  <a:srgbClr val="384653"/>
                </a:solidFill>
                <a:latin typeface="Montserrat" pitchFamily="34" charset="0"/>
                <a:ea typeface="Montserrat" pitchFamily="34" charset="-122"/>
                <a:cs typeface="Montserrat" pitchFamily="34" charset="-120"/>
              </a:rPr>
              <a:t>to prioritize what matters most</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Focus on threats that can cause </a:t>
            </a:r>
            <a:r>
              <a:rPr lang="en-US" sz="2400" b="1" dirty="0">
                <a:solidFill>
                  <a:srgbClr val="384653"/>
                </a:solidFill>
                <a:latin typeface="Montserrat" pitchFamily="34" charset="0"/>
                <a:ea typeface="Montserrat" pitchFamily="34" charset="-122"/>
                <a:cs typeface="Montserrat" pitchFamily="34" charset="-120"/>
              </a:rPr>
              <a:t>unsafe traffic behavior</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Risk levels guide </a:t>
            </a:r>
            <a:r>
              <a:rPr lang="en-US" sz="2400" b="1" dirty="0">
                <a:solidFill>
                  <a:srgbClr val="384653"/>
                </a:solidFill>
                <a:latin typeface="Montserrat" pitchFamily="34" charset="0"/>
                <a:ea typeface="Montserrat" pitchFamily="34" charset="-122"/>
                <a:cs typeface="Montserrat" pitchFamily="34" charset="-120"/>
              </a:rPr>
              <a:t>mitigation planning</a:t>
            </a:r>
            <a:endParaRPr lang="en-US" sz="2400" b="1" dirty="0"/>
          </a:p>
        </p:txBody>
      </p:sp>
      <p:pic>
        <p:nvPicPr>
          <p:cNvPr id="7170" name="Picture 2">
            <a:extLst>
              <a:ext uri="{FF2B5EF4-FFF2-40B4-BE49-F238E27FC236}">
                <a16:creationId xmlns:a16="http://schemas.microsoft.com/office/drawing/2014/main" id="{9800EC69-2CB9-E06D-7733-16C4F8062EF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519" t="19388" r="11689" b="11735"/>
          <a:stretch/>
        </p:blipFill>
        <p:spPr bwMode="auto">
          <a:xfrm>
            <a:off x="4151312" y="4729170"/>
            <a:ext cx="9985375" cy="528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9920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dirty="0">
                <a:solidFill>
                  <a:srgbClr val="3A91B9"/>
                </a:solidFill>
                <a:latin typeface="Montserrat"/>
                <a:ea typeface="Montserrat"/>
                <a:cs typeface="Montserrat"/>
                <a:sym typeface="Montserrat"/>
              </a:rPr>
              <a:t>12</a:t>
            </a:r>
            <a:r>
              <a:rPr lang="en-US" sz="3999" b="1" i="0" u="none" strike="noStrike" cap="none" dirty="0">
                <a:solidFill>
                  <a:srgbClr val="3A91B9"/>
                </a:solidFill>
                <a:latin typeface="Montserrat"/>
                <a:ea typeface="Montserrat"/>
                <a:cs typeface="Montserrat"/>
                <a:sym typeface="Montserrat"/>
              </a:rPr>
              <a:t>. Step 4: Apply Security Controls</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16394189"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Select controls that reduce the </a:t>
            </a:r>
            <a:r>
              <a:rPr lang="en-US" sz="2400" b="1" dirty="0">
                <a:solidFill>
                  <a:srgbClr val="384653"/>
                </a:solidFill>
                <a:latin typeface="Montserrat" pitchFamily="34" charset="0"/>
                <a:ea typeface="Montserrat" pitchFamily="34" charset="-122"/>
                <a:cs typeface="Montserrat" pitchFamily="34" charset="-120"/>
              </a:rPr>
              <a:t>likelihood</a:t>
            </a:r>
            <a:r>
              <a:rPr lang="en-US" sz="2400" dirty="0">
                <a:solidFill>
                  <a:srgbClr val="384653"/>
                </a:solidFill>
                <a:latin typeface="Montserrat" pitchFamily="34" charset="0"/>
                <a:ea typeface="Montserrat" pitchFamily="34" charset="-122"/>
                <a:cs typeface="Montserrat" pitchFamily="34" charset="-120"/>
              </a:rPr>
              <a:t> or </a:t>
            </a:r>
            <a:r>
              <a:rPr lang="en-US" sz="2400" b="1" dirty="0">
                <a:solidFill>
                  <a:srgbClr val="384653"/>
                </a:solidFill>
                <a:latin typeface="Montserrat" pitchFamily="34" charset="0"/>
                <a:ea typeface="Montserrat" pitchFamily="34" charset="-122"/>
                <a:cs typeface="Montserrat" pitchFamily="34" charset="-120"/>
              </a:rPr>
              <a:t>impact of threats</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Strengthen </a:t>
            </a:r>
            <a:r>
              <a:rPr lang="en-US" sz="2400" b="1" dirty="0">
                <a:solidFill>
                  <a:srgbClr val="384653"/>
                </a:solidFill>
                <a:latin typeface="Montserrat" pitchFamily="34" charset="0"/>
                <a:ea typeface="Montserrat" pitchFamily="34" charset="-122"/>
                <a:cs typeface="Montserrat" pitchFamily="34" charset="-120"/>
              </a:rPr>
              <a:t>data integrity </a:t>
            </a:r>
            <a:r>
              <a:rPr lang="en-US" sz="2400" dirty="0">
                <a:solidFill>
                  <a:srgbClr val="384653"/>
                </a:solidFill>
                <a:latin typeface="Montserrat" pitchFamily="34" charset="0"/>
                <a:ea typeface="Montserrat" pitchFamily="34" charset="-122"/>
                <a:cs typeface="Montserrat" pitchFamily="34" charset="-120"/>
              </a:rPr>
              <a:t>and </a:t>
            </a:r>
            <a:r>
              <a:rPr lang="en-US" sz="2400" b="1" dirty="0">
                <a:solidFill>
                  <a:srgbClr val="384653"/>
                </a:solidFill>
                <a:latin typeface="Montserrat" pitchFamily="34" charset="0"/>
                <a:ea typeface="Montserrat" pitchFamily="34" charset="-122"/>
                <a:cs typeface="Montserrat" pitchFamily="34" charset="-120"/>
              </a:rPr>
              <a:t>system resilience</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Monitor effectiveness through </a:t>
            </a:r>
            <a:r>
              <a:rPr lang="en-US" sz="2400" b="1" dirty="0">
                <a:solidFill>
                  <a:srgbClr val="384653"/>
                </a:solidFill>
                <a:latin typeface="Montserrat" pitchFamily="34" charset="0"/>
                <a:ea typeface="Montserrat" pitchFamily="34" charset="-122"/>
                <a:cs typeface="Montserrat" pitchFamily="34" charset="-120"/>
              </a:rPr>
              <a:t>telemetry</a:t>
            </a:r>
            <a:r>
              <a:rPr lang="en-US" sz="2400" dirty="0">
                <a:solidFill>
                  <a:srgbClr val="384653"/>
                </a:solidFill>
                <a:latin typeface="Montserrat" pitchFamily="34" charset="0"/>
                <a:ea typeface="Montserrat" pitchFamily="34" charset="-122"/>
                <a:cs typeface="Montserrat" pitchFamily="34" charset="-120"/>
              </a:rPr>
              <a:t> and </a:t>
            </a:r>
            <a:r>
              <a:rPr lang="en-US" sz="2400" b="1" dirty="0">
                <a:solidFill>
                  <a:srgbClr val="384653"/>
                </a:solidFill>
                <a:latin typeface="Montserrat" pitchFamily="34" charset="0"/>
                <a:ea typeface="Montserrat" pitchFamily="34" charset="-122"/>
                <a:cs typeface="Montserrat" pitchFamily="34" charset="-120"/>
              </a:rPr>
              <a:t>alerts</a:t>
            </a:r>
          </a:p>
          <a:p>
            <a:pPr marL="342900" lvl="8" indent="-342900" algn="just">
              <a:lnSpc>
                <a:spcPct val="150000"/>
              </a:lnSpc>
              <a:buFont typeface="Arial" panose="020B0604020202020204" pitchFamily="34" charset="0"/>
              <a:buChar char="•"/>
            </a:pPr>
            <a:r>
              <a:rPr lang="en-US" sz="2400" dirty="0">
                <a:solidFill>
                  <a:srgbClr val="384653"/>
                </a:solidFill>
                <a:latin typeface="Montserrat" pitchFamily="34" charset="0"/>
                <a:ea typeface="Montserrat" pitchFamily="34" charset="-122"/>
                <a:cs typeface="Montserrat" pitchFamily="34" charset="-120"/>
              </a:rPr>
              <a:t>Validate improvements with </a:t>
            </a:r>
            <a:r>
              <a:rPr lang="en-US" sz="2400" b="1" dirty="0">
                <a:solidFill>
                  <a:srgbClr val="384653"/>
                </a:solidFill>
                <a:latin typeface="Montserrat" pitchFamily="34" charset="0"/>
                <a:ea typeface="Montserrat" pitchFamily="34" charset="-122"/>
                <a:cs typeface="Montserrat" pitchFamily="34" charset="-120"/>
              </a:rPr>
              <a:t>attack simulation</a:t>
            </a:r>
            <a:endParaRPr lang="en-US" sz="2400" b="1" dirty="0"/>
          </a:p>
        </p:txBody>
      </p:sp>
      <p:pic>
        <p:nvPicPr>
          <p:cNvPr id="8194" name="Picture 2">
            <a:extLst>
              <a:ext uri="{FF2B5EF4-FFF2-40B4-BE49-F238E27FC236}">
                <a16:creationId xmlns:a16="http://schemas.microsoft.com/office/drawing/2014/main" id="{8D05C8BC-6240-BE43-332E-CDE8B8A1466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864" t="18671" r="1005" b="15795"/>
          <a:stretch/>
        </p:blipFill>
        <p:spPr bwMode="auto">
          <a:xfrm>
            <a:off x="4326326" y="5155143"/>
            <a:ext cx="11002143" cy="4383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3848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dirty="0">
                <a:solidFill>
                  <a:srgbClr val="3A91B9"/>
                </a:solidFill>
                <a:latin typeface="Montserrat"/>
                <a:ea typeface="Montserrat"/>
                <a:cs typeface="Montserrat"/>
                <a:sym typeface="Montserrat"/>
              </a:rPr>
              <a:t>13</a:t>
            </a:r>
            <a:r>
              <a:rPr lang="en-US" sz="3999" b="1" i="0" u="none" strike="noStrike" cap="none" dirty="0">
                <a:solidFill>
                  <a:srgbClr val="3A91B9"/>
                </a:solidFill>
                <a:latin typeface="Montserrat"/>
                <a:ea typeface="Montserrat"/>
                <a:cs typeface="Montserrat"/>
                <a:sym typeface="Montserrat"/>
              </a:rPr>
              <a:t>. Step 5: Reporting</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16394189"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Document assessment </a:t>
            </a:r>
            <a:r>
              <a:rPr lang="en-US" sz="2400" dirty="0">
                <a:solidFill>
                  <a:srgbClr val="384653"/>
                </a:solidFill>
                <a:latin typeface="Montserrat" pitchFamily="34" charset="0"/>
                <a:ea typeface="Montserrat" pitchFamily="34" charset="-122"/>
                <a:cs typeface="Montserrat" pitchFamily="34" charset="-120"/>
              </a:rPr>
              <a:t>results and applied controls</a:t>
            </a:r>
          </a:p>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Explain residual risk </a:t>
            </a:r>
            <a:r>
              <a:rPr lang="en-US" sz="2400" dirty="0">
                <a:solidFill>
                  <a:srgbClr val="384653"/>
                </a:solidFill>
                <a:latin typeface="Montserrat" pitchFamily="34" charset="0"/>
                <a:ea typeface="Montserrat" pitchFamily="34" charset="-122"/>
                <a:cs typeface="Montserrat" pitchFamily="34" charset="-120"/>
              </a:rPr>
              <a:t>after mitigation</a:t>
            </a:r>
          </a:p>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Share recommendations </a:t>
            </a:r>
            <a:r>
              <a:rPr lang="en-US" sz="2400" dirty="0">
                <a:solidFill>
                  <a:srgbClr val="384653"/>
                </a:solidFill>
                <a:latin typeface="Montserrat" pitchFamily="34" charset="0"/>
                <a:ea typeface="Montserrat" pitchFamily="34" charset="-122"/>
                <a:cs typeface="Montserrat" pitchFamily="34" charset="-120"/>
              </a:rPr>
              <a:t>for improvement</a:t>
            </a:r>
          </a:p>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Communicate findings </a:t>
            </a:r>
            <a:r>
              <a:rPr lang="en-US" sz="2400" dirty="0">
                <a:solidFill>
                  <a:srgbClr val="384653"/>
                </a:solidFill>
                <a:latin typeface="Montserrat" pitchFamily="34" charset="0"/>
                <a:ea typeface="Montserrat" pitchFamily="34" charset="-122"/>
                <a:cs typeface="Montserrat" pitchFamily="34" charset="-120"/>
              </a:rPr>
              <a:t>to decision makers</a:t>
            </a:r>
            <a:endParaRPr lang="en-US" sz="2400" b="1" dirty="0"/>
          </a:p>
        </p:txBody>
      </p:sp>
      <p:pic>
        <p:nvPicPr>
          <p:cNvPr id="9218" name="Picture 2">
            <a:extLst>
              <a:ext uri="{FF2B5EF4-FFF2-40B4-BE49-F238E27FC236}">
                <a16:creationId xmlns:a16="http://schemas.microsoft.com/office/drawing/2014/main" id="{DE268590-AB3D-95C3-2DF3-6108FAEDC9C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7118" b="7563"/>
          <a:stretch/>
        </p:blipFill>
        <p:spPr bwMode="auto">
          <a:xfrm>
            <a:off x="4276897" y="4661866"/>
            <a:ext cx="8607829" cy="5625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660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71450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dirty="0">
                <a:solidFill>
                  <a:srgbClr val="3A91B9"/>
                </a:solidFill>
                <a:latin typeface="Montserrat"/>
                <a:ea typeface="Montserrat"/>
                <a:cs typeface="Montserrat"/>
                <a:sym typeface="Montserrat"/>
              </a:rPr>
              <a:t>14</a:t>
            </a:r>
            <a:r>
              <a:rPr lang="en-US" sz="3999" b="1" i="0" u="none" strike="noStrike" cap="none" dirty="0">
                <a:solidFill>
                  <a:srgbClr val="3A91B9"/>
                </a:solidFill>
                <a:latin typeface="Montserrat"/>
                <a:ea typeface="Montserrat"/>
                <a:cs typeface="Montserrat"/>
                <a:sym typeface="Montserrat"/>
              </a:rPr>
              <a:t>. Summary of Part1 (What We Have Learned)</a:t>
            </a:r>
            <a:endParaRPr dirty="0"/>
          </a:p>
        </p:txBody>
      </p:sp>
      <p:sp>
        <p:nvSpPr>
          <p:cNvPr id="10" name="Text 1">
            <a:extLst>
              <a:ext uri="{FF2B5EF4-FFF2-40B4-BE49-F238E27FC236}">
                <a16:creationId xmlns:a16="http://schemas.microsoft.com/office/drawing/2014/main" id="{D6CB4BC9-037C-4086-AAC6-6D3AF47D7724}"/>
              </a:ext>
            </a:extLst>
          </p:cNvPr>
          <p:cNvSpPr/>
          <p:nvPr/>
        </p:nvSpPr>
        <p:spPr>
          <a:xfrm>
            <a:off x="1028700" y="2514179"/>
            <a:ext cx="7658101" cy="6810795"/>
          </a:xfrm>
          <a:prstGeom prst="rect">
            <a:avLst/>
          </a:prstGeom>
          <a:noFill/>
          <a:ln/>
        </p:spPr>
        <p:txBody>
          <a:bodyPr wrap="square" lIns="0" tIns="0" rIns="0" bIns="0" rtlCol="0" anchor="t"/>
          <a:lstStyle/>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Defined the scenario context</a:t>
            </a:r>
            <a:r>
              <a:rPr lang="en-US" sz="2400" dirty="0">
                <a:solidFill>
                  <a:srgbClr val="384653"/>
                </a:solidFill>
                <a:latin typeface="Montserrat" pitchFamily="34" charset="0"/>
                <a:ea typeface="Montserrat" pitchFamily="34" charset="-122"/>
                <a:cs typeface="Montserrat" pitchFamily="34" charset="-120"/>
              </a:rPr>
              <a:t>: </a:t>
            </a:r>
            <a:r>
              <a:rPr lang="en-US" sz="2400" dirty="0" err="1">
                <a:solidFill>
                  <a:srgbClr val="384653"/>
                </a:solidFill>
                <a:latin typeface="Montserrat" pitchFamily="34" charset="0"/>
                <a:ea typeface="Montserrat" pitchFamily="34" charset="-122"/>
                <a:cs typeface="Montserrat" pitchFamily="34" charset="-120"/>
              </a:rPr>
              <a:t>NeoCity</a:t>
            </a:r>
            <a:r>
              <a:rPr lang="en-US" sz="2400" dirty="0">
                <a:solidFill>
                  <a:srgbClr val="384653"/>
                </a:solidFill>
                <a:latin typeface="Montserrat" pitchFamily="34" charset="0"/>
                <a:ea typeface="Montserrat" pitchFamily="34" charset="-122"/>
                <a:cs typeface="Montserrat" pitchFamily="34" charset="-120"/>
              </a:rPr>
              <a:t> and its connected traffic-signal architecture</a:t>
            </a:r>
          </a:p>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Identified key stakeholders and assets</a:t>
            </a:r>
          </a:p>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Mapped potential threats </a:t>
            </a:r>
            <a:r>
              <a:rPr lang="en-US" sz="2400" dirty="0">
                <a:solidFill>
                  <a:srgbClr val="384653"/>
                </a:solidFill>
                <a:latin typeface="Montserrat" pitchFamily="34" charset="0"/>
                <a:ea typeface="Montserrat" pitchFamily="34" charset="-122"/>
                <a:cs typeface="Montserrat" pitchFamily="34" charset="-120"/>
              </a:rPr>
              <a:t>affecting confidentiality, integrity, and availability</a:t>
            </a:r>
          </a:p>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Applied a structured risk analysis workflow</a:t>
            </a:r>
          </a:p>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Reviewed security controls </a:t>
            </a:r>
            <a:r>
              <a:rPr lang="en-US" sz="2400" dirty="0">
                <a:solidFill>
                  <a:srgbClr val="384653"/>
                </a:solidFill>
                <a:latin typeface="Montserrat" pitchFamily="34" charset="0"/>
                <a:ea typeface="Montserrat" pitchFamily="34" charset="-122"/>
                <a:cs typeface="Montserrat" pitchFamily="34" charset="-120"/>
              </a:rPr>
              <a:t>used in the lab (monitoring, validation, access control)</a:t>
            </a:r>
          </a:p>
          <a:p>
            <a:pPr marL="342900" lvl="8" indent="-342900" algn="just">
              <a:lnSpc>
                <a:spcPct val="150000"/>
              </a:lnSpc>
              <a:buFont typeface="Arial" panose="020B0604020202020204" pitchFamily="34" charset="0"/>
              <a:buChar char="•"/>
            </a:pPr>
            <a:r>
              <a:rPr lang="en-US" sz="2400" b="1" dirty="0">
                <a:solidFill>
                  <a:srgbClr val="384653"/>
                </a:solidFill>
                <a:latin typeface="Montserrat" pitchFamily="34" charset="0"/>
                <a:ea typeface="Montserrat" pitchFamily="34" charset="-122"/>
                <a:cs typeface="Montserrat" pitchFamily="34" charset="-120"/>
              </a:rPr>
              <a:t>Documented results </a:t>
            </a:r>
            <a:r>
              <a:rPr lang="en-US" sz="2400" dirty="0">
                <a:solidFill>
                  <a:srgbClr val="384653"/>
                </a:solidFill>
                <a:latin typeface="Montserrat" pitchFamily="34" charset="0"/>
                <a:ea typeface="Montserrat" pitchFamily="34" charset="-122"/>
                <a:cs typeface="Montserrat" pitchFamily="34" charset="-120"/>
              </a:rPr>
              <a:t>to support continuous improvement</a:t>
            </a:r>
            <a:endParaRPr lang="en-US" sz="2400" dirty="0"/>
          </a:p>
        </p:txBody>
      </p:sp>
      <p:pic>
        <p:nvPicPr>
          <p:cNvPr id="10242" name="Picture 2">
            <a:extLst>
              <a:ext uri="{FF2B5EF4-FFF2-40B4-BE49-F238E27FC236}">
                <a16:creationId xmlns:a16="http://schemas.microsoft.com/office/drawing/2014/main" id="{53224D33-818D-D967-043D-172050B5838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9782" b="5095"/>
          <a:stretch/>
        </p:blipFill>
        <p:spPr bwMode="auto">
          <a:xfrm>
            <a:off x="9144000" y="1786235"/>
            <a:ext cx="9172451" cy="7582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933913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3557</TotalTime>
  <Words>6024</Words>
  <Application>Microsoft Office PowerPoint</Application>
  <PresentationFormat>Personalizado</PresentationFormat>
  <Paragraphs>182</Paragraphs>
  <Slides>15</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Montserrat</vt:lpstr>
      <vt:lpstr>Arial</vt:lpstr>
      <vt:lpstr>Times New Roman</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Álex SATRD</dc:creator>
  <cp:lastModifiedBy>Benjamin Molina Moreno</cp:lastModifiedBy>
  <cp:revision>189</cp:revision>
  <dcterms:created xsi:type="dcterms:W3CDTF">2006-08-16T00:00:00Z</dcterms:created>
  <dcterms:modified xsi:type="dcterms:W3CDTF">2025-12-04T10:51:39Z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0x01010072C04B74EAD8E9439FAD3EE2FEDD4B27</vt:lpwstr>
  </property>
</Properties>
</file>
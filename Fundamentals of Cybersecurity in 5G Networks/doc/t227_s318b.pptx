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79" r:id="rId2"/>
    <p:sldId id="314" r:id="rId3"/>
    <p:sldId id="315" r:id="rId4"/>
    <p:sldId id="316" r:id="rId5"/>
    <p:sldId id="317" r:id="rId6"/>
    <p:sldId id="318" r:id="rId7"/>
    <p:sldId id="319" r:id="rId8"/>
    <p:sldId id="320" r:id="rId9"/>
    <p:sldId id="322" r:id="rId10"/>
    <p:sldId id="323" r:id="rId11"/>
    <p:sldId id="324" r:id="rId12"/>
    <p:sldId id="325" r:id="rId13"/>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gzqELEwXxyZjTYZ7hdgkqMKI7z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A91B9"/>
    <a:srgbClr val="D4E9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61ABAF-49AD-4C88-8686-DBCB7EECE15C}">
  <a:tblStyle styleId="{8E61ABAF-49AD-4C88-8686-DBCB7EECE15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F3E9"/>
          </a:solidFill>
        </a:fill>
      </a:tcStyle>
    </a:wholeTbl>
    <a:band1H>
      <a:tcTxStyle/>
      <a:tcStyle>
        <a:tcBdr/>
        <a:fill>
          <a:solidFill>
            <a:srgbClr val="DEE7D0"/>
          </a:solidFill>
        </a:fill>
      </a:tcStyle>
    </a:band1H>
    <a:band2H>
      <a:tcTxStyle/>
      <a:tcStyle>
        <a:tcBdr/>
      </a:tcStyle>
    </a:band2H>
    <a:band1V>
      <a:tcTxStyle/>
      <a:tcStyle>
        <a:tcBdr/>
        <a:fill>
          <a:solidFill>
            <a:srgbClr val="DEE7D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6" autoAdjust="0"/>
    <p:restoredTop sz="65008" autoAdjust="0"/>
  </p:normalViewPr>
  <p:slideViewPr>
    <p:cSldViewPr snapToGrid="0">
      <p:cViewPr varScale="1">
        <p:scale>
          <a:sx n="71" d="100"/>
          <a:sy n="71" d="100"/>
        </p:scale>
        <p:origin x="2324" y="5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GB" dirty="0"/>
              <a:t>This session continues the </a:t>
            </a:r>
            <a:r>
              <a:rPr lang="en-GB" b="1" dirty="0"/>
              <a:t>PBL activity</a:t>
            </a:r>
            <a:r>
              <a:rPr lang="en-GB" dirty="0"/>
              <a:t> introduced in Part 1, but now our focus shifts from understanding the scenario to </a:t>
            </a:r>
            <a:r>
              <a:rPr lang="en-GB" b="1" dirty="0"/>
              <a:t>hands-on work</a:t>
            </a:r>
            <a:r>
              <a:rPr lang="en-GB" dirty="0"/>
              <a:t> with the lab environment. In </a:t>
            </a:r>
            <a:r>
              <a:rPr lang="en-GB" b="1" dirty="0"/>
              <a:t>Part 2</a:t>
            </a:r>
            <a:r>
              <a:rPr lang="en-GB" dirty="0"/>
              <a:t>, you will validate that the </a:t>
            </a:r>
            <a:r>
              <a:rPr lang="en-GB" b="1" dirty="0" err="1"/>
              <a:t>NeoCity</a:t>
            </a:r>
            <a:r>
              <a:rPr lang="en-GB" b="1" dirty="0"/>
              <a:t> testbed</a:t>
            </a:r>
            <a:r>
              <a:rPr lang="en-GB" dirty="0"/>
              <a:t> is running correctly and then prepare the ground for </a:t>
            </a:r>
            <a:r>
              <a:rPr lang="en-GB" b="1" dirty="0"/>
              <a:t>threat modelling</a:t>
            </a:r>
            <a:r>
              <a:rPr lang="en-GB" dirty="0"/>
              <a:t> and </a:t>
            </a:r>
            <a:r>
              <a:rPr lang="en-GB" b="1" dirty="0"/>
              <a:t>risk assessment</a:t>
            </a:r>
            <a:r>
              <a:rPr lang="en-GB" dirty="0"/>
              <a:t>.</a:t>
            </a:r>
          </a:p>
          <a:p>
            <a:r>
              <a:rPr lang="en-GB" dirty="0"/>
              <a:t>The first objective is to confirm that the </a:t>
            </a:r>
            <a:r>
              <a:rPr lang="en-GB" b="1" dirty="0"/>
              <a:t>Docker-based lab</a:t>
            </a:r>
            <a:r>
              <a:rPr lang="en-GB" dirty="0"/>
              <a:t> is healthy. This includes checking that all containers are started, verifying that the expected </a:t>
            </a:r>
            <a:r>
              <a:rPr lang="en-GB" b="1" dirty="0"/>
              <a:t>ports</a:t>
            </a:r>
            <a:r>
              <a:rPr lang="en-GB" dirty="0"/>
              <a:t> are open, and that key services such as the </a:t>
            </a:r>
            <a:r>
              <a:rPr lang="en-GB" b="1" dirty="0"/>
              <a:t>MEC application</a:t>
            </a:r>
            <a:r>
              <a:rPr lang="en-GB" dirty="0"/>
              <a:t>, </a:t>
            </a:r>
            <a:r>
              <a:rPr lang="en-GB" b="1" dirty="0"/>
              <a:t>Prometheus</a:t>
            </a:r>
            <a:r>
              <a:rPr lang="en-GB" dirty="0"/>
              <a:t>, </a:t>
            </a:r>
            <a:r>
              <a:rPr lang="en-GB" b="1" dirty="0"/>
              <a:t>Grafana</a:t>
            </a:r>
            <a:r>
              <a:rPr lang="en-GB" dirty="0"/>
              <a:t>, and </a:t>
            </a:r>
            <a:r>
              <a:rPr lang="en-GB" b="1" dirty="0"/>
              <a:t>Suricata</a:t>
            </a:r>
            <a:r>
              <a:rPr lang="en-GB" dirty="0"/>
              <a:t> are reachable. Ensuring a stable environment prevents misinterpretation of later results and separates genuine security issues from simple configuration errors.</a:t>
            </a:r>
          </a:p>
          <a:p>
            <a:r>
              <a:rPr lang="en-GB" dirty="0"/>
              <a:t>Once the environment is validated, we will start collecting </a:t>
            </a:r>
            <a:r>
              <a:rPr lang="en-GB" b="1" dirty="0"/>
              <a:t>evidence</a:t>
            </a:r>
            <a:r>
              <a:rPr lang="en-GB" dirty="0"/>
              <a:t> that will feed directly into our risk analysis. You will learn how to inspect container status, read basic logs, and confirm that </a:t>
            </a:r>
            <a:r>
              <a:rPr lang="en-GB" b="1" dirty="0"/>
              <a:t>traffic simulation</a:t>
            </a:r>
            <a:r>
              <a:rPr lang="en-GB" dirty="0"/>
              <a:t> is producing data. These observations will be used to map </a:t>
            </a:r>
            <a:r>
              <a:rPr lang="en-GB" b="1" dirty="0"/>
              <a:t>data flows</a:t>
            </a:r>
            <a:r>
              <a:rPr lang="en-GB" dirty="0"/>
              <a:t>, identify </a:t>
            </a:r>
            <a:r>
              <a:rPr lang="en-GB" b="1" dirty="0"/>
              <a:t>trust boundaries</a:t>
            </a:r>
            <a:r>
              <a:rPr lang="en-GB" dirty="0"/>
              <a:t>, and highlight potential </a:t>
            </a:r>
            <a:r>
              <a:rPr lang="en-GB" b="1" dirty="0"/>
              <a:t>attack surfaces</a:t>
            </a:r>
            <a:r>
              <a:rPr lang="en-GB" dirty="0"/>
              <a:t>.</a:t>
            </a:r>
          </a:p>
          <a:p>
            <a:r>
              <a:rPr lang="en-GB" dirty="0"/>
              <a:t>The second major objective is to prepare for </a:t>
            </a:r>
            <a:r>
              <a:rPr lang="en-GB" b="1" dirty="0"/>
              <a:t>threat modelling</a:t>
            </a:r>
            <a:r>
              <a:rPr lang="en-GB" dirty="0"/>
              <a:t> of the </a:t>
            </a:r>
            <a:r>
              <a:rPr lang="en-GB" b="1" dirty="0"/>
              <a:t>Connected Traffic Signal System</a:t>
            </a:r>
            <a:r>
              <a:rPr lang="en-GB" dirty="0"/>
              <a:t>. Building on the workflow from Part 1, we will focus on concrete threats related to telemetry anomalies, data tampering, service disruption, and unauthorized access. The goal is to translate abstract risk concepts into specific </a:t>
            </a:r>
            <a:r>
              <a:rPr lang="en-GB" b="1" dirty="0"/>
              <a:t>threat scenarios</a:t>
            </a:r>
            <a:r>
              <a:rPr lang="en-GB" dirty="0"/>
              <a:t> grounded in the </a:t>
            </a:r>
            <a:r>
              <a:rPr lang="en-GB" dirty="0" err="1"/>
              <a:t>NeoCity</a:t>
            </a:r>
            <a:r>
              <a:rPr lang="en-GB" dirty="0"/>
              <a:t> architecture.</a:t>
            </a:r>
          </a:p>
          <a:p>
            <a:r>
              <a:rPr lang="en-GB" dirty="0"/>
              <a:t>By the end of Part 2, you should be confident that the lab is functioning as intended, and you will have a structured view of where threats can emerge in this 5G-enabled smart city service. This will position you to perform a more detailed </a:t>
            </a:r>
            <a:r>
              <a:rPr lang="en-GB" b="1" dirty="0"/>
              <a:t>risk evaluation</a:t>
            </a:r>
            <a:r>
              <a:rPr lang="en-GB" dirty="0"/>
              <a:t> and to refine </a:t>
            </a:r>
            <a:r>
              <a:rPr lang="en-GB" b="1" dirty="0"/>
              <a:t>security controls</a:t>
            </a:r>
            <a:r>
              <a:rPr lang="en-GB" dirty="0"/>
              <a:t> in the final part of the PBL.</a:t>
            </a:r>
          </a:p>
        </p:txBody>
      </p:sp>
      <p:sp>
        <p:nvSpPr>
          <p:cNvPr id="404" name="Google Shape;4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This part of the activity transitions into fully practical work, and the objectives reflect that shift. The first goal is to </a:t>
            </a:r>
            <a:r>
              <a:rPr lang="en-GB" b="1" dirty="0"/>
              <a:t>validate the </a:t>
            </a:r>
            <a:r>
              <a:rPr lang="en-GB" b="1" dirty="0" err="1"/>
              <a:t>NeoCity</a:t>
            </a:r>
            <a:r>
              <a:rPr lang="en-GB" b="1" dirty="0"/>
              <a:t> lab environment</a:t>
            </a:r>
            <a:r>
              <a:rPr lang="en-GB" dirty="0"/>
              <a:t>. Before performing any cybersecurity analysis, we must make sure the testbed is running correctly. A significant number of cybersecurity issues arise not because systems are attacked but because of </a:t>
            </a:r>
            <a:r>
              <a:rPr lang="en-GB" b="1" dirty="0"/>
              <a:t>misconfigurations</a:t>
            </a:r>
            <a:r>
              <a:rPr lang="en-GB" dirty="0"/>
              <a:t> or </a:t>
            </a:r>
            <a:r>
              <a:rPr lang="en-GB" b="1" dirty="0"/>
              <a:t>service failures</a:t>
            </a:r>
            <a:r>
              <a:rPr lang="en-GB" dirty="0"/>
              <a:t>, so this validation step is essential.</a:t>
            </a:r>
          </a:p>
          <a:p>
            <a:r>
              <a:rPr lang="en-GB" dirty="0"/>
              <a:t>You will inspect the </a:t>
            </a:r>
            <a:r>
              <a:rPr lang="en-GB" b="1" dirty="0"/>
              <a:t>Docker containers</a:t>
            </a:r>
            <a:r>
              <a:rPr lang="en-GB" dirty="0"/>
              <a:t> that compose the </a:t>
            </a:r>
            <a:r>
              <a:rPr lang="en-GB" dirty="0" err="1"/>
              <a:t>NeoCity</a:t>
            </a:r>
            <a:r>
              <a:rPr lang="en-GB" dirty="0"/>
              <a:t> infrastructure, ensuring that </a:t>
            </a:r>
            <a:r>
              <a:rPr lang="en-GB" b="1" dirty="0"/>
              <a:t>Open5GS</a:t>
            </a:r>
            <a:r>
              <a:rPr lang="en-GB" dirty="0"/>
              <a:t>, the </a:t>
            </a:r>
            <a:r>
              <a:rPr lang="en-GB" b="1" dirty="0"/>
              <a:t>MEC application</a:t>
            </a:r>
            <a:r>
              <a:rPr lang="en-GB" dirty="0"/>
              <a:t>, </a:t>
            </a:r>
            <a:r>
              <a:rPr lang="en-GB" b="1" dirty="0"/>
              <a:t>Suricata</a:t>
            </a:r>
            <a:r>
              <a:rPr lang="en-GB" dirty="0"/>
              <a:t>, </a:t>
            </a:r>
            <a:r>
              <a:rPr lang="en-GB" b="1" dirty="0"/>
              <a:t>Prometheus</a:t>
            </a:r>
            <a:r>
              <a:rPr lang="en-GB" dirty="0"/>
              <a:t>, </a:t>
            </a:r>
            <a:r>
              <a:rPr lang="en-GB" b="1" dirty="0"/>
              <a:t>Grafana</a:t>
            </a:r>
            <a:r>
              <a:rPr lang="en-GB" dirty="0"/>
              <a:t>, and the </a:t>
            </a:r>
            <a:r>
              <a:rPr lang="en-GB" b="1" dirty="0"/>
              <a:t>traffic generator</a:t>
            </a:r>
            <a:r>
              <a:rPr lang="en-GB" dirty="0"/>
              <a:t> are all running properly. We will confirm that each component exposes the correct </a:t>
            </a:r>
            <a:r>
              <a:rPr lang="en-GB" b="1" dirty="0"/>
              <a:t>network ports</a:t>
            </a:r>
            <a:r>
              <a:rPr lang="en-GB" dirty="0"/>
              <a:t>, responds to basic connectivity checks, and integrates with the rest of the system.</a:t>
            </a:r>
          </a:p>
          <a:p>
            <a:r>
              <a:rPr lang="en-GB" dirty="0"/>
              <a:t>Next, we will </a:t>
            </a:r>
            <a:r>
              <a:rPr lang="en-GB" b="1" dirty="0"/>
              <a:t>start the traffic simulation</a:t>
            </a:r>
            <a:r>
              <a:rPr lang="en-GB" dirty="0"/>
              <a:t> to generate the telemetry used by smart traffic lights. This provides the operational data that both monitoring tools and the attack surface rely on. We will verify that monitoring dashboards receive real-time traffic events, which will later allow us to detect security anomalies and validate countermeasures.</a:t>
            </a:r>
          </a:p>
          <a:p>
            <a:r>
              <a:rPr lang="en-GB" dirty="0"/>
              <a:t>By carrying out these checks, you collect </a:t>
            </a:r>
            <a:r>
              <a:rPr lang="en-GB" b="1" dirty="0"/>
              <a:t>evidence</a:t>
            </a:r>
            <a:r>
              <a:rPr lang="en-GB" dirty="0"/>
              <a:t> that will be directly applied in the threat modelling exercise. Observing how data moves across components helps identify </a:t>
            </a:r>
            <a:r>
              <a:rPr lang="en-GB" b="1" dirty="0"/>
              <a:t>trust boundaries</a:t>
            </a:r>
            <a:r>
              <a:rPr lang="en-GB" dirty="0"/>
              <a:t>, exposed interfaces, and possible </a:t>
            </a:r>
            <a:r>
              <a:rPr lang="en-GB" b="1" dirty="0"/>
              <a:t>entry points for attackers</a:t>
            </a:r>
            <a:r>
              <a:rPr lang="en-GB" dirty="0"/>
              <a:t>.</a:t>
            </a:r>
          </a:p>
          <a:p>
            <a:r>
              <a:rPr lang="en-GB" dirty="0"/>
              <a:t>In summary, these objectives ensure that you are operationally prepared. Once the environment is confirmed to be healthy, we can confidently proceed with </a:t>
            </a:r>
            <a:r>
              <a:rPr lang="en-GB" b="1" dirty="0"/>
              <a:t>threat identification</a:t>
            </a:r>
            <a:r>
              <a:rPr lang="en-GB" dirty="0"/>
              <a:t>, </a:t>
            </a:r>
            <a:r>
              <a:rPr lang="en-GB" b="1" dirty="0"/>
              <a:t>risk evaluation</a:t>
            </a:r>
            <a:r>
              <a:rPr lang="en-GB" dirty="0"/>
              <a:t>, and </a:t>
            </a:r>
            <a:r>
              <a:rPr lang="en-GB" b="1" dirty="0"/>
              <a:t>security enhancement</a:t>
            </a:r>
            <a:r>
              <a:rPr lang="en-GB" dirty="0"/>
              <a:t> during subsequent steps of the PBL.</a:t>
            </a: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282025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You are working with a </a:t>
            </a:r>
            <a:r>
              <a:rPr lang="en-GB" b="1" dirty="0"/>
              <a:t>containerised lab</a:t>
            </a:r>
            <a:r>
              <a:rPr lang="en-GB" dirty="0"/>
              <a:t> where each service has a specific role in the </a:t>
            </a:r>
            <a:r>
              <a:rPr lang="en-GB" dirty="0" err="1"/>
              <a:t>NeoCity</a:t>
            </a:r>
            <a:r>
              <a:rPr lang="en-GB" dirty="0"/>
              <a:t> scenario. This slide helps you understand what runs inside Docker before you start validating and using the tools.</a:t>
            </a:r>
          </a:p>
          <a:p>
            <a:r>
              <a:rPr lang="en-GB" dirty="0"/>
              <a:t>The </a:t>
            </a:r>
            <a:r>
              <a:rPr lang="en-GB" b="1" dirty="0"/>
              <a:t>mec stub</a:t>
            </a:r>
            <a:r>
              <a:rPr lang="en-GB" dirty="0"/>
              <a:t> container represents the </a:t>
            </a:r>
            <a:r>
              <a:rPr lang="en-GB" b="1" dirty="0"/>
              <a:t>MEC application</a:t>
            </a:r>
            <a:r>
              <a:rPr lang="en-GB" dirty="0"/>
              <a:t> responsible for processing telemetry and making traffic control decisions. It is the logical focus of many of the threats that you will analyse later in the PBL.</a:t>
            </a:r>
          </a:p>
          <a:p>
            <a:r>
              <a:rPr lang="en-GB" dirty="0"/>
              <a:t>The </a:t>
            </a:r>
            <a:r>
              <a:rPr lang="en-GB" b="1" dirty="0" err="1"/>
              <a:t>mosquitto</a:t>
            </a:r>
            <a:r>
              <a:rPr lang="en-GB" dirty="0"/>
              <a:t> container acts as the </a:t>
            </a:r>
            <a:r>
              <a:rPr lang="en-GB" b="1" dirty="0"/>
              <a:t>telemetry broker</a:t>
            </a:r>
            <a:r>
              <a:rPr lang="en-GB" dirty="0"/>
              <a:t>, carrying messages from simulated roadside devices into the MEC layer. If this service is down, you will not see realistic data flows in the rest of the lab. Although you do not directly interact with it in this scenario, Suricata monitors its traffic to detect abuse that could disrupt availability, which is a key security requirement in connected urban services.</a:t>
            </a:r>
          </a:p>
          <a:p>
            <a:r>
              <a:rPr lang="en-GB" dirty="0"/>
              <a:t>The </a:t>
            </a:r>
            <a:r>
              <a:rPr lang="en-GB" b="1" dirty="0" err="1"/>
              <a:t>suricata</a:t>
            </a:r>
            <a:r>
              <a:rPr lang="en-GB" dirty="0"/>
              <a:t> container provides network </a:t>
            </a:r>
            <a:r>
              <a:rPr lang="en-GB" b="1" dirty="0"/>
              <a:t>intrusion detection</a:t>
            </a:r>
            <a:r>
              <a:rPr lang="en-GB" dirty="0"/>
              <a:t>. It inspects traffic between components and raises alerts when it observes suspicious flows or signatures. Suricata is one of your main sources of </a:t>
            </a:r>
            <a:r>
              <a:rPr lang="en-GB" b="1" dirty="0"/>
              <a:t>security evidence</a:t>
            </a:r>
            <a:r>
              <a:rPr lang="en-GB" dirty="0"/>
              <a:t>.</a:t>
            </a:r>
          </a:p>
          <a:p>
            <a:r>
              <a:rPr lang="en-GB" dirty="0"/>
              <a:t>The </a:t>
            </a:r>
            <a:r>
              <a:rPr lang="en-GB" b="1" dirty="0" err="1"/>
              <a:t>prometheus</a:t>
            </a:r>
            <a:r>
              <a:rPr lang="en-GB" dirty="0"/>
              <a:t> container continuously collects </a:t>
            </a:r>
            <a:r>
              <a:rPr lang="en-GB" b="1" dirty="0"/>
              <a:t>metrics</a:t>
            </a:r>
            <a:r>
              <a:rPr lang="en-GB" dirty="0"/>
              <a:t> about the behaviour of the other services, such as request rates and latency. The </a:t>
            </a:r>
            <a:r>
              <a:rPr lang="en-GB" b="1" dirty="0" err="1"/>
              <a:t>grafana</a:t>
            </a:r>
            <a:r>
              <a:rPr lang="en-GB" dirty="0"/>
              <a:t> container reads these metrics and displays them in dashboards, giving you a visual view of what is happening in the system.</a:t>
            </a:r>
          </a:p>
          <a:p>
            <a:r>
              <a:rPr lang="en-GB" dirty="0"/>
              <a:t>Finally, the </a:t>
            </a:r>
            <a:r>
              <a:rPr lang="en-GB" b="1" dirty="0"/>
              <a:t>attacker</a:t>
            </a:r>
            <a:r>
              <a:rPr lang="en-GB" dirty="0"/>
              <a:t> container is a controlled environment where you will run scripts or commands that simulate misconfigurations and attacks. It allows you to create realistic security events without touching your host system.</a:t>
            </a:r>
          </a:p>
          <a:p>
            <a:r>
              <a:rPr lang="en-GB" dirty="0"/>
              <a:t>In summary, these services together form the </a:t>
            </a:r>
            <a:r>
              <a:rPr lang="en-GB" b="1" dirty="0"/>
              <a:t>operational playground</a:t>
            </a:r>
            <a:r>
              <a:rPr lang="en-GB" dirty="0"/>
              <a:t> for this PBL. </a:t>
            </a:r>
          </a:p>
          <a:p>
            <a:endParaRPr lang="en-GB" dirty="0"/>
          </a:p>
          <a:p>
            <a:r>
              <a:rPr lang="en-GB" dirty="0"/>
              <a:t>When validating your lab environment, one of the first and most effective checks you can perform is running the </a:t>
            </a:r>
            <a:r>
              <a:rPr lang="en-GB" b="1" dirty="0"/>
              <a:t>docker </a:t>
            </a:r>
            <a:r>
              <a:rPr lang="en-GB" b="1" dirty="0" err="1"/>
              <a:t>ps</a:t>
            </a:r>
            <a:r>
              <a:rPr lang="en-GB" b="1" dirty="0"/>
              <a:t> -a</a:t>
            </a:r>
            <a:r>
              <a:rPr lang="en-GB" dirty="0"/>
              <a:t> command. This command lists every container that exists on your system, including those that are currently </a:t>
            </a:r>
            <a:r>
              <a:rPr lang="en-GB" b="1" dirty="0"/>
              <a:t>Up</a:t>
            </a:r>
            <a:r>
              <a:rPr lang="en-GB" dirty="0"/>
              <a:t> and those that have </a:t>
            </a:r>
            <a:r>
              <a:rPr lang="en-GB" b="1" dirty="0"/>
              <a:t>Exited</a:t>
            </a:r>
            <a:r>
              <a:rPr lang="en-GB" dirty="0"/>
              <a:t>. Understanding this output will help you quickly diagnose whether your lab is ready to support the upcoming security exercises.</a:t>
            </a:r>
          </a:p>
          <a:p>
            <a:r>
              <a:rPr lang="en-GB" dirty="0"/>
              <a:t>You can start by confirming that the </a:t>
            </a:r>
            <a:r>
              <a:rPr lang="en-GB" b="1" dirty="0"/>
              <a:t>core services</a:t>
            </a:r>
            <a:r>
              <a:rPr lang="en-GB" dirty="0"/>
              <a:t> are in a healthy state. In this lab, the most important containers are </a:t>
            </a:r>
            <a:r>
              <a:rPr lang="en-GB" b="1" dirty="0" err="1"/>
              <a:t>mec</a:t>
            </a:r>
            <a:r>
              <a:rPr lang="en-GB" b="1" dirty="0"/>
              <a:t>-stub</a:t>
            </a:r>
            <a:r>
              <a:rPr lang="en-GB" dirty="0"/>
              <a:t>, </a:t>
            </a:r>
            <a:r>
              <a:rPr lang="en-GB" b="1" dirty="0" err="1"/>
              <a:t>mosquitto</a:t>
            </a:r>
            <a:r>
              <a:rPr lang="en-GB" dirty="0"/>
              <a:t>, </a:t>
            </a:r>
            <a:r>
              <a:rPr lang="en-GB" b="1" dirty="0" err="1"/>
              <a:t>suricata</a:t>
            </a:r>
            <a:r>
              <a:rPr lang="en-GB" dirty="0"/>
              <a:t>, </a:t>
            </a:r>
            <a:r>
              <a:rPr lang="en-GB" b="1" dirty="0" err="1"/>
              <a:t>prometheus</a:t>
            </a:r>
            <a:r>
              <a:rPr lang="en-GB" dirty="0"/>
              <a:t>, </a:t>
            </a:r>
            <a:r>
              <a:rPr lang="en-GB" b="1" dirty="0" err="1"/>
              <a:t>grafana</a:t>
            </a:r>
            <a:r>
              <a:rPr lang="en-GB" dirty="0"/>
              <a:t>, and </a:t>
            </a:r>
            <a:r>
              <a:rPr lang="en-GB" b="1" dirty="0"/>
              <a:t>attacker</a:t>
            </a:r>
            <a:r>
              <a:rPr lang="en-GB" dirty="0"/>
              <a:t>. Each of these plays a critical role in your security observations. If any of these containers are not running, telemetry may fail, alerts may not be generated, or visualisation dashboards may appear empty.</a:t>
            </a:r>
          </a:p>
          <a:p>
            <a:r>
              <a:rPr lang="en-GB" dirty="0"/>
              <a:t>The </a:t>
            </a:r>
            <a:r>
              <a:rPr lang="en-GB" b="1" dirty="0"/>
              <a:t>STATUS</a:t>
            </a:r>
            <a:r>
              <a:rPr lang="en-GB" dirty="0"/>
              <a:t> column indicates whether a service is currently operational. Look for the term </a:t>
            </a:r>
            <a:r>
              <a:rPr lang="en-GB" b="1" dirty="0"/>
              <a:t>Up</a:t>
            </a:r>
            <a:r>
              <a:rPr lang="en-GB" dirty="0"/>
              <a:t>, which tells you that Docker has successfully launched that service. If you see </a:t>
            </a:r>
            <a:r>
              <a:rPr lang="en-GB" b="1" dirty="0"/>
              <a:t>Exited</a:t>
            </a:r>
            <a:r>
              <a:rPr lang="en-GB" dirty="0"/>
              <a:t>, it means the container stopped shortly after starting, usually due to a configuration or boot error.</a:t>
            </a:r>
          </a:p>
          <a:p>
            <a:r>
              <a:rPr lang="en-GB" dirty="0"/>
              <a:t>The </a:t>
            </a:r>
            <a:r>
              <a:rPr lang="en-GB" b="1" dirty="0"/>
              <a:t>PORTS</a:t>
            </a:r>
            <a:r>
              <a:rPr lang="en-GB" dirty="0"/>
              <a:t> column is also important. It shows whether required services are accessible from your host system. For example, </a:t>
            </a:r>
            <a:r>
              <a:rPr lang="en-GB" b="1" dirty="0"/>
              <a:t>Grafana</a:t>
            </a:r>
            <a:r>
              <a:rPr lang="en-GB" dirty="0"/>
              <a:t> should be reachable on port </a:t>
            </a:r>
            <a:r>
              <a:rPr lang="en-GB" b="1" dirty="0"/>
              <a:t>3001</a:t>
            </a:r>
            <a:r>
              <a:rPr lang="en-GB" dirty="0"/>
              <a:t>, and </a:t>
            </a:r>
            <a:r>
              <a:rPr lang="en-GB" b="1" dirty="0"/>
              <a:t>Prometheus</a:t>
            </a:r>
            <a:r>
              <a:rPr lang="en-GB" dirty="0"/>
              <a:t> on </a:t>
            </a:r>
            <a:r>
              <a:rPr lang="en-GB" b="1" dirty="0"/>
              <a:t>9090</a:t>
            </a:r>
            <a:r>
              <a:rPr lang="en-GB" dirty="0"/>
              <a:t>. Verifying these ports avoids troubleshooting later when trying to access dashboards or metrics.</a:t>
            </a:r>
          </a:p>
          <a:p>
            <a:r>
              <a:rPr lang="en-GB" dirty="0"/>
              <a:t>If a service is not Up, you can run </a:t>
            </a:r>
            <a:r>
              <a:rPr lang="en-GB" b="1" dirty="0"/>
              <a:t>docker logs &lt;container name&gt;</a:t>
            </a:r>
            <a:r>
              <a:rPr lang="en-GB" dirty="0"/>
              <a:t> to review error messages and understand what failed. For most issues, logs will provide direct clues and solutions.</a:t>
            </a:r>
          </a:p>
          <a:p>
            <a:r>
              <a:rPr lang="en-GB" dirty="0"/>
              <a:t>Finally, you may notice that </a:t>
            </a:r>
            <a:r>
              <a:rPr lang="en-GB" b="1" dirty="0"/>
              <a:t>Open5GS</a:t>
            </a:r>
            <a:r>
              <a:rPr lang="en-GB" dirty="0"/>
              <a:t> appears as </a:t>
            </a:r>
            <a:r>
              <a:rPr lang="en-GB" b="1" dirty="0"/>
              <a:t>Exited</a:t>
            </a:r>
            <a:r>
              <a:rPr lang="en-GB" dirty="0"/>
              <a:t>. The full deployment of a 5G core introduces additional dependencies and configuration steps that go beyond the objectives of this practical exercise. You do not need Open5GS running to successfully complete the security and monitoring workflow that follows.</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30867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step, you are no longer checking whether containers are simply running. You are validating that </a:t>
            </a:r>
            <a:r>
              <a:rPr lang="en-GB" b="1" dirty="0"/>
              <a:t>key services</a:t>
            </a:r>
            <a:r>
              <a:rPr lang="en-GB" dirty="0"/>
              <a:t> are actually performing their role inside the </a:t>
            </a:r>
            <a:r>
              <a:rPr lang="en-GB" b="1" dirty="0" err="1"/>
              <a:t>NeoCity</a:t>
            </a:r>
            <a:r>
              <a:rPr lang="en-GB" b="1" dirty="0"/>
              <a:t> lab environment</a:t>
            </a:r>
            <a:r>
              <a:rPr lang="en-GB" dirty="0"/>
              <a:t>. Each component must produce operational output that shows </a:t>
            </a:r>
            <a:r>
              <a:rPr lang="en-GB" b="1" dirty="0"/>
              <a:t>data flow</a:t>
            </a:r>
            <a:r>
              <a:rPr lang="en-GB" dirty="0"/>
              <a:t> through the system.</a:t>
            </a:r>
          </a:p>
          <a:p>
            <a:r>
              <a:rPr lang="en-GB" dirty="0"/>
              <a:t>We begin by inspecting the </a:t>
            </a:r>
            <a:r>
              <a:rPr lang="en-GB" b="1" dirty="0"/>
              <a:t>MEC stub</a:t>
            </a:r>
            <a:r>
              <a:rPr lang="en-GB" dirty="0"/>
              <a:t> service. In the example shown on the slide, the logs display repeated HTTP </a:t>
            </a:r>
            <a:r>
              <a:rPr lang="en-GB" b="1" dirty="0"/>
              <a:t>GET requests</a:t>
            </a:r>
            <a:r>
              <a:rPr lang="en-GB" dirty="0"/>
              <a:t> to the </a:t>
            </a:r>
            <a:r>
              <a:rPr lang="en-GB" b="1" dirty="0"/>
              <a:t>metrics endpoint</a:t>
            </a:r>
            <a:r>
              <a:rPr lang="en-GB" dirty="0"/>
              <a:t>. This means the service is alive, responding to queries, and interacting correctly with the </a:t>
            </a:r>
            <a:r>
              <a:rPr lang="en-GB" b="1" dirty="0"/>
              <a:t>monitoring stack</a:t>
            </a:r>
            <a:r>
              <a:rPr lang="en-GB" dirty="0"/>
              <a:t>. If your logs were empty or full of errors, that would indicate a </a:t>
            </a:r>
            <a:r>
              <a:rPr lang="en-GB" b="1" dirty="0"/>
              <a:t>data pipeline</a:t>
            </a:r>
            <a:r>
              <a:rPr lang="en-GB" dirty="0"/>
              <a:t> issue that must be corrected before continuing the practical activities.</a:t>
            </a:r>
          </a:p>
          <a:p>
            <a:r>
              <a:rPr lang="en-GB" dirty="0"/>
              <a:t>Next, we check the </a:t>
            </a:r>
            <a:r>
              <a:rPr lang="en-GB" dirty="0" err="1"/>
              <a:t>behavior</a:t>
            </a:r>
            <a:r>
              <a:rPr lang="en-GB" dirty="0"/>
              <a:t> of </a:t>
            </a:r>
            <a:r>
              <a:rPr lang="en-GB" b="1" dirty="0"/>
              <a:t>Suricata</a:t>
            </a:r>
            <a:r>
              <a:rPr lang="en-GB" dirty="0"/>
              <a:t>. The logs confirm that Suricata has </a:t>
            </a:r>
            <a:r>
              <a:rPr lang="en-GB" b="1" dirty="0"/>
              <a:t>initialized properly</a:t>
            </a:r>
            <a:r>
              <a:rPr lang="en-GB" dirty="0"/>
              <a:t>, loaded its </a:t>
            </a:r>
            <a:r>
              <a:rPr lang="en-GB" b="1" dirty="0"/>
              <a:t>detection engine,</a:t>
            </a:r>
            <a:r>
              <a:rPr lang="en-GB" dirty="0"/>
              <a:t> and is </a:t>
            </a:r>
            <a:r>
              <a:rPr lang="en-GB" b="1" dirty="0"/>
              <a:t>monitoring network traffic</a:t>
            </a:r>
            <a:r>
              <a:rPr lang="en-GB" dirty="0"/>
              <a:t> on eth0. At this phase of the exercise, alerts are not expected yet. What matters is that Suricata shows </a:t>
            </a:r>
            <a:r>
              <a:rPr lang="en-GB" b="1" dirty="0"/>
              <a:t>thread initialization</a:t>
            </a:r>
            <a:r>
              <a:rPr lang="en-GB" dirty="0"/>
              <a:t>, </a:t>
            </a:r>
            <a:r>
              <a:rPr lang="en-GB" b="1" dirty="0"/>
              <a:t>rule processing</a:t>
            </a:r>
            <a:r>
              <a:rPr lang="en-GB" dirty="0"/>
              <a:t>, and </a:t>
            </a:r>
            <a:r>
              <a:rPr lang="en-GB" b="1" dirty="0"/>
              <a:t>packet statistics</a:t>
            </a:r>
            <a:r>
              <a:rPr lang="en-GB" dirty="0"/>
              <a:t>. If Suricata prints errors about missing interfaces or never increases packet counters, it is likely not receiving </a:t>
            </a:r>
            <a:r>
              <a:rPr lang="en-GB" b="1" dirty="0"/>
              <a:t>traffic</a:t>
            </a:r>
            <a:r>
              <a:rPr lang="en-GB" dirty="0"/>
              <a:t> from the MEC network.</a:t>
            </a:r>
          </a:p>
          <a:p>
            <a:r>
              <a:rPr lang="en-GB" dirty="0"/>
              <a:t>We then verify that the </a:t>
            </a:r>
            <a:r>
              <a:rPr lang="en-GB" b="1" dirty="0"/>
              <a:t>MEC health endpoint</a:t>
            </a:r>
            <a:r>
              <a:rPr lang="en-GB" dirty="0"/>
              <a:t> returns a </a:t>
            </a:r>
            <a:r>
              <a:rPr lang="en-GB" b="1" dirty="0"/>
              <a:t>positive status response</a:t>
            </a:r>
            <a:r>
              <a:rPr lang="en-GB" dirty="0"/>
              <a:t>. This demonstrates that communication between the MEC application and the </a:t>
            </a:r>
            <a:r>
              <a:rPr lang="en-GB" b="1" dirty="0"/>
              <a:t>host machine</a:t>
            </a:r>
            <a:r>
              <a:rPr lang="en-GB" dirty="0"/>
              <a:t> works correctly and that the system will be able to report </a:t>
            </a:r>
            <a:r>
              <a:rPr lang="en-GB" b="1" dirty="0"/>
              <a:t>performance metrics</a:t>
            </a:r>
            <a:r>
              <a:rPr lang="en-GB" dirty="0"/>
              <a:t> later when </a:t>
            </a:r>
            <a:r>
              <a:rPr lang="en-GB" b="1" dirty="0"/>
              <a:t>attacks</a:t>
            </a:r>
            <a:r>
              <a:rPr lang="en-GB" dirty="0"/>
              <a:t> are introduced.</a:t>
            </a:r>
          </a:p>
          <a:p>
            <a:r>
              <a:rPr lang="en-GB" dirty="0"/>
              <a:t>A </a:t>
            </a:r>
            <a:r>
              <a:rPr lang="en-GB" b="1" dirty="0"/>
              <a:t>green status</a:t>
            </a:r>
            <a:r>
              <a:rPr lang="en-GB" dirty="0"/>
              <a:t> in logs and HTTP results signifies a </a:t>
            </a:r>
            <a:r>
              <a:rPr lang="en-GB" b="1" dirty="0"/>
              <a:t>stable environment</a:t>
            </a:r>
            <a:r>
              <a:rPr lang="en-GB" dirty="0"/>
              <a:t>. This validation step protects you from troubleshooting avoidable failures later during the cybersecurity tasks.</a:t>
            </a:r>
          </a:p>
          <a:p>
            <a:r>
              <a:rPr lang="en-GB" dirty="0"/>
              <a:t>Note to students: The </a:t>
            </a:r>
            <a:r>
              <a:rPr lang="en-GB" b="1" dirty="0"/>
              <a:t>Open5GS core</a:t>
            </a:r>
            <a:r>
              <a:rPr lang="en-GB" dirty="0"/>
              <a:t> service is intentionally omitted from the scope of this practical session. It requires additional configuration, such as </a:t>
            </a:r>
            <a:r>
              <a:rPr lang="en-GB" b="1" dirty="0"/>
              <a:t>database provisioning</a:t>
            </a:r>
            <a:r>
              <a:rPr lang="en-GB" dirty="0"/>
              <a:t> and </a:t>
            </a:r>
            <a:r>
              <a:rPr lang="en-GB" b="1" dirty="0"/>
              <a:t>network bindings</a:t>
            </a:r>
            <a:r>
              <a:rPr lang="en-GB" dirty="0"/>
              <a:t>. Its lifecycle and logging are more complex than needed for the learning objectives here. You do not need to validate it for this PBL.</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088832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This slide introduces how we simulate </a:t>
            </a:r>
            <a:r>
              <a:rPr lang="en-GB" b="1" dirty="0"/>
              <a:t>cyberattacks</a:t>
            </a:r>
            <a:r>
              <a:rPr lang="en-GB" dirty="0"/>
              <a:t> within our </a:t>
            </a:r>
            <a:r>
              <a:rPr lang="en-GB" dirty="0" err="1"/>
              <a:t>NeoCity</a:t>
            </a:r>
            <a:r>
              <a:rPr lang="en-GB" dirty="0"/>
              <a:t> smart-traffic lab environment. Up to this point, you have verified that all critical </a:t>
            </a:r>
            <a:r>
              <a:rPr lang="en-GB" b="1" dirty="0"/>
              <a:t>services</a:t>
            </a:r>
            <a:r>
              <a:rPr lang="en-GB" dirty="0"/>
              <a:t> are running and that </a:t>
            </a:r>
            <a:r>
              <a:rPr lang="en-GB" b="1" dirty="0"/>
              <a:t>monitoring</a:t>
            </a:r>
            <a:r>
              <a:rPr lang="en-GB" dirty="0"/>
              <a:t> is active. Now, we want to generate </a:t>
            </a:r>
            <a:r>
              <a:rPr lang="en-GB" b="1" dirty="0"/>
              <a:t>malicious traffic</a:t>
            </a:r>
            <a:r>
              <a:rPr lang="en-GB" dirty="0"/>
              <a:t> from a controlled attacker source to test how the system reacts.</a:t>
            </a:r>
          </a:p>
          <a:p>
            <a:r>
              <a:rPr lang="en-GB" dirty="0"/>
              <a:t>The </a:t>
            </a:r>
            <a:r>
              <a:rPr lang="en-GB" b="1" dirty="0"/>
              <a:t>attacker container</a:t>
            </a:r>
            <a:r>
              <a:rPr lang="en-GB" dirty="0"/>
              <a:t> is designed to represent an untrusted device on the network. It allows us to trigger two common cybersecurity threats that impact </a:t>
            </a:r>
            <a:r>
              <a:rPr lang="en-GB" b="1" dirty="0"/>
              <a:t>safety-critical</a:t>
            </a:r>
            <a:r>
              <a:rPr lang="en-GB" dirty="0"/>
              <a:t> industrial systems such as traffic signal controllers.</a:t>
            </a:r>
          </a:p>
          <a:p>
            <a:r>
              <a:rPr lang="en-GB" dirty="0"/>
              <a:t>The first script, </a:t>
            </a:r>
            <a:r>
              <a:rPr lang="en-GB" b="1" dirty="0"/>
              <a:t>api_bypass.sh</a:t>
            </a:r>
            <a:r>
              <a:rPr lang="en-GB" dirty="0"/>
              <a:t>, sends multiple </a:t>
            </a:r>
            <a:r>
              <a:rPr lang="en-GB" b="1" dirty="0"/>
              <a:t>unauthenticated commands</a:t>
            </a:r>
            <a:r>
              <a:rPr lang="en-GB" dirty="0"/>
              <a:t> to the MEC control API. In a real deployment, these commands should only come from trusted and authenticated platforms responsible for traffic operations. By bypassing authentication, we directly challenge the </a:t>
            </a:r>
            <a:r>
              <a:rPr lang="en-GB" b="1" dirty="0"/>
              <a:t>integrity</a:t>
            </a:r>
            <a:r>
              <a:rPr lang="en-GB" dirty="0"/>
              <a:t> of the smart-city service. If an attacker manipulates traffic-light phases at the wrong time, it could create dangerous intersections or disrupt emergency-vehicle priority systems.</a:t>
            </a:r>
          </a:p>
          <a:p>
            <a:r>
              <a:rPr lang="en-GB" dirty="0"/>
              <a:t>The second script, </a:t>
            </a:r>
            <a:r>
              <a:rPr lang="en-GB" b="1" dirty="0"/>
              <a:t>dos_test.sh</a:t>
            </a:r>
            <a:r>
              <a:rPr lang="en-GB" dirty="0"/>
              <a:t>, generates a </a:t>
            </a:r>
            <a:r>
              <a:rPr lang="en-GB" b="1" dirty="0"/>
              <a:t>high-volume packet flood</a:t>
            </a:r>
            <a:r>
              <a:rPr lang="en-GB" dirty="0"/>
              <a:t> toward the MEC API using the hping3 tool. This represents a </a:t>
            </a:r>
            <a:r>
              <a:rPr lang="en-GB" b="1" dirty="0"/>
              <a:t>Denial-of-Service (DoS)</a:t>
            </a:r>
            <a:r>
              <a:rPr lang="en-GB" dirty="0"/>
              <a:t> attack, where the adversary’s objective is to degrade performance or even exhaust system resources. When availability is compromised, traffic decisions may become </a:t>
            </a:r>
            <a:r>
              <a:rPr lang="en-GB" b="1" dirty="0"/>
              <a:t>delayed</a:t>
            </a:r>
            <a:r>
              <a:rPr lang="en-GB" dirty="0"/>
              <a:t> or </a:t>
            </a:r>
            <a:r>
              <a:rPr lang="en-GB" b="1" dirty="0"/>
              <a:t>inaccessible</a:t>
            </a:r>
            <a:r>
              <a:rPr lang="en-GB" dirty="0"/>
              <a:t>, hurting the ability of the system to operate safely.</a:t>
            </a:r>
          </a:p>
          <a:p>
            <a:r>
              <a:rPr lang="en-GB" dirty="0"/>
              <a:t>By running these attacks in isolation, we can </a:t>
            </a:r>
            <a:r>
              <a:rPr lang="en-GB" dirty="0" err="1"/>
              <a:t>analyze</a:t>
            </a:r>
            <a:r>
              <a:rPr lang="en-GB" dirty="0"/>
              <a:t> multiple aspects:</a:t>
            </a:r>
            <a:br>
              <a:rPr lang="en-GB" dirty="0"/>
            </a:br>
            <a:r>
              <a:rPr lang="en-GB" i="1" dirty="0"/>
              <a:t>How do different services behave under stress? Do we observe anomalies in logs or metrics? Does the monitoring stack detect abnormal </a:t>
            </a:r>
            <a:r>
              <a:rPr lang="en-GB" i="1" dirty="0" err="1"/>
              <a:t>behavior</a:t>
            </a:r>
            <a:r>
              <a:rPr lang="en-GB" i="1" dirty="0"/>
              <a:t>?</a:t>
            </a:r>
            <a:r>
              <a:rPr lang="en-GB" dirty="0"/>
              <a:t> Each observation will feed directly into your </a:t>
            </a:r>
            <a:r>
              <a:rPr lang="en-GB" b="1" dirty="0"/>
              <a:t>risk analysis</a:t>
            </a:r>
            <a:r>
              <a:rPr lang="en-GB" dirty="0"/>
              <a:t> and </a:t>
            </a:r>
            <a:r>
              <a:rPr lang="en-GB" b="1" dirty="0"/>
              <a:t>mitigation</a:t>
            </a:r>
            <a:r>
              <a:rPr lang="en-GB" dirty="0"/>
              <a:t> proposals later in the activity.</a:t>
            </a:r>
          </a:p>
          <a:p>
            <a:r>
              <a:rPr lang="en-GB" dirty="0"/>
              <a:t>Finally, keep in mind that these scripts generate </a:t>
            </a:r>
            <a:r>
              <a:rPr lang="en-GB" b="1" dirty="0"/>
              <a:t>controlled</a:t>
            </a:r>
            <a:r>
              <a:rPr lang="en-GB" dirty="0"/>
              <a:t> and </a:t>
            </a:r>
            <a:r>
              <a:rPr lang="en-GB" b="1" dirty="0"/>
              <a:t>limited</a:t>
            </a:r>
            <a:r>
              <a:rPr lang="en-GB" dirty="0"/>
              <a:t> attacks purely for educational purposes. They give you a safe way to study how weak security controls can lead to serious consequences in a modern </a:t>
            </a:r>
            <a:r>
              <a:rPr lang="en-GB" b="1" dirty="0"/>
              <a:t>5G-enabled smart-city</a:t>
            </a:r>
            <a:r>
              <a:rPr lang="en-GB" dirty="0"/>
              <a:t> system.</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31558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Before launching full attack scripts, it is important to confirm how the MEC application normally behaves when receiving a </a:t>
            </a:r>
            <a:r>
              <a:rPr lang="en-GB" b="1" dirty="0"/>
              <a:t>single</a:t>
            </a:r>
            <a:r>
              <a:rPr lang="en-GB" dirty="0"/>
              <a:t> command. This provides a </a:t>
            </a:r>
            <a:r>
              <a:rPr lang="en-GB" b="1" dirty="0"/>
              <a:t>baseline</a:t>
            </a:r>
            <a:r>
              <a:rPr lang="en-GB" dirty="0"/>
              <a:t> for interpreting anomalies later in the exercise.</a:t>
            </a:r>
          </a:p>
          <a:p>
            <a:r>
              <a:rPr lang="en-GB" dirty="0"/>
              <a:t>In this step, you execute a direct HTTP </a:t>
            </a:r>
            <a:r>
              <a:rPr lang="en-GB" b="1" dirty="0"/>
              <a:t>POST request</a:t>
            </a:r>
            <a:r>
              <a:rPr lang="en-GB" dirty="0"/>
              <a:t> from the </a:t>
            </a:r>
            <a:r>
              <a:rPr lang="en-GB" b="1" dirty="0"/>
              <a:t>attacker container</a:t>
            </a:r>
            <a:r>
              <a:rPr lang="en-GB" dirty="0"/>
              <a:t> to the </a:t>
            </a:r>
            <a:r>
              <a:rPr lang="en-GB" b="1" dirty="0"/>
              <a:t>MEC control API</a:t>
            </a:r>
            <a:r>
              <a:rPr lang="en-GB" dirty="0"/>
              <a:t>. The command mimics a real instruction that an authorized traffic-management component might send. It contains a </a:t>
            </a:r>
            <a:r>
              <a:rPr lang="en-GB" b="1" dirty="0"/>
              <a:t>traffic light phase control</a:t>
            </a:r>
            <a:r>
              <a:rPr lang="en-GB" dirty="0"/>
              <a:t> message for intersection </a:t>
            </a:r>
            <a:r>
              <a:rPr lang="en-GB" b="1" dirty="0"/>
              <a:t>I-101</a:t>
            </a:r>
            <a:r>
              <a:rPr lang="en-GB" dirty="0"/>
              <a:t> along with a </a:t>
            </a:r>
            <a:r>
              <a:rPr lang="en-GB" b="1" dirty="0"/>
              <a:t>sequence number</a:t>
            </a:r>
            <a:r>
              <a:rPr lang="en-GB" dirty="0"/>
              <a:t>. The goal is to check if the service accepts the message and responds properly under normal conditions.</a:t>
            </a:r>
          </a:p>
          <a:p>
            <a:r>
              <a:rPr lang="en-GB" dirty="0"/>
              <a:t>When the command succeeds, you should see a short JSON response such as </a:t>
            </a:r>
            <a:r>
              <a:rPr lang="en-GB" b="1" dirty="0"/>
              <a:t>{"</a:t>
            </a:r>
            <a:r>
              <a:rPr lang="en-GB" b="1" dirty="0" err="1"/>
              <a:t>status":"ok</a:t>
            </a:r>
            <a:r>
              <a:rPr lang="en-GB" b="1" dirty="0"/>
              <a:t>"}</a:t>
            </a:r>
            <a:r>
              <a:rPr lang="en-GB" dirty="0"/>
              <a:t>. This indicates that the MEC application received the message, processed it, and updated its internal state. If you inspect the </a:t>
            </a:r>
            <a:r>
              <a:rPr lang="en-GB" b="1" dirty="0"/>
              <a:t>MEC logs</a:t>
            </a:r>
            <a:r>
              <a:rPr lang="en-GB" dirty="0"/>
              <a:t>, you will observe exactly one logged control action. At this stage, the system’s </a:t>
            </a:r>
            <a:r>
              <a:rPr lang="en-GB" dirty="0" err="1"/>
              <a:t>behavior</a:t>
            </a:r>
            <a:r>
              <a:rPr lang="en-GB" dirty="0"/>
              <a:t> appears </a:t>
            </a:r>
            <a:r>
              <a:rPr lang="en-GB" b="1" dirty="0"/>
              <a:t>legitimate</a:t>
            </a:r>
            <a:r>
              <a:rPr lang="en-GB" dirty="0"/>
              <a:t>, and there are no signs of security enforcement or access-control validation.</a:t>
            </a:r>
          </a:p>
          <a:p>
            <a:r>
              <a:rPr lang="en-GB" dirty="0"/>
              <a:t>The key takeaway is that the MEC service currently </a:t>
            </a:r>
            <a:r>
              <a:rPr lang="en-GB" b="1" dirty="0"/>
              <a:t>trusts</a:t>
            </a:r>
            <a:r>
              <a:rPr lang="en-GB" dirty="0"/>
              <a:t> the sender implicitly. There is no </a:t>
            </a:r>
            <a:r>
              <a:rPr lang="en-GB" b="1" dirty="0"/>
              <a:t>authentication</a:t>
            </a:r>
            <a:r>
              <a:rPr lang="en-GB" dirty="0"/>
              <a:t> or </a:t>
            </a:r>
            <a:r>
              <a:rPr lang="en-GB" b="1" dirty="0"/>
              <a:t>authorization</a:t>
            </a:r>
            <a:r>
              <a:rPr lang="en-GB" dirty="0"/>
              <a:t> step verifying whether the request originates from a valid operational component or from an attacker. This is a critical security gap that affects </a:t>
            </a:r>
            <a:r>
              <a:rPr lang="en-GB" b="1" dirty="0"/>
              <a:t>integrity</a:t>
            </a:r>
            <a:r>
              <a:rPr lang="en-GB" dirty="0"/>
              <a:t> within the smart-city infrastructure.</a:t>
            </a:r>
          </a:p>
          <a:p>
            <a:r>
              <a:rPr lang="en-GB" dirty="0"/>
              <a:t>By establishing a clear baseline, you will be able to understand how the system reacts when its </a:t>
            </a:r>
            <a:r>
              <a:rPr lang="en-GB" dirty="0" err="1"/>
              <a:t>behavior</a:t>
            </a:r>
            <a:r>
              <a:rPr lang="en-GB" dirty="0"/>
              <a:t> becomes abnormal. On the next slide, you will execute a sequence of malicious commands to observe both </a:t>
            </a:r>
            <a:r>
              <a:rPr lang="en-GB" b="1" dirty="0"/>
              <a:t>service stress</a:t>
            </a:r>
            <a:r>
              <a:rPr lang="en-GB" dirty="0"/>
              <a:t> and </a:t>
            </a:r>
            <a:r>
              <a:rPr lang="en-GB" b="1" dirty="0"/>
              <a:t>security monitoring reactions</a:t>
            </a:r>
            <a:r>
              <a:rPr lang="en-GB" dirty="0"/>
              <a:t> through tools like </a:t>
            </a:r>
            <a:r>
              <a:rPr lang="en-GB" b="1" dirty="0"/>
              <a:t>Suricata</a:t>
            </a:r>
            <a:r>
              <a:rPr lang="en-GB" dirty="0"/>
              <a:t> and </a:t>
            </a:r>
            <a:r>
              <a:rPr lang="en-GB" b="1" dirty="0"/>
              <a:t>Grafana</a:t>
            </a:r>
            <a:r>
              <a:rPr lang="en-GB" dirty="0"/>
              <a:t>.</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055747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Now that you have confirmed normal control interactions, the next step is to introduce a burst of </a:t>
            </a:r>
            <a:r>
              <a:rPr lang="en-GB" b="1" dirty="0"/>
              <a:t>unauthorized commands</a:t>
            </a:r>
            <a:r>
              <a:rPr lang="en-GB" dirty="0"/>
              <a:t> and observe whether the system identifies anything unusual. You will use the </a:t>
            </a:r>
            <a:r>
              <a:rPr lang="en-GB" b="1" dirty="0"/>
              <a:t>api_bypass.sh</a:t>
            </a:r>
            <a:r>
              <a:rPr lang="en-GB" dirty="0"/>
              <a:t> script that sends multiple </a:t>
            </a:r>
            <a:r>
              <a:rPr lang="en-GB" b="1" dirty="0"/>
              <a:t>parallel POST requests</a:t>
            </a:r>
            <a:r>
              <a:rPr lang="en-GB" dirty="0"/>
              <a:t> to the </a:t>
            </a:r>
            <a:r>
              <a:rPr lang="en-GB" b="1" dirty="0"/>
              <a:t>MEC control API</a:t>
            </a:r>
            <a:r>
              <a:rPr lang="en-GB" dirty="0"/>
              <a:t>. In a real deployment, these commands should only originate from privileged system components, but here they are executed by an attacker without any security clearance.</a:t>
            </a:r>
          </a:p>
          <a:p>
            <a:r>
              <a:rPr lang="en-GB" dirty="0"/>
              <a:t>Once the script runs, you should see a rapid sequence of commands targeting the same </a:t>
            </a:r>
            <a:r>
              <a:rPr lang="en-GB" b="1" dirty="0"/>
              <a:t>traffic intersection</a:t>
            </a:r>
            <a:r>
              <a:rPr lang="en-GB" dirty="0"/>
              <a:t>, with increasing </a:t>
            </a:r>
            <a:r>
              <a:rPr lang="en-GB" b="1" dirty="0"/>
              <a:t>sequence numbers</a:t>
            </a:r>
            <a:r>
              <a:rPr lang="en-GB" dirty="0"/>
              <a:t>. The MEC application will still respond with </a:t>
            </a:r>
            <a:r>
              <a:rPr lang="en-GB" b="1" dirty="0"/>
              <a:t>successful operations</a:t>
            </a:r>
            <a:r>
              <a:rPr lang="en-GB" dirty="0"/>
              <a:t>, because it does not enforce authentication or authorization. This makes the attack an example of an </a:t>
            </a:r>
            <a:r>
              <a:rPr lang="en-GB" b="1" dirty="0"/>
              <a:t>integrity violation</a:t>
            </a:r>
            <a:r>
              <a:rPr lang="en-GB" dirty="0"/>
              <a:t>, where the adversary attempts to manipulate the system’s physical </a:t>
            </a:r>
            <a:r>
              <a:rPr lang="en-GB" dirty="0" err="1"/>
              <a:t>behavior</a:t>
            </a:r>
            <a:r>
              <a:rPr lang="en-GB" dirty="0"/>
              <a:t>.</a:t>
            </a:r>
          </a:p>
          <a:p>
            <a:r>
              <a:rPr lang="en-GB" dirty="0"/>
              <a:t>While this simple attack may not immediately disrupt service availability, it leaves clear traces in operational logs. In the </a:t>
            </a:r>
            <a:r>
              <a:rPr lang="en-GB" b="1" dirty="0"/>
              <a:t>MEC logs</a:t>
            </a:r>
            <a:r>
              <a:rPr lang="en-GB" dirty="0"/>
              <a:t>, an unexpected burst of control activity can already be considered suspicious, especially outside scheduled control windows. At the same time, </a:t>
            </a:r>
            <a:r>
              <a:rPr lang="en-GB" b="1" dirty="0"/>
              <a:t>Suricata</a:t>
            </a:r>
            <a:r>
              <a:rPr lang="en-GB" dirty="0"/>
              <a:t> begins </a:t>
            </a:r>
            <a:r>
              <a:rPr lang="en-GB" dirty="0" err="1"/>
              <a:t>analyzing</a:t>
            </a:r>
            <a:r>
              <a:rPr lang="en-GB" dirty="0"/>
              <a:t> network packets associated with the control requests. You may start to observe early </a:t>
            </a:r>
            <a:r>
              <a:rPr lang="en-GB" b="1" dirty="0"/>
              <a:t>alert triggers</a:t>
            </a:r>
            <a:r>
              <a:rPr lang="en-GB" dirty="0"/>
              <a:t> or classification messages in Suricata’s output, indicating that the monitoring system has detected command-level anomalies.</a:t>
            </a:r>
          </a:p>
          <a:p>
            <a:r>
              <a:rPr lang="en-GB" dirty="0"/>
              <a:t>What matters here is the </a:t>
            </a:r>
            <a:r>
              <a:rPr lang="en-GB" b="1" dirty="0"/>
              <a:t>visibility</a:t>
            </a:r>
            <a:r>
              <a:rPr lang="en-GB" dirty="0"/>
              <a:t> of the attack, not yet its severity. You are starting to see how the </a:t>
            </a:r>
            <a:r>
              <a:rPr lang="en-GB" b="1" dirty="0"/>
              <a:t>security monitoring pipeline</a:t>
            </a:r>
            <a:r>
              <a:rPr lang="en-GB" dirty="0"/>
              <a:t> helps identify misuse that would otherwise remain hidden behind valid-looking traffic. This exercise demonstrates the first key concept in operational cybersecurity: </a:t>
            </a:r>
            <a:r>
              <a:rPr lang="en-GB" b="1" dirty="0"/>
              <a:t>systems do not have to fail to be under attack</a:t>
            </a:r>
            <a:r>
              <a:rPr lang="en-GB" dirty="0"/>
              <a:t>.</a:t>
            </a:r>
          </a:p>
          <a:p>
            <a:r>
              <a:rPr lang="en-GB" dirty="0"/>
              <a:t>At this moment, you may notice that Suricata does not surface any alerts. This is an intentional learning point: even when misuse is happening, a security monitoring system without active rules provides </a:t>
            </a:r>
            <a:r>
              <a:rPr lang="en-GB" b="1" dirty="0"/>
              <a:t>zero visibility</a:t>
            </a:r>
            <a:r>
              <a:rPr lang="en-GB" dirty="0"/>
              <a:t>. In the next steps, you will activate detection rules and observe how the system begins revealing the attack.</a:t>
            </a:r>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69079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activity, we are validating the detection capabilities of our IDS component, </a:t>
            </a:r>
            <a:r>
              <a:rPr lang="en-GB" b="1" dirty="0"/>
              <a:t>Suricata</a:t>
            </a:r>
            <a:r>
              <a:rPr lang="en-GB" dirty="0"/>
              <a:t>. After ensuring that Suricata successfully monitors the network traffic, we introduce </a:t>
            </a:r>
            <a:r>
              <a:rPr lang="en-GB" b="1" dirty="0"/>
              <a:t>custom rules</a:t>
            </a:r>
            <a:r>
              <a:rPr lang="en-GB" dirty="0"/>
              <a:t> that help identify malicious </a:t>
            </a:r>
            <a:r>
              <a:rPr lang="en-GB" dirty="0" err="1"/>
              <a:t>behaviors</a:t>
            </a:r>
            <a:r>
              <a:rPr lang="en-GB" dirty="0"/>
              <a:t> specific to our MEC environment. The rules we created focus on </a:t>
            </a:r>
            <a:r>
              <a:rPr lang="en-GB" b="1" dirty="0"/>
              <a:t>high-rate SYN traffic</a:t>
            </a:r>
            <a:r>
              <a:rPr lang="en-GB" dirty="0"/>
              <a:t> targeting the </a:t>
            </a:r>
            <a:r>
              <a:rPr lang="en-GB" b="1" dirty="0"/>
              <a:t>MEC API port (8080)</a:t>
            </a:r>
            <a:r>
              <a:rPr lang="en-GB" dirty="0"/>
              <a:t> and the </a:t>
            </a:r>
            <a:r>
              <a:rPr lang="en-GB" b="1" dirty="0"/>
              <a:t>MQTT broker port (1883)</a:t>
            </a:r>
            <a:r>
              <a:rPr lang="en-GB" dirty="0"/>
              <a:t>. These are important services in our architecture and could easily become victims of a </a:t>
            </a:r>
            <a:r>
              <a:rPr lang="en-GB" b="1" dirty="0"/>
              <a:t>DoS attack</a:t>
            </a:r>
            <a:r>
              <a:rPr lang="en-GB" dirty="0"/>
              <a:t> in a real deployment.</a:t>
            </a:r>
          </a:p>
          <a:p>
            <a:r>
              <a:rPr lang="en-GB" dirty="0"/>
              <a:t>Once the rules are in place, we generate a </a:t>
            </a:r>
            <a:r>
              <a:rPr lang="en-GB" b="1" dirty="0"/>
              <a:t>flooding attack</a:t>
            </a:r>
            <a:r>
              <a:rPr lang="en-GB" dirty="0"/>
              <a:t> from the attacker container using </a:t>
            </a:r>
            <a:r>
              <a:rPr lang="en-GB" b="1" dirty="0"/>
              <a:t>hping3</a:t>
            </a:r>
            <a:r>
              <a:rPr lang="en-GB" dirty="0"/>
              <a:t>. The script repeatedly sends </a:t>
            </a:r>
            <a:r>
              <a:rPr lang="en-GB" b="1" dirty="0"/>
              <a:t>SYN packets</a:t>
            </a:r>
            <a:r>
              <a:rPr lang="en-GB" dirty="0"/>
              <a:t> toward the target without completing the TCP handshake. This </a:t>
            </a:r>
            <a:r>
              <a:rPr lang="en-GB" dirty="0" err="1"/>
              <a:t>behavior</a:t>
            </a:r>
            <a:r>
              <a:rPr lang="en-GB" dirty="0"/>
              <a:t> is typical of </a:t>
            </a:r>
            <a:r>
              <a:rPr lang="en-GB" b="1" dirty="0"/>
              <a:t>SYN flood attacks</a:t>
            </a:r>
            <a:r>
              <a:rPr lang="en-GB" dirty="0"/>
              <a:t>, which can overwhelm servers by exhausting connection queues.</a:t>
            </a:r>
          </a:p>
          <a:p>
            <a:r>
              <a:rPr lang="en-GB" dirty="0"/>
              <a:t>During this simulation, Suricata switches into </a:t>
            </a:r>
            <a:r>
              <a:rPr lang="en-GB" b="1" dirty="0"/>
              <a:t>flow emergency mode</a:t>
            </a:r>
            <a:r>
              <a:rPr lang="en-GB" dirty="0"/>
              <a:t>. This internal protective mechanism activates when Suricata experiences an unusually large number of flows in a short time. It prioritizes essential processing paths in order to keep inspecting traffic under stress. Seeing this in the logs confirms that the attack has a noticeable impact on the monitored network.</a:t>
            </a:r>
          </a:p>
          <a:p>
            <a:r>
              <a:rPr lang="en-GB" dirty="0"/>
              <a:t>The most important part is verifying the </a:t>
            </a:r>
            <a:r>
              <a:rPr lang="en-GB" b="1" dirty="0"/>
              <a:t>alerts</a:t>
            </a:r>
            <a:r>
              <a:rPr lang="en-GB" dirty="0"/>
              <a:t> generated from our custom rules. We do this by monitoring Suricata’s main event output file, </a:t>
            </a:r>
            <a:r>
              <a:rPr lang="en-GB" b="1" dirty="0" err="1"/>
              <a:t>eve.json</a:t>
            </a:r>
            <a:r>
              <a:rPr lang="en-GB" dirty="0"/>
              <a:t>, and filtering for entries of type </a:t>
            </a:r>
            <a:r>
              <a:rPr lang="en-GB" b="1" dirty="0"/>
              <a:t>alert</a:t>
            </a:r>
            <a:r>
              <a:rPr lang="en-GB" dirty="0"/>
              <a:t>. Each alert contains metadata such as source and destination IP addresses, destination ports, the </a:t>
            </a:r>
            <a:r>
              <a:rPr lang="en-GB" b="1" dirty="0"/>
              <a:t>signature ID (SID)</a:t>
            </a:r>
            <a:r>
              <a:rPr lang="en-GB" dirty="0"/>
              <a:t> of the rule that triggered, and a short message that explains what was detected.</a:t>
            </a:r>
          </a:p>
          <a:p>
            <a:r>
              <a:rPr lang="en-GB" dirty="0"/>
              <a:t>With this full workflow, we have demonstrated that Suricata can detect traffic anomalies introduced by our attacker. You can now clearly see the path from </a:t>
            </a:r>
            <a:r>
              <a:rPr lang="en-GB" b="1" dirty="0"/>
              <a:t>threat simulation</a:t>
            </a:r>
            <a:r>
              <a:rPr lang="en-GB" dirty="0"/>
              <a:t> to </a:t>
            </a:r>
            <a:r>
              <a:rPr lang="en-GB" b="1" dirty="0"/>
              <a:t>visibility and alerting</a:t>
            </a:r>
            <a:r>
              <a:rPr lang="en-GB" dirty="0"/>
              <a:t> in the IDS. This is essential knowledge for practical network security operations.</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842632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In this step, </a:t>
            </a:r>
            <a:r>
              <a:rPr lang="en-GB" b="1" dirty="0"/>
              <a:t>you will connect monitoring and security</a:t>
            </a:r>
            <a:r>
              <a:rPr lang="en-GB" dirty="0"/>
              <a:t> by visualizing real-time metrics from the </a:t>
            </a:r>
            <a:r>
              <a:rPr lang="en-GB" b="1" dirty="0"/>
              <a:t>MEC service</a:t>
            </a:r>
            <a:r>
              <a:rPr lang="en-GB" dirty="0"/>
              <a:t> using </a:t>
            </a:r>
            <a:r>
              <a:rPr lang="en-GB" b="1" dirty="0"/>
              <a:t>Grafana</a:t>
            </a:r>
            <a:r>
              <a:rPr lang="en-GB" dirty="0"/>
              <a:t>.</a:t>
            </a:r>
          </a:p>
          <a:p>
            <a:r>
              <a:rPr lang="en-GB" dirty="0"/>
              <a:t>You already verified Suricata detections and examined logs, but monitoring provides a </a:t>
            </a:r>
            <a:r>
              <a:rPr lang="en-GB" b="1" dirty="0"/>
              <a:t>broader operational view</a:t>
            </a:r>
            <a:r>
              <a:rPr lang="en-GB" dirty="0"/>
              <a:t>. It allows you to observe </a:t>
            </a:r>
            <a:r>
              <a:rPr lang="en-GB" b="1" dirty="0"/>
              <a:t>performance changes</a:t>
            </a:r>
            <a:r>
              <a:rPr lang="en-GB" dirty="0"/>
              <a:t>, detect </a:t>
            </a:r>
            <a:r>
              <a:rPr lang="en-GB" b="1" dirty="0"/>
              <a:t>abnormal load patterns</a:t>
            </a:r>
            <a:r>
              <a:rPr lang="en-GB" dirty="0"/>
              <a:t>, and validate </a:t>
            </a:r>
            <a:r>
              <a:rPr lang="en-GB" b="1" dirty="0"/>
              <a:t>attack impact</a:t>
            </a:r>
            <a:r>
              <a:rPr lang="en-GB" dirty="0"/>
              <a:t> through measurable indicators.</a:t>
            </a:r>
          </a:p>
          <a:p>
            <a:r>
              <a:rPr lang="en-GB" dirty="0"/>
              <a:t>First, you access the </a:t>
            </a:r>
            <a:r>
              <a:rPr lang="en-GB" b="1" dirty="0"/>
              <a:t>Grafana web interface</a:t>
            </a:r>
            <a:r>
              <a:rPr lang="en-GB" dirty="0"/>
              <a:t> through your browser. Once logged in, you configure </a:t>
            </a:r>
            <a:r>
              <a:rPr lang="en-GB" b="1" dirty="0"/>
              <a:t>Prometheus</a:t>
            </a:r>
            <a:r>
              <a:rPr lang="en-GB" dirty="0"/>
              <a:t> as the </a:t>
            </a:r>
            <a:r>
              <a:rPr lang="en-GB" b="1" dirty="0"/>
              <a:t>data source</a:t>
            </a:r>
            <a:r>
              <a:rPr lang="en-GB" dirty="0"/>
              <a:t>, since Prometheus is responsible for collecting metrics across the </a:t>
            </a:r>
            <a:r>
              <a:rPr lang="en-GB" dirty="0" err="1"/>
              <a:t>NeoCity</a:t>
            </a:r>
            <a:r>
              <a:rPr lang="en-GB" dirty="0"/>
              <a:t> environment. When you click </a:t>
            </a:r>
            <a:r>
              <a:rPr lang="en-GB" b="1" dirty="0"/>
              <a:t>Save &amp; Test</a:t>
            </a:r>
            <a:r>
              <a:rPr lang="en-GB" dirty="0"/>
              <a:t> and see a successful response, you confirm that Prometheus is reachable from Grafana inside Docker.</a:t>
            </a:r>
          </a:p>
          <a:p>
            <a:r>
              <a:rPr lang="en-GB" dirty="0"/>
              <a:t>You then create your </a:t>
            </a:r>
            <a:r>
              <a:rPr lang="en-GB" b="1" dirty="0"/>
              <a:t>first dashboard</a:t>
            </a:r>
            <a:r>
              <a:rPr lang="en-GB" dirty="0"/>
              <a:t>, which acts as your monitoring workspace. By adding a </a:t>
            </a:r>
            <a:r>
              <a:rPr lang="en-GB" b="1" dirty="0"/>
              <a:t>time-series panel</a:t>
            </a:r>
            <a:r>
              <a:rPr lang="en-GB" dirty="0"/>
              <a:t>, you start transforming raw telemetry into </a:t>
            </a:r>
            <a:r>
              <a:rPr lang="en-GB" b="1" dirty="0"/>
              <a:t>security insight</a:t>
            </a:r>
            <a:r>
              <a:rPr lang="en-GB" dirty="0"/>
              <a:t>.</a:t>
            </a:r>
          </a:p>
          <a:p>
            <a:r>
              <a:rPr lang="en-GB" dirty="0"/>
              <a:t>In the </a:t>
            </a:r>
            <a:r>
              <a:rPr lang="en-GB" b="1" dirty="0"/>
              <a:t>query editor</a:t>
            </a:r>
            <a:r>
              <a:rPr lang="en-GB" dirty="0"/>
              <a:t>, you switch to </a:t>
            </a:r>
            <a:r>
              <a:rPr lang="en-GB" b="1" dirty="0"/>
              <a:t>Code mode</a:t>
            </a:r>
            <a:r>
              <a:rPr lang="en-GB" dirty="0"/>
              <a:t> and enter the </a:t>
            </a:r>
            <a:r>
              <a:rPr lang="en-GB" b="1" dirty="0" err="1"/>
              <a:t>PromQL</a:t>
            </a:r>
            <a:r>
              <a:rPr lang="en-GB" dirty="0"/>
              <a:t> query:</a:t>
            </a:r>
          </a:p>
          <a:p>
            <a:r>
              <a:rPr lang="en-GB" b="1" dirty="0"/>
              <a:t>rate(</a:t>
            </a:r>
            <a:r>
              <a:rPr lang="en-GB" b="1" dirty="0" err="1"/>
              <a:t>python_gc_objects_collected_total</a:t>
            </a:r>
            <a:r>
              <a:rPr lang="en-GB" b="1" dirty="0"/>
              <a:t>{job="</a:t>
            </a:r>
            <a:r>
              <a:rPr lang="en-GB" b="1" dirty="0" err="1"/>
              <a:t>mec</a:t>
            </a:r>
            <a:r>
              <a:rPr lang="en-GB" b="1" dirty="0"/>
              <a:t>-stub"}[1m])</a:t>
            </a:r>
            <a:endParaRPr lang="en-GB" dirty="0"/>
          </a:p>
          <a:p>
            <a:r>
              <a:rPr lang="en-GB" dirty="0"/>
              <a:t>This metric reflects the </a:t>
            </a:r>
            <a:r>
              <a:rPr lang="en-GB" b="1" dirty="0"/>
              <a:t>internal workload</a:t>
            </a:r>
            <a:r>
              <a:rPr lang="en-GB" dirty="0"/>
              <a:t> of the MEC service. The more incoming requests the MEC receives, the more objects are created and later cleaned by the </a:t>
            </a:r>
            <a:r>
              <a:rPr lang="en-GB" b="1" dirty="0"/>
              <a:t>Python Garbage Collector</a:t>
            </a:r>
            <a:r>
              <a:rPr lang="en-GB" dirty="0"/>
              <a:t>.</a:t>
            </a:r>
          </a:p>
          <a:p>
            <a:r>
              <a:rPr lang="en-GB" dirty="0"/>
              <a:t>When the system is under </a:t>
            </a:r>
            <a:r>
              <a:rPr lang="en-GB" b="1" dirty="0"/>
              <a:t>normal conditions</a:t>
            </a:r>
            <a:r>
              <a:rPr lang="en-GB" dirty="0"/>
              <a:t>, the chart displays a stable or low-activity line. However, when you launch a </a:t>
            </a:r>
            <a:r>
              <a:rPr lang="en-GB" b="1" dirty="0"/>
              <a:t>DoS simulation</a:t>
            </a:r>
            <a:r>
              <a:rPr lang="en-GB" dirty="0"/>
              <a:t> from the attacker container, the MEC faces a surge in incoming network packets and processing load. This results in </a:t>
            </a:r>
            <a:r>
              <a:rPr lang="en-GB" b="1" dirty="0"/>
              <a:t>visible spikes</a:t>
            </a:r>
            <a:r>
              <a:rPr lang="en-GB" dirty="0"/>
              <a:t> in the graph.</a:t>
            </a:r>
          </a:p>
          <a:p>
            <a:r>
              <a:rPr lang="en-GB" dirty="0"/>
              <a:t>These spikes represent the </a:t>
            </a:r>
            <a:r>
              <a:rPr lang="en-GB" b="1" dirty="0"/>
              <a:t>operational footprint</a:t>
            </a:r>
            <a:r>
              <a:rPr lang="en-GB" dirty="0"/>
              <a:t> of the attack. Even if the attacker does not fully establish TCP connections or generate explicit HTTP requests, the </a:t>
            </a:r>
            <a:r>
              <a:rPr lang="en-GB" b="1" dirty="0"/>
              <a:t>increase in traffic pressure</a:t>
            </a:r>
            <a:r>
              <a:rPr lang="en-GB" dirty="0"/>
              <a:t> still affects the system. The dashboard provides </a:t>
            </a:r>
            <a:r>
              <a:rPr lang="en-GB" b="1" dirty="0"/>
              <a:t>immediate evidence</a:t>
            </a:r>
            <a:r>
              <a:rPr lang="en-GB" dirty="0"/>
              <a:t> of that </a:t>
            </a:r>
            <a:r>
              <a:rPr lang="en-GB" dirty="0" err="1"/>
              <a:t>behavior</a:t>
            </a:r>
            <a:r>
              <a:rPr lang="en-GB" dirty="0"/>
              <a:t>.</a:t>
            </a:r>
          </a:p>
          <a:p>
            <a:r>
              <a:rPr lang="en-GB" dirty="0"/>
              <a:t>By combining </a:t>
            </a:r>
            <a:r>
              <a:rPr lang="en-GB" b="1" dirty="0"/>
              <a:t>security alerts</a:t>
            </a:r>
            <a:r>
              <a:rPr lang="en-GB" dirty="0"/>
              <a:t> from Suricata with </a:t>
            </a:r>
            <a:r>
              <a:rPr lang="en-GB" b="1" dirty="0"/>
              <a:t>performance telemetry</a:t>
            </a:r>
            <a:r>
              <a:rPr lang="en-GB" dirty="0"/>
              <a:t> from Prometheus and Grafana, you now begin forming a </a:t>
            </a:r>
            <a:r>
              <a:rPr lang="en-GB" b="1" dirty="0"/>
              <a:t>complete picture</a:t>
            </a:r>
            <a:r>
              <a:rPr lang="en-GB" dirty="0"/>
              <a:t> of how threats affect availability and resilience in 5G-enabled systems. This understanding will support your </a:t>
            </a:r>
            <a:r>
              <a:rPr lang="en-GB" b="1" dirty="0"/>
              <a:t>risk evaluation and mitigation decisions</a:t>
            </a:r>
            <a:r>
              <a:rPr lang="en-GB" dirty="0"/>
              <a:t> in the final part of this PBL activity.</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464011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Up to this point, you have executed two types of attack scenarios and validated that they produce observable effects inside the </a:t>
            </a:r>
            <a:r>
              <a:rPr lang="en-GB" dirty="0" err="1"/>
              <a:t>NeoCity</a:t>
            </a:r>
            <a:r>
              <a:rPr lang="en-GB" dirty="0"/>
              <a:t> environment. In this slide, you learn how to </a:t>
            </a:r>
            <a:r>
              <a:rPr lang="en-GB" b="1" dirty="0"/>
              <a:t>correlate</a:t>
            </a:r>
            <a:r>
              <a:rPr lang="en-GB" dirty="0"/>
              <a:t> that evidence in order to build a </a:t>
            </a:r>
            <a:r>
              <a:rPr lang="en-GB" b="1" dirty="0"/>
              <a:t>risk-based security conclusion</a:t>
            </a:r>
            <a:r>
              <a:rPr lang="en-GB" dirty="0"/>
              <a:t>.</a:t>
            </a:r>
          </a:p>
          <a:p>
            <a:r>
              <a:rPr lang="en-GB" dirty="0"/>
              <a:t>When you launched the </a:t>
            </a:r>
            <a:r>
              <a:rPr lang="en-GB" b="1" dirty="0"/>
              <a:t>DoS flood</a:t>
            </a:r>
            <a:r>
              <a:rPr lang="en-GB" dirty="0"/>
              <a:t> from the attacker container, the MEC service was forced to process a significantly higher number of packets and related operations. This resulted in </a:t>
            </a:r>
            <a:r>
              <a:rPr lang="en-GB" b="1" dirty="0"/>
              <a:t>increased internal activity</a:t>
            </a:r>
            <a:r>
              <a:rPr lang="en-GB" dirty="0"/>
              <a:t>, which you could see as </a:t>
            </a:r>
            <a:r>
              <a:rPr lang="en-GB" b="1" dirty="0"/>
              <a:t>spikes</a:t>
            </a:r>
            <a:r>
              <a:rPr lang="en-GB" dirty="0"/>
              <a:t> in the Grafana time-series panel. Even without successful HTTP sessions, the </a:t>
            </a:r>
            <a:r>
              <a:rPr lang="en-GB" b="1" dirty="0"/>
              <a:t>pressure on the system</a:t>
            </a:r>
            <a:r>
              <a:rPr lang="en-GB" dirty="0"/>
              <a:t> is visible at the performance level.</a:t>
            </a:r>
          </a:p>
          <a:p>
            <a:r>
              <a:rPr lang="en-GB" dirty="0"/>
              <a:t>At the same time, </a:t>
            </a:r>
            <a:r>
              <a:rPr lang="en-GB" b="1" dirty="0"/>
              <a:t>Suricata</a:t>
            </a:r>
            <a:r>
              <a:rPr lang="en-GB" dirty="0"/>
              <a:t> identified the abnormal packet bursts and triggered alerts according to the </a:t>
            </a:r>
            <a:r>
              <a:rPr lang="en-GB" b="1" dirty="0"/>
              <a:t>custom rule</a:t>
            </a:r>
            <a:r>
              <a:rPr lang="en-GB" dirty="0"/>
              <a:t> you added earlier. Suricata confirms the </a:t>
            </a:r>
            <a:r>
              <a:rPr lang="en-GB" b="1" dirty="0"/>
              <a:t>malicious intent</a:t>
            </a:r>
            <a:r>
              <a:rPr lang="en-GB" dirty="0"/>
              <a:t> of the traffic, while Grafana confirms the </a:t>
            </a:r>
            <a:r>
              <a:rPr lang="en-GB" b="1" dirty="0"/>
              <a:t>operational impact</a:t>
            </a:r>
            <a:r>
              <a:rPr lang="en-GB" dirty="0"/>
              <a:t> on the target.</a:t>
            </a:r>
          </a:p>
          <a:p>
            <a:r>
              <a:rPr lang="en-GB" dirty="0"/>
              <a:t>This combination of evidence allows you to map the scenario directly to the </a:t>
            </a:r>
            <a:r>
              <a:rPr lang="en-GB" b="1" dirty="0"/>
              <a:t>risk analysis</a:t>
            </a:r>
            <a:r>
              <a:rPr lang="en-GB" dirty="0"/>
              <a:t> performed in Part 1 of the PBL. There, you identified </a:t>
            </a:r>
            <a:r>
              <a:rPr lang="en-GB" b="1" dirty="0"/>
              <a:t>Availability</a:t>
            </a:r>
            <a:r>
              <a:rPr lang="en-GB" dirty="0"/>
              <a:t> as a key cybersecurity objective for MEC systems supporting Smart City operations. Now you see how an attacker could </a:t>
            </a:r>
            <a:r>
              <a:rPr lang="en-GB" b="1" dirty="0"/>
              <a:t>degrade the service</a:t>
            </a:r>
            <a:r>
              <a:rPr lang="en-GB" dirty="0"/>
              <a:t>, and you have evidence to support your assessment.</a:t>
            </a:r>
          </a:p>
          <a:p>
            <a:r>
              <a:rPr lang="en-GB" dirty="0"/>
              <a:t>With logs and metrics aligned, you can now assign </a:t>
            </a:r>
            <a:r>
              <a:rPr lang="en-GB" b="1" dirty="0"/>
              <a:t>likelihood</a:t>
            </a:r>
            <a:r>
              <a:rPr lang="en-GB" dirty="0"/>
              <a:t> and </a:t>
            </a:r>
            <a:r>
              <a:rPr lang="en-GB" b="1" dirty="0"/>
              <a:t>impact values</a:t>
            </a:r>
            <a:r>
              <a:rPr lang="en-GB" dirty="0"/>
              <a:t> with greater confidence. This demonstrates how </a:t>
            </a:r>
            <a:r>
              <a:rPr lang="en-GB" b="1" dirty="0"/>
              <a:t>observability</a:t>
            </a:r>
            <a:r>
              <a:rPr lang="en-GB" dirty="0"/>
              <a:t> strengthens cybersecurity decision-making and avoids relying only on assumptions at design time.</a:t>
            </a:r>
          </a:p>
          <a:p>
            <a:r>
              <a:rPr lang="en-GB" dirty="0"/>
              <a:t>In the next part of the PBL, you will use this evidence to propose </a:t>
            </a:r>
            <a:r>
              <a:rPr lang="en-GB" b="1" dirty="0"/>
              <a:t>mitigations</a:t>
            </a:r>
            <a:r>
              <a:rPr lang="en-GB" dirty="0"/>
              <a:t> that improve resilience against similar attacks. You will also identify any </a:t>
            </a:r>
            <a:r>
              <a:rPr lang="en-GB" b="1" dirty="0"/>
              <a:t>residual risk</a:t>
            </a:r>
            <a:r>
              <a:rPr lang="en-GB" dirty="0"/>
              <a:t> that remains after applying countermeasures, completing the connection between </a:t>
            </a:r>
            <a:r>
              <a:rPr lang="en-GB" b="1" dirty="0"/>
              <a:t>security monitoring</a:t>
            </a:r>
            <a:r>
              <a:rPr lang="en-GB" dirty="0"/>
              <a:t> and </a:t>
            </a:r>
            <a:r>
              <a:rPr lang="en-GB" b="1" dirty="0"/>
              <a:t>risk management</a:t>
            </a:r>
            <a:r>
              <a:rPr lang="en-GB" dirty="0"/>
              <a:t> in 5G-enabled environments.</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750983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At this point, you have gathered operational evidence that the attack simulated from the </a:t>
            </a:r>
            <a:r>
              <a:rPr lang="en-GB" b="1" dirty="0"/>
              <a:t>attacker</a:t>
            </a:r>
            <a:r>
              <a:rPr lang="en-GB" dirty="0"/>
              <a:t> container successfully stressed the </a:t>
            </a:r>
            <a:r>
              <a:rPr lang="en-GB" b="1" dirty="0"/>
              <a:t>MEC control API</a:t>
            </a:r>
            <a:r>
              <a:rPr lang="en-GB" dirty="0"/>
              <a:t>. This means that the threat we are evaluating is no longer theoretical: you have demonstrated that an attacker with basic network access can attempt to overwhelm the service.</a:t>
            </a:r>
          </a:p>
          <a:p>
            <a:r>
              <a:rPr lang="en-GB" dirty="0"/>
              <a:t>To translate these observations into a formal risk decision, you now score the threat using a standard </a:t>
            </a:r>
            <a:r>
              <a:rPr lang="en-GB" b="1" dirty="0"/>
              <a:t>likelihood–impact</a:t>
            </a:r>
            <a:r>
              <a:rPr lang="en-GB" dirty="0"/>
              <a:t> model inspired by </a:t>
            </a:r>
            <a:r>
              <a:rPr lang="en-GB" b="1" dirty="0"/>
              <a:t>NIST SP 800-30</a:t>
            </a:r>
            <a:r>
              <a:rPr lang="en-GB" dirty="0"/>
              <a:t>. In this context, likelihood represents how feasible it is for the attack to happen in real conditions. Since no strong authentication or rate-limiting controls were observed, and the simulated attack was effective, the likelihood is rated </a:t>
            </a:r>
            <a:r>
              <a:rPr lang="en-GB" b="1" dirty="0"/>
              <a:t>4 out of 5</a:t>
            </a:r>
            <a:r>
              <a:rPr lang="en-GB" dirty="0"/>
              <a:t>.</a:t>
            </a:r>
          </a:p>
          <a:p>
            <a:r>
              <a:rPr lang="en-GB" dirty="0"/>
              <a:t>The potential consequences of this threat affect the </a:t>
            </a:r>
            <a:r>
              <a:rPr lang="en-GB" b="1" dirty="0"/>
              <a:t>availability</a:t>
            </a:r>
            <a:r>
              <a:rPr lang="en-GB" dirty="0"/>
              <a:t> of a service that contributes to public safety decisions, such as traffic-light management. Any disruption in this workflow can translate into congestion, delays, or even unsafe conditions. For this reason, impact is rated </a:t>
            </a:r>
            <a:r>
              <a:rPr lang="en-GB" b="1" dirty="0"/>
              <a:t>5 out of 5</a:t>
            </a:r>
            <a:r>
              <a:rPr lang="en-GB" dirty="0"/>
              <a:t>.</a:t>
            </a:r>
          </a:p>
          <a:p>
            <a:r>
              <a:rPr lang="en-GB" dirty="0"/>
              <a:t>Multiplying these values, the resulting </a:t>
            </a:r>
            <a:r>
              <a:rPr lang="en-GB" b="1" dirty="0"/>
              <a:t>risk level</a:t>
            </a:r>
            <a:r>
              <a:rPr lang="en-GB" dirty="0"/>
              <a:t> is </a:t>
            </a:r>
            <a:r>
              <a:rPr lang="en-GB" b="1" dirty="0"/>
              <a:t>20</a:t>
            </a:r>
            <a:r>
              <a:rPr lang="en-GB" dirty="0"/>
              <a:t>, clearly in the </a:t>
            </a:r>
            <a:r>
              <a:rPr lang="en-GB" b="1" dirty="0"/>
              <a:t>High</a:t>
            </a:r>
            <a:r>
              <a:rPr lang="en-GB" dirty="0"/>
              <a:t> category. A risk at this level requires mitigation actions without delay, as leaving the system in this state would expose </a:t>
            </a:r>
            <a:r>
              <a:rPr lang="en-GB" dirty="0" err="1"/>
              <a:t>NeoCity</a:t>
            </a:r>
            <a:r>
              <a:rPr lang="en-GB" dirty="0"/>
              <a:t> to operational instability or targeted disruption attempts.</a:t>
            </a:r>
          </a:p>
          <a:p>
            <a:r>
              <a:rPr lang="en-GB" dirty="0"/>
              <a:t>You now have a link between what you observed technically,  the Suricata alerting and the </a:t>
            </a:r>
            <a:r>
              <a:rPr lang="en-GB" b="1" dirty="0"/>
              <a:t>Grafana</a:t>
            </a:r>
            <a:r>
              <a:rPr lang="en-GB" dirty="0"/>
              <a:t> performance spike, and the organisational concern: ensuring </a:t>
            </a:r>
            <a:r>
              <a:rPr lang="en-GB" b="1" dirty="0"/>
              <a:t>availability</a:t>
            </a:r>
            <a:r>
              <a:rPr lang="en-GB" dirty="0"/>
              <a:t> for Smart City services. This step bridges engineering evidence with </a:t>
            </a:r>
            <a:r>
              <a:rPr lang="en-GB" b="1" dirty="0"/>
              <a:t>risk-based decision-making</a:t>
            </a:r>
            <a:r>
              <a:rPr lang="en-GB" dirty="0"/>
              <a:t>, which is essential in modern cybersecurity operations.</a:t>
            </a:r>
          </a:p>
          <a:p>
            <a:r>
              <a:rPr lang="en-GB" dirty="0"/>
              <a:t>With this evaluation established, you are now ready to identify the most effective </a:t>
            </a:r>
            <a:r>
              <a:rPr lang="en-GB" b="1" dirty="0"/>
              <a:t>mitigation controls</a:t>
            </a:r>
            <a:r>
              <a:rPr lang="en-GB" dirty="0"/>
              <a:t> to reduce this risk to an acceptable level.</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4825618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At this stage, </a:t>
            </a:r>
            <a:r>
              <a:rPr lang="en-GB" b="1" dirty="0"/>
              <a:t>you have identified a high-risk threat</a:t>
            </a:r>
            <a:r>
              <a:rPr lang="en-GB" dirty="0"/>
              <a:t> affecting a </a:t>
            </a:r>
            <a:r>
              <a:rPr lang="en-GB" b="1" dirty="0"/>
              <a:t>critical service</a:t>
            </a:r>
            <a:r>
              <a:rPr lang="en-GB" dirty="0"/>
              <a:t> in the </a:t>
            </a:r>
            <a:r>
              <a:rPr lang="en-GB" dirty="0" err="1"/>
              <a:t>NeoCity</a:t>
            </a:r>
            <a:r>
              <a:rPr lang="en-GB" dirty="0"/>
              <a:t> environment. The </a:t>
            </a:r>
            <a:r>
              <a:rPr lang="en-GB" b="1" dirty="0"/>
              <a:t>MEC API</a:t>
            </a:r>
            <a:r>
              <a:rPr lang="en-GB" dirty="0"/>
              <a:t> represents a key interface, and when it becomes unavailable due to a denial-of-service</a:t>
            </a:r>
            <a:r>
              <a:rPr lang="en-GB" b="1" dirty="0"/>
              <a:t> attack</a:t>
            </a:r>
            <a:r>
              <a:rPr lang="en-GB" dirty="0"/>
              <a:t>, many dependent applications can be disrupted. In cybersecurity, </a:t>
            </a:r>
            <a:r>
              <a:rPr lang="en-GB" b="1" dirty="0"/>
              <a:t>detection</a:t>
            </a:r>
            <a:r>
              <a:rPr lang="en-GB" dirty="0"/>
              <a:t> is only the first step. Next, you need to deploy </a:t>
            </a:r>
            <a:r>
              <a:rPr lang="en-GB" b="1" dirty="0"/>
              <a:t>mitigation controls</a:t>
            </a:r>
            <a:r>
              <a:rPr lang="en-GB" dirty="0"/>
              <a:t> to ensure that the system remains </a:t>
            </a:r>
            <a:r>
              <a:rPr lang="en-GB" b="1" dirty="0"/>
              <a:t>operational</a:t>
            </a:r>
            <a:r>
              <a:rPr lang="en-GB" dirty="0"/>
              <a:t>.</a:t>
            </a:r>
          </a:p>
          <a:p>
            <a:r>
              <a:rPr lang="en-GB" dirty="0"/>
              <a:t>You start by configuring </a:t>
            </a:r>
            <a:r>
              <a:rPr lang="en-GB" b="1" dirty="0"/>
              <a:t>protections near the MEC service</a:t>
            </a:r>
            <a:r>
              <a:rPr lang="en-GB" dirty="0"/>
              <a:t>. </a:t>
            </a:r>
            <a:r>
              <a:rPr lang="en-GB" b="1" dirty="0"/>
              <a:t>Suricata</a:t>
            </a:r>
            <a:r>
              <a:rPr lang="en-GB" dirty="0"/>
              <a:t> already helped with </a:t>
            </a:r>
            <a:r>
              <a:rPr lang="en-GB" b="1" dirty="0"/>
              <a:t>detection</a:t>
            </a:r>
            <a:r>
              <a:rPr lang="en-GB" dirty="0"/>
              <a:t> by raising an </a:t>
            </a:r>
            <a:r>
              <a:rPr lang="en-GB" b="1" dirty="0"/>
              <a:t>alert</a:t>
            </a:r>
            <a:r>
              <a:rPr lang="en-GB" dirty="0"/>
              <a:t> when the threshold was exceeded. Now you extend its role by enabling </a:t>
            </a:r>
            <a:r>
              <a:rPr lang="en-GB" b="1" dirty="0"/>
              <a:t>response actions</a:t>
            </a:r>
            <a:r>
              <a:rPr lang="en-GB" dirty="0"/>
              <a:t> such as </a:t>
            </a:r>
            <a:r>
              <a:rPr lang="en-GB" b="1" dirty="0"/>
              <a:t>rate limiting</a:t>
            </a:r>
            <a:r>
              <a:rPr lang="en-GB" dirty="0"/>
              <a:t> or </a:t>
            </a:r>
            <a:r>
              <a:rPr lang="en-GB" b="1" dirty="0"/>
              <a:t>traffic filtering</a:t>
            </a:r>
            <a:r>
              <a:rPr lang="en-GB" dirty="0"/>
              <a:t> to stop malicious flows from the attacker. This </a:t>
            </a:r>
            <a:r>
              <a:rPr lang="en-GB" b="1" dirty="0"/>
              <a:t>reduces the impact</a:t>
            </a:r>
            <a:r>
              <a:rPr lang="en-GB" dirty="0"/>
              <a:t> by limiting the traffic that reaches the MEC API.</a:t>
            </a:r>
          </a:p>
          <a:p>
            <a:r>
              <a:rPr lang="en-GB" dirty="0"/>
              <a:t>After enabling these protections, you continue monitoring both </a:t>
            </a:r>
            <a:r>
              <a:rPr lang="en-GB" b="1" dirty="0"/>
              <a:t>security</a:t>
            </a:r>
            <a:r>
              <a:rPr lang="en-GB" dirty="0"/>
              <a:t> and </a:t>
            </a:r>
            <a:r>
              <a:rPr lang="en-GB" b="1" dirty="0"/>
              <a:t>operational metrics</a:t>
            </a:r>
            <a:r>
              <a:rPr lang="en-GB" dirty="0"/>
              <a:t>. In </a:t>
            </a:r>
            <a:r>
              <a:rPr lang="en-GB" b="1" dirty="0"/>
              <a:t>Grafana</a:t>
            </a:r>
            <a:r>
              <a:rPr lang="en-GB" dirty="0"/>
              <a:t>, you expect to see the </a:t>
            </a:r>
            <a:r>
              <a:rPr lang="en-GB" b="1" dirty="0"/>
              <a:t>request rate</a:t>
            </a:r>
            <a:r>
              <a:rPr lang="en-GB" dirty="0"/>
              <a:t> and </a:t>
            </a:r>
            <a:r>
              <a:rPr lang="en-GB" b="1" dirty="0"/>
              <a:t>response stability</a:t>
            </a:r>
            <a:r>
              <a:rPr lang="en-GB" dirty="0"/>
              <a:t> improve even while the attack continues. At the same time, </a:t>
            </a:r>
            <a:r>
              <a:rPr lang="en-GB" b="1" dirty="0"/>
              <a:t>Suricata logs</a:t>
            </a:r>
            <a:r>
              <a:rPr lang="en-GB" dirty="0"/>
              <a:t> should confirm that </a:t>
            </a:r>
            <a:r>
              <a:rPr lang="en-GB" b="1" dirty="0"/>
              <a:t>malicious packets are being detected and controlled</a:t>
            </a:r>
            <a:r>
              <a:rPr lang="en-GB" dirty="0"/>
              <a:t>. When availability and performance are maintained, you can conclude that the mitigation has </a:t>
            </a:r>
            <a:r>
              <a:rPr lang="en-GB" b="1" dirty="0"/>
              <a:t>effectively reduced the attack impact</a:t>
            </a:r>
            <a:r>
              <a:rPr lang="en-GB" dirty="0"/>
              <a:t>.</a:t>
            </a:r>
          </a:p>
          <a:p>
            <a:r>
              <a:rPr lang="en-GB" dirty="0"/>
              <a:t>However, the security process does not end here. You now perform a </a:t>
            </a:r>
            <a:r>
              <a:rPr lang="en-GB" b="1" dirty="0"/>
              <a:t>residual risk validation</a:t>
            </a:r>
            <a:r>
              <a:rPr lang="en-GB" dirty="0"/>
              <a:t>, which means you </a:t>
            </a:r>
            <a:r>
              <a:rPr lang="en-GB" b="1" dirty="0"/>
              <a:t>reassess the likelihood and impact</a:t>
            </a:r>
            <a:r>
              <a:rPr lang="en-GB" dirty="0"/>
              <a:t> of the attack under the new conditions. Because service disruption has been limited, the </a:t>
            </a:r>
            <a:r>
              <a:rPr lang="en-GB" b="1" dirty="0"/>
              <a:t>risk level</a:t>
            </a:r>
            <a:r>
              <a:rPr lang="en-GB" dirty="0"/>
              <a:t> can be </a:t>
            </a:r>
            <a:r>
              <a:rPr lang="en-GB" b="1" dirty="0"/>
              <a:t>downgraded</a:t>
            </a:r>
            <a:r>
              <a:rPr lang="en-GB" dirty="0"/>
              <a:t> to something more acceptable. This supports </a:t>
            </a:r>
            <a:r>
              <a:rPr lang="en-GB" b="1" dirty="0"/>
              <a:t>decision-making</a:t>
            </a:r>
            <a:r>
              <a:rPr lang="en-GB" dirty="0"/>
              <a:t> by showing whether additional controls are required or whether the system already meets the required </a:t>
            </a:r>
            <a:r>
              <a:rPr lang="en-GB" b="1" dirty="0"/>
              <a:t>security posture</a:t>
            </a:r>
            <a:r>
              <a:rPr lang="en-GB" dirty="0"/>
              <a:t>.</a:t>
            </a:r>
          </a:p>
          <a:p>
            <a:r>
              <a:rPr lang="en-GB" dirty="0"/>
              <a:t>To complete this part of the exercise, you </a:t>
            </a:r>
            <a:r>
              <a:rPr lang="en-GB" b="1" dirty="0"/>
              <a:t>update the risk matrix</a:t>
            </a:r>
            <a:r>
              <a:rPr lang="en-GB" dirty="0"/>
              <a:t> and document the </a:t>
            </a:r>
            <a:r>
              <a:rPr lang="en-GB" b="1" dirty="0"/>
              <a:t>effectiveness</a:t>
            </a:r>
            <a:r>
              <a:rPr lang="en-GB" dirty="0"/>
              <a:t> of the mitigation strategy. This gives you a </a:t>
            </a:r>
            <a:r>
              <a:rPr lang="en-GB" b="1" dirty="0"/>
              <a:t>structured approach</a:t>
            </a:r>
            <a:r>
              <a:rPr lang="en-GB" dirty="0"/>
              <a:t> to continuous improvement that continues into the next part of the PBL, where you will explore how these findings </a:t>
            </a:r>
            <a:r>
              <a:rPr lang="en-GB" b="1" dirty="0"/>
              <a:t>influence the overall risk</a:t>
            </a:r>
            <a:r>
              <a:rPr lang="en-GB" dirty="0"/>
              <a:t> profile of the smart city environment.</a:t>
            </a:r>
          </a:p>
          <a:p>
            <a:endParaRPr lang="en-GB" dirty="0"/>
          </a:p>
        </p:txBody>
      </p:sp>
      <p:sp>
        <p:nvSpPr>
          <p:cNvPr id="417" name="Google Shape;41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60390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4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4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6"/>
          <p:cNvSpPr>
            <a:spLocks noGrp="1"/>
          </p:cNvSpPr>
          <p:nvPr>
            <p:ph type="pic" idx="2"/>
          </p:nvPr>
        </p:nvSpPr>
        <p:spPr>
          <a:xfrm>
            <a:off x="1792288" y="612775"/>
            <a:ext cx="5486400" cy="4114800"/>
          </a:xfrm>
          <a:prstGeom prst="rect">
            <a:avLst/>
          </a:prstGeom>
          <a:noFill/>
          <a:ln>
            <a:noFill/>
          </a:ln>
        </p:spPr>
      </p:sp>
      <p:sp>
        <p:nvSpPr>
          <p:cNvPr id="68" name="Google Shape;68;p4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hyperlink" Target="http://prometheus:9090/" TargetMode="External"/><Relationship Id="rId10"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38885" b="-38883"/>
            </a:stretch>
          </a:blipFill>
          <a:ln>
            <a:noFill/>
          </a:ln>
        </p:spPr>
      </p:sp>
      <p:grpSp>
        <p:nvGrpSpPr>
          <p:cNvPr id="407" name="Google Shape;407;p24"/>
          <p:cNvGrpSpPr/>
          <p:nvPr/>
        </p:nvGrpSpPr>
        <p:grpSpPr>
          <a:xfrm>
            <a:off x="10359108" y="1951543"/>
            <a:ext cx="4893340" cy="1552148"/>
            <a:chOff x="0" y="-38100"/>
            <a:chExt cx="1288781" cy="408796"/>
          </a:xfrm>
        </p:grpSpPr>
        <p:sp>
          <p:nvSpPr>
            <p:cNvPr id="408" name="Google Shape;408;p24"/>
            <p:cNvSpPr/>
            <p:nvPr/>
          </p:nvSpPr>
          <p:spPr>
            <a:xfrm>
              <a:off x="0" y="0"/>
              <a:ext cx="1288781" cy="370696"/>
            </a:xfrm>
            <a:custGeom>
              <a:avLst/>
              <a:gdLst/>
              <a:ahLst/>
              <a:cxnLst/>
              <a:rect l="l" t="t" r="r" b="b"/>
              <a:pathLst>
                <a:path w="1288781" h="370696" extrusionOk="0">
                  <a:moveTo>
                    <a:pt x="80689" y="0"/>
                  </a:moveTo>
                  <a:lnTo>
                    <a:pt x="1208092" y="0"/>
                  </a:lnTo>
                  <a:cubicBezTo>
                    <a:pt x="1252655" y="0"/>
                    <a:pt x="1288781" y="36126"/>
                    <a:pt x="1288781" y="80689"/>
                  </a:cubicBezTo>
                  <a:lnTo>
                    <a:pt x="1288781" y="290007"/>
                  </a:lnTo>
                  <a:cubicBezTo>
                    <a:pt x="1288781" y="334570"/>
                    <a:pt x="1252655" y="370696"/>
                    <a:pt x="1208092" y="370696"/>
                  </a:cubicBezTo>
                  <a:lnTo>
                    <a:pt x="80689" y="370696"/>
                  </a:lnTo>
                  <a:cubicBezTo>
                    <a:pt x="59289" y="370696"/>
                    <a:pt x="38765" y="362195"/>
                    <a:pt x="23633" y="347063"/>
                  </a:cubicBezTo>
                  <a:cubicBezTo>
                    <a:pt x="8501" y="331931"/>
                    <a:pt x="0" y="311407"/>
                    <a:pt x="0" y="290007"/>
                  </a:cubicBezTo>
                  <a:lnTo>
                    <a:pt x="0" y="80689"/>
                  </a:lnTo>
                  <a:cubicBezTo>
                    <a:pt x="0" y="59289"/>
                    <a:pt x="8501" y="38765"/>
                    <a:pt x="23633" y="23633"/>
                  </a:cubicBezTo>
                  <a:cubicBezTo>
                    <a:pt x="38765" y="8501"/>
                    <a:pt x="59289" y="0"/>
                    <a:pt x="806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4"/>
            <p:cNvSpPr txBox="1"/>
            <p:nvPr/>
          </p:nvSpPr>
          <p:spPr>
            <a:xfrm>
              <a:off x="0" y="-38100"/>
              <a:ext cx="1288781" cy="40879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0" name="Google Shape;410;p24"/>
          <p:cNvSpPr/>
          <p:nvPr/>
        </p:nvSpPr>
        <p:spPr>
          <a:xfrm>
            <a:off x="10513853" y="2290412"/>
            <a:ext cx="4560703" cy="1016657"/>
          </a:xfrm>
          <a:custGeom>
            <a:avLst/>
            <a:gdLst/>
            <a:ahLst/>
            <a:cxnLst/>
            <a:rect l="l" t="t" r="r" b="b"/>
            <a:pathLst>
              <a:path w="4560703" h="1016657" extrusionOk="0">
                <a:moveTo>
                  <a:pt x="0" y="0"/>
                </a:moveTo>
                <a:lnTo>
                  <a:pt x="4560703" y="0"/>
                </a:lnTo>
                <a:lnTo>
                  <a:pt x="4560703" y="1016657"/>
                </a:lnTo>
                <a:lnTo>
                  <a:pt x="0" y="1016657"/>
                </a:lnTo>
                <a:lnTo>
                  <a:pt x="0" y="0"/>
                </a:lnTo>
                <a:close/>
              </a:path>
            </a:pathLst>
          </a:custGeom>
          <a:blipFill rotWithShape="1">
            <a:blip r:embed="rId4">
              <a:alphaModFix/>
            </a:blip>
            <a:stretch>
              <a:fillRect/>
            </a:stretch>
          </a:blipFill>
          <a:ln>
            <a:noFill/>
          </a:ln>
        </p:spPr>
      </p:sp>
      <p:sp>
        <p:nvSpPr>
          <p:cNvPr id="411" name="Google Shape;411;p24"/>
          <p:cNvSpPr/>
          <p:nvPr/>
        </p:nvSpPr>
        <p:spPr>
          <a:xfrm>
            <a:off x="341364" y="725233"/>
            <a:ext cx="8802636" cy="3774130"/>
          </a:xfrm>
          <a:custGeom>
            <a:avLst/>
            <a:gdLst/>
            <a:ahLst/>
            <a:cxnLst/>
            <a:rect l="l" t="t" r="r" b="b"/>
            <a:pathLst>
              <a:path w="8802636" h="3774130" extrusionOk="0">
                <a:moveTo>
                  <a:pt x="0" y="0"/>
                </a:moveTo>
                <a:lnTo>
                  <a:pt x="8802636" y="0"/>
                </a:lnTo>
                <a:lnTo>
                  <a:pt x="8802636" y="3774131"/>
                </a:lnTo>
                <a:lnTo>
                  <a:pt x="0" y="3774131"/>
                </a:lnTo>
                <a:lnTo>
                  <a:pt x="0" y="0"/>
                </a:lnTo>
                <a:close/>
              </a:path>
            </a:pathLst>
          </a:custGeom>
          <a:blipFill rotWithShape="1">
            <a:blip r:embed="rId5">
              <a:alphaModFix/>
            </a:blip>
            <a:stretch>
              <a:fillRect l="-440" r="-439"/>
            </a:stretch>
          </a:blipFill>
          <a:ln>
            <a:noFill/>
          </a:ln>
        </p:spPr>
      </p:sp>
      <p:sp>
        <p:nvSpPr>
          <p:cNvPr id="412" name="Google Shape;412;p24"/>
          <p:cNvSpPr txBox="1"/>
          <p:nvPr/>
        </p:nvSpPr>
        <p:spPr>
          <a:xfrm>
            <a:off x="9139238" y="4749165"/>
            <a:ext cx="9525" cy="1455420"/>
          </a:xfrm>
          <a:prstGeom prst="rect">
            <a:avLst/>
          </a:prstGeom>
          <a:noFill/>
          <a:ln>
            <a:noFill/>
          </a:ln>
        </p:spPr>
        <p:txBody>
          <a:bodyPr spcFirstLastPara="1" wrap="square" lIns="0" tIns="0" rIns="0" bIns="0" anchor="t" anchorCtr="0">
            <a:spAutoFit/>
          </a:bodyPr>
          <a:lstStyle/>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32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3" name="Google Shape;413;p24"/>
          <p:cNvSpPr txBox="1"/>
          <p:nvPr/>
        </p:nvSpPr>
        <p:spPr>
          <a:xfrm>
            <a:off x="1828800" y="5771095"/>
            <a:ext cx="15678147" cy="4343240"/>
          </a:xfrm>
          <a:prstGeom prst="rect">
            <a:avLst/>
          </a:prstGeom>
          <a:noFill/>
          <a:ln>
            <a:noFill/>
          </a:ln>
        </p:spPr>
        <p:txBody>
          <a:bodyPr spcFirstLastPara="1" wrap="square" lIns="0" tIns="0" rIns="0" bIns="0" anchor="t" anchorCtr="0">
            <a:spAutoFit/>
          </a:bodyPr>
          <a:lstStyle/>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Unit 3.1: Fundamentals of Cybersecurity in 5G Networks</a:t>
            </a:r>
            <a:endParaRPr dirty="0"/>
          </a:p>
          <a:p>
            <a:pPr marL="0" marR="0" lvl="0" indent="0" algn="l" rtl="0">
              <a:lnSpc>
                <a:spcPct val="251750"/>
              </a:lnSpc>
              <a:spcBef>
                <a:spcPts val="0"/>
              </a:spcBef>
              <a:spcAft>
                <a:spcPts val="0"/>
              </a:spcAft>
              <a:buNone/>
            </a:pPr>
            <a:r>
              <a:rPr lang="en-US" sz="2800" b="1" i="0" u="none" strike="noStrike" cap="none" dirty="0">
                <a:solidFill>
                  <a:srgbClr val="333333"/>
                </a:solidFill>
                <a:latin typeface="Montserrat"/>
                <a:ea typeface="Montserrat"/>
                <a:cs typeface="Montserrat"/>
                <a:sym typeface="Montserrat"/>
              </a:rPr>
              <a:t>Section 3.1.8: </a:t>
            </a:r>
            <a:r>
              <a:rPr lang="en-GB" sz="2800" b="1" i="0" u="none" strike="noStrike" cap="none" dirty="0">
                <a:solidFill>
                  <a:srgbClr val="333333"/>
                </a:solidFill>
                <a:latin typeface="Montserrat"/>
                <a:ea typeface="Montserrat"/>
                <a:cs typeface="Montserrat"/>
                <a:sym typeface="Montserrat"/>
              </a:rPr>
              <a:t>PBL - Cybersecurity Risk Analysis in 5G Smart Cities </a:t>
            </a:r>
          </a:p>
          <a:p>
            <a:pPr marL="0" marR="0" lvl="0" indent="0" algn="l" rtl="0">
              <a:lnSpc>
                <a:spcPct val="251750"/>
              </a:lnSpc>
              <a:spcBef>
                <a:spcPts val="0"/>
              </a:spcBef>
              <a:spcAft>
                <a:spcPts val="0"/>
              </a:spcAft>
              <a:buNone/>
            </a:pPr>
            <a:r>
              <a:rPr lang="en-GB" sz="2800" b="1" dirty="0">
                <a:solidFill>
                  <a:srgbClr val="333333"/>
                </a:solidFill>
                <a:latin typeface="Montserrat"/>
                <a:ea typeface="Montserrat"/>
                <a:cs typeface="Montserrat"/>
                <a:sym typeface="Montserrat"/>
              </a:rPr>
              <a:t>Part 2:</a:t>
            </a:r>
            <a:r>
              <a:rPr lang="en-GB" sz="2800" b="1" i="0" u="none" strike="noStrike" cap="none" dirty="0">
                <a:solidFill>
                  <a:srgbClr val="333333"/>
                </a:solidFill>
                <a:latin typeface="Montserrat"/>
                <a:ea typeface="Montserrat"/>
                <a:cs typeface="Montserrat"/>
                <a:sym typeface="Montserrat"/>
              </a:rPr>
              <a:t> Lab Validation &amp; Threat Modelling Setup</a:t>
            </a:r>
          </a:p>
          <a:p>
            <a:pPr marL="0" marR="0" lvl="0" indent="0" algn="l" rtl="0">
              <a:lnSpc>
                <a:spcPct val="251750"/>
              </a:lnSpc>
              <a:spcBef>
                <a:spcPts val="0"/>
              </a:spcBef>
              <a:spcAft>
                <a:spcPts val="0"/>
              </a:spcAft>
              <a:buNone/>
            </a:pPr>
            <a:r>
              <a:rPr lang="en-GB" sz="2800" b="1" i="0" u="none" strike="noStrike" cap="none" dirty="0" err="1">
                <a:solidFill>
                  <a:srgbClr val="333333"/>
                </a:solidFill>
                <a:latin typeface="Montserrat"/>
                <a:ea typeface="Montserrat"/>
                <a:cs typeface="Montserrat"/>
                <a:sym typeface="Montserrat"/>
              </a:rPr>
              <a:t>NeoCity</a:t>
            </a:r>
            <a:r>
              <a:rPr lang="en-GB" sz="2800" b="1" i="0" u="none" strike="noStrike" cap="none" dirty="0">
                <a:solidFill>
                  <a:srgbClr val="333333"/>
                </a:solidFill>
                <a:latin typeface="Montserrat"/>
                <a:ea typeface="Montserrat"/>
                <a:cs typeface="Montserrat"/>
                <a:sym typeface="Montserrat"/>
              </a:rPr>
              <a:t> scenario - Connected Traffic Signal System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1. </a:t>
            </a:r>
            <a:r>
              <a:rPr lang="en-GB" sz="3999" b="1" i="0" u="none" strike="noStrike" cap="none" dirty="0">
                <a:solidFill>
                  <a:srgbClr val="3A91B9"/>
                </a:solidFill>
                <a:latin typeface="Montserrat"/>
                <a:ea typeface="Montserrat"/>
                <a:cs typeface="Montserrat"/>
                <a:sym typeface="Montserrat"/>
              </a:rPr>
              <a:t>Practical Lab Validation &amp; Threat Modelling Setup</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514179"/>
            <a:ext cx="6864016" cy="50576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Validate the </a:t>
            </a:r>
            <a:r>
              <a:rPr lang="en-GB" sz="2400" b="1" dirty="0" err="1">
                <a:solidFill>
                  <a:schemeClr val="tx1"/>
                </a:solidFill>
                <a:latin typeface="Montserrat" pitchFamily="34" charset="0"/>
                <a:ea typeface="Montserrat" pitchFamily="34" charset="-122"/>
                <a:cs typeface="Montserrat" pitchFamily="34" charset="-120"/>
              </a:rPr>
              <a:t>NeoCity</a:t>
            </a:r>
            <a:r>
              <a:rPr lang="en-GB" sz="2400" b="1" dirty="0">
                <a:solidFill>
                  <a:schemeClr val="tx1"/>
                </a:solidFill>
                <a:latin typeface="Montserrat" pitchFamily="34" charset="0"/>
                <a:ea typeface="Montserrat" pitchFamily="34" charset="-122"/>
                <a:cs typeface="Montserrat" pitchFamily="34" charset="-120"/>
              </a:rPr>
              <a:t> 5G lab environment</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Check </a:t>
            </a:r>
            <a:r>
              <a:rPr lang="en-GB" sz="2400" b="1" dirty="0">
                <a:solidFill>
                  <a:schemeClr val="tx1"/>
                </a:solidFill>
                <a:latin typeface="Montserrat" pitchFamily="34" charset="0"/>
                <a:ea typeface="Montserrat" pitchFamily="34" charset="-122"/>
                <a:cs typeface="Montserrat" pitchFamily="34" charset="-120"/>
              </a:rPr>
              <a:t>Docker containers </a:t>
            </a:r>
            <a:r>
              <a:rPr lang="en-GB" sz="2400" dirty="0">
                <a:solidFill>
                  <a:schemeClr val="tx1"/>
                </a:solidFill>
                <a:latin typeface="Montserrat" pitchFamily="34" charset="0"/>
                <a:ea typeface="Montserrat" pitchFamily="34" charset="-122"/>
                <a:cs typeface="Montserrat" pitchFamily="34" charset="-120"/>
              </a:rPr>
              <a:t>and running services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Confirm </a:t>
            </a:r>
            <a:r>
              <a:rPr lang="en-GB" sz="2400" b="1" dirty="0">
                <a:solidFill>
                  <a:schemeClr val="tx1"/>
                </a:solidFill>
                <a:latin typeface="Montserrat" pitchFamily="34" charset="0"/>
                <a:ea typeface="Montserrat" pitchFamily="34" charset="-122"/>
                <a:cs typeface="Montserrat" pitchFamily="34" charset="-120"/>
              </a:rPr>
              <a:t>network connectivity </a:t>
            </a:r>
            <a:r>
              <a:rPr lang="en-GB" sz="2400" dirty="0">
                <a:solidFill>
                  <a:schemeClr val="tx1"/>
                </a:solidFill>
                <a:latin typeface="Montserrat" pitchFamily="34" charset="0"/>
                <a:ea typeface="Montserrat" pitchFamily="34" charset="-122"/>
                <a:cs typeface="Montserrat" pitchFamily="34" charset="-120"/>
              </a:rPr>
              <a:t>and exposed ports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Launch and verify the </a:t>
            </a:r>
            <a:r>
              <a:rPr lang="en-GB" sz="2400" b="1" dirty="0">
                <a:solidFill>
                  <a:schemeClr val="tx1"/>
                </a:solidFill>
                <a:latin typeface="Montserrat" pitchFamily="34" charset="0"/>
                <a:ea typeface="Montserrat" pitchFamily="34" charset="-122"/>
                <a:cs typeface="Montserrat" pitchFamily="34" charset="-120"/>
              </a:rPr>
              <a:t>traffic simulation</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Observe initial </a:t>
            </a:r>
            <a:r>
              <a:rPr lang="en-GB" sz="2400" b="1" dirty="0">
                <a:solidFill>
                  <a:schemeClr val="tx1"/>
                </a:solidFill>
                <a:latin typeface="Montserrat" pitchFamily="34" charset="0"/>
                <a:ea typeface="Montserrat" pitchFamily="34" charset="-122"/>
                <a:cs typeface="Montserrat" pitchFamily="34" charset="-120"/>
              </a:rPr>
              <a:t>monitoring and telemetry data</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Prepare threat modelling with </a:t>
            </a:r>
            <a:r>
              <a:rPr lang="en-GB" sz="2400" b="1" dirty="0">
                <a:solidFill>
                  <a:schemeClr val="tx1"/>
                </a:solidFill>
                <a:latin typeface="Montserrat" pitchFamily="34" charset="0"/>
                <a:ea typeface="Montserrat" pitchFamily="34" charset="-122"/>
                <a:cs typeface="Montserrat" pitchFamily="34" charset="-120"/>
              </a:rPr>
              <a:t>evidence-based insights</a:t>
            </a:r>
          </a:p>
        </p:txBody>
      </p:sp>
      <p:pic>
        <p:nvPicPr>
          <p:cNvPr id="2" name="Picture 2">
            <a:extLst>
              <a:ext uri="{FF2B5EF4-FFF2-40B4-BE49-F238E27FC236}">
                <a16:creationId xmlns:a16="http://schemas.microsoft.com/office/drawing/2014/main" id="{952882F1-6A6B-42FA-9272-4BA9F7AF7FB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025" b="8976"/>
          <a:stretch/>
        </p:blipFill>
        <p:spPr bwMode="auto">
          <a:xfrm>
            <a:off x="8298868" y="2514179"/>
            <a:ext cx="9810310" cy="6189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30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dirty="0">
                <a:solidFill>
                  <a:srgbClr val="3A91B9"/>
                </a:solidFill>
                <a:latin typeface="Montserrat"/>
                <a:ea typeface="Montserrat"/>
                <a:cs typeface="Montserrat"/>
                <a:sym typeface="Montserrat"/>
              </a:rPr>
              <a:t>2</a:t>
            </a:r>
            <a:r>
              <a:rPr lang="en-US" sz="3999" b="1" i="0" u="none" strike="noStrike" cap="none" dirty="0">
                <a:solidFill>
                  <a:srgbClr val="3A91B9"/>
                </a:solidFill>
                <a:latin typeface="Montserrat"/>
                <a:ea typeface="Montserrat"/>
                <a:cs typeface="Montserrat"/>
                <a:sym typeface="Montserrat"/>
              </a:rPr>
              <a:t>. </a:t>
            </a:r>
            <a:r>
              <a:rPr lang="en-GB" sz="3999" b="1" i="0" u="none" strike="noStrike" cap="none" dirty="0">
                <a:solidFill>
                  <a:srgbClr val="3A91B9"/>
                </a:solidFill>
                <a:latin typeface="Montserrat"/>
                <a:ea typeface="Montserrat"/>
                <a:cs typeface="Montserrat"/>
                <a:sym typeface="Montserrat"/>
              </a:rPr>
              <a:t>Docker Lab Services Overview</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79"/>
            <a:ext cx="16874289" cy="50576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mec-stub:</a:t>
            </a:r>
            <a:r>
              <a:rPr lang="en-GB" sz="2400" dirty="0">
                <a:solidFill>
                  <a:schemeClr val="tx1"/>
                </a:solidFill>
                <a:latin typeface="Montserrat" pitchFamily="34" charset="0"/>
                <a:ea typeface="Montserrat" pitchFamily="34" charset="-122"/>
                <a:cs typeface="Montserrat" pitchFamily="34" charset="-120"/>
              </a:rPr>
              <a:t> Simulated MEC application for traffic-control logic</a:t>
            </a:r>
          </a:p>
          <a:p>
            <a:pPr marL="342900" indent="-342900" algn="just">
              <a:lnSpc>
                <a:spcPct val="150000"/>
              </a:lnSpc>
              <a:buFont typeface="Arial" panose="020B0604020202020204" pitchFamily="34" charset="0"/>
              <a:buChar char="•"/>
            </a:pPr>
            <a:r>
              <a:rPr lang="en-GB" sz="2400" b="1" dirty="0" err="1">
                <a:solidFill>
                  <a:schemeClr val="tx1"/>
                </a:solidFill>
                <a:latin typeface="Montserrat" pitchFamily="34" charset="0"/>
                <a:ea typeface="Montserrat" pitchFamily="34" charset="-122"/>
                <a:cs typeface="Montserrat" pitchFamily="34" charset="-120"/>
              </a:rPr>
              <a:t>Mosquitto</a:t>
            </a:r>
            <a:r>
              <a:rPr lang="en-GB" sz="2400" b="1" dirty="0">
                <a:solidFill>
                  <a:schemeClr val="tx1"/>
                </a:solidFill>
                <a:latin typeface="Montserrat" pitchFamily="34" charset="0"/>
                <a:ea typeface="Montserrat" pitchFamily="34" charset="-122"/>
                <a:cs typeface="Montserrat" pitchFamily="34" charset="-120"/>
              </a:rPr>
              <a:t>:</a:t>
            </a:r>
            <a:r>
              <a:rPr lang="en-GB" sz="2400" dirty="0">
                <a:solidFill>
                  <a:schemeClr val="tx1"/>
                </a:solidFill>
                <a:latin typeface="Montserrat" pitchFamily="34" charset="0"/>
                <a:ea typeface="Montserrat" pitchFamily="34" charset="-122"/>
                <a:cs typeface="Montserrat" pitchFamily="34" charset="-120"/>
              </a:rPr>
              <a:t> MQTT broker carrying </a:t>
            </a:r>
            <a:r>
              <a:rPr lang="en-GB" sz="2400" b="1" dirty="0">
                <a:solidFill>
                  <a:schemeClr val="tx1"/>
                </a:solidFill>
                <a:latin typeface="Montserrat" pitchFamily="34" charset="0"/>
                <a:ea typeface="Montserrat" pitchFamily="34" charset="-122"/>
                <a:cs typeface="Montserrat" pitchFamily="34" charset="-120"/>
              </a:rPr>
              <a:t>telemetry data</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Suricata:</a:t>
            </a:r>
            <a:r>
              <a:rPr lang="en-GB" sz="2400" dirty="0">
                <a:solidFill>
                  <a:schemeClr val="tx1"/>
                </a:solidFill>
                <a:latin typeface="Montserrat" pitchFamily="34" charset="0"/>
                <a:ea typeface="Montserrat" pitchFamily="34" charset="-122"/>
                <a:cs typeface="Montserrat" pitchFamily="34" charset="-120"/>
              </a:rPr>
              <a:t> Network </a:t>
            </a:r>
            <a:r>
              <a:rPr lang="en-GB" sz="2400" b="1" dirty="0">
                <a:solidFill>
                  <a:schemeClr val="tx1"/>
                </a:solidFill>
                <a:latin typeface="Montserrat" pitchFamily="34" charset="0"/>
                <a:ea typeface="Montserrat" pitchFamily="34" charset="-122"/>
                <a:cs typeface="Montserrat" pitchFamily="34" charset="-120"/>
              </a:rPr>
              <a:t>IDS</a:t>
            </a:r>
            <a:r>
              <a:rPr lang="en-GB" sz="2400" dirty="0">
                <a:solidFill>
                  <a:schemeClr val="tx1"/>
                </a:solidFill>
                <a:latin typeface="Montserrat" pitchFamily="34" charset="0"/>
                <a:ea typeface="Montserrat" pitchFamily="34" charset="-122"/>
                <a:cs typeface="Montserrat" pitchFamily="34" charset="-120"/>
              </a:rPr>
              <a:t> monitoring </a:t>
            </a:r>
            <a:r>
              <a:rPr lang="en-GB" sz="2400" dirty="0" err="1">
                <a:solidFill>
                  <a:schemeClr val="tx1"/>
                </a:solidFill>
                <a:latin typeface="Montserrat" pitchFamily="34" charset="0"/>
                <a:ea typeface="Montserrat" pitchFamily="34" charset="-122"/>
                <a:cs typeface="Montserrat" pitchFamily="34" charset="-120"/>
              </a:rPr>
              <a:t>NeoCity</a:t>
            </a:r>
            <a:r>
              <a:rPr lang="en-GB" sz="2400" dirty="0">
                <a:solidFill>
                  <a:schemeClr val="tx1"/>
                </a:solidFill>
                <a:latin typeface="Montserrat" pitchFamily="34" charset="0"/>
                <a:ea typeface="Montserrat" pitchFamily="34" charset="-122"/>
                <a:cs typeface="Montserrat" pitchFamily="34" charset="-120"/>
              </a:rPr>
              <a:t> traffic flows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Prometheus:</a:t>
            </a:r>
            <a:r>
              <a:rPr lang="en-GB" sz="2400" dirty="0">
                <a:solidFill>
                  <a:schemeClr val="tx1"/>
                </a:solidFill>
                <a:latin typeface="Montserrat" pitchFamily="34" charset="0"/>
                <a:ea typeface="Montserrat" pitchFamily="34" charset="-122"/>
                <a:cs typeface="Montserrat" pitchFamily="34" charset="-120"/>
              </a:rPr>
              <a:t> Collects </a:t>
            </a:r>
            <a:r>
              <a:rPr lang="en-GB" sz="2400" b="1" dirty="0">
                <a:solidFill>
                  <a:schemeClr val="tx1"/>
                </a:solidFill>
                <a:latin typeface="Montserrat" pitchFamily="34" charset="0"/>
                <a:ea typeface="Montserrat" pitchFamily="34" charset="-122"/>
                <a:cs typeface="Montserrat" pitchFamily="34" charset="-120"/>
              </a:rPr>
              <a:t>metrics</a:t>
            </a:r>
            <a:r>
              <a:rPr lang="en-GB" sz="2400" dirty="0">
                <a:solidFill>
                  <a:schemeClr val="tx1"/>
                </a:solidFill>
                <a:latin typeface="Montserrat" pitchFamily="34" charset="0"/>
                <a:ea typeface="Montserrat" pitchFamily="34" charset="-122"/>
                <a:cs typeface="Montserrat" pitchFamily="34" charset="-120"/>
              </a:rPr>
              <a:t> from lab services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Grafana:</a:t>
            </a:r>
            <a:r>
              <a:rPr lang="en-GB" sz="2400" dirty="0">
                <a:solidFill>
                  <a:schemeClr val="tx1"/>
                </a:solidFill>
                <a:latin typeface="Montserrat" pitchFamily="34" charset="0"/>
                <a:ea typeface="Montserrat" pitchFamily="34" charset="-122"/>
                <a:cs typeface="Montserrat" pitchFamily="34" charset="-120"/>
              </a:rPr>
              <a:t> Dashboards for </a:t>
            </a:r>
            <a:r>
              <a:rPr lang="en-GB" sz="2400" b="1" dirty="0">
                <a:solidFill>
                  <a:schemeClr val="tx1"/>
                </a:solidFill>
                <a:latin typeface="Montserrat" pitchFamily="34" charset="0"/>
                <a:ea typeface="Montserrat" pitchFamily="34" charset="-122"/>
                <a:cs typeface="Montserrat" pitchFamily="34" charset="-120"/>
              </a:rPr>
              <a:t>visualising telemetry and alerts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Attacker:</a:t>
            </a:r>
            <a:r>
              <a:rPr lang="en-GB" sz="2400" dirty="0">
                <a:solidFill>
                  <a:schemeClr val="tx1"/>
                </a:solidFill>
                <a:latin typeface="Montserrat" pitchFamily="34" charset="0"/>
                <a:ea typeface="Montserrat" pitchFamily="34" charset="-122"/>
                <a:cs typeface="Montserrat" pitchFamily="34" charset="-120"/>
              </a:rPr>
              <a:t> Container used to generate </a:t>
            </a:r>
            <a:r>
              <a:rPr lang="en-GB" sz="2400" b="1" dirty="0">
                <a:solidFill>
                  <a:schemeClr val="tx1"/>
                </a:solidFill>
                <a:latin typeface="Montserrat" pitchFamily="34" charset="0"/>
                <a:ea typeface="Montserrat" pitchFamily="34" charset="-122"/>
                <a:cs typeface="Montserrat" pitchFamily="34" charset="-120"/>
              </a:rPr>
              <a:t>test attacks and anomalies</a:t>
            </a:r>
          </a:p>
        </p:txBody>
      </p:sp>
      <p:pic>
        <p:nvPicPr>
          <p:cNvPr id="6" name="Imagen 5">
            <a:extLst>
              <a:ext uri="{FF2B5EF4-FFF2-40B4-BE49-F238E27FC236}">
                <a16:creationId xmlns:a16="http://schemas.microsoft.com/office/drawing/2014/main" id="{E56B68E0-81CA-40C3-BE62-F5C37E2064F0}"/>
              </a:ext>
            </a:extLst>
          </p:cNvPr>
          <p:cNvPicPr>
            <a:picLocks noChangeAspect="1"/>
          </p:cNvPicPr>
          <p:nvPr/>
        </p:nvPicPr>
        <p:blipFill>
          <a:blip r:embed="rId5"/>
          <a:stretch>
            <a:fillRect/>
          </a:stretch>
        </p:blipFill>
        <p:spPr>
          <a:xfrm>
            <a:off x="92708" y="6151062"/>
            <a:ext cx="18179250" cy="2015131"/>
          </a:xfrm>
          <a:prstGeom prst="rect">
            <a:avLst/>
          </a:prstGeom>
        </p:spPr>
      </p:pic>
      <p:sp>
        <p:nvSpPr>
          <p:cNvPr id="10" name="Google Shape;421;p25">
            <a:extLst>
              <a:ext uri="{FF2B5EF4-FFF2-40B4-BE49-F238E27FC236}">
                <a16:creationId xmlns:a16="http://schemas.microsoft.com/office/drawing/2014/main" id="{F8D231C6-90D6-4C74-9069-4F54089A43F4}"/>
              </a:ext>
            </a:extLst>
          </p:cNvPr>
          <p:cNvSpPr txBox="1"/>
          <p:nvPr/>
        </p:nvSpPr>
        <p:spPr>
          <a:xfrm>
            <a:off x="14205285" y="5706540"/>
            <a:ext cx="3054015" cy="444522"/>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a:solidFill>
                  <a:srgbClr val="3A91B9"/>
                </a:solidFill>
                <a:latin typeface="Montserrat"/>
                <a:ea typeface="Montserrat"/>
                <a:cs typeface="Montserrat"/>
                <a:sym typeface="Montserrat"/>
              </a:rPr>
              <a:t>$ docker </a:t>
            </a:r>
            <a:r>
              <a:rPr lang="es-ES" sz="2000" b="1" dirty="0" err="1">
                <a:solidFill>
                  <a:srgbClr val="3A91B9"/>
                </a:solidFill>
                <a:latin typeface="Montserrat"/>
                <a:ea typeface="Montserrat"/>
                <a:cs typeface="Montserrat"/>
                <a:sym typeface="Montserrat"/>
              </a:rPr>
              <a:t>ps</a:t>
            </a:r>
            <a:r>
              <a:rPr lang="es-ES" sz="2000" b="1" dirty="0">
                <a:solidFill>
                  <a:srgbClr val="3A91B9"/>
                </a:solidFill>
                <a:latin typeface="Montserrat"/>
                <a:ea typeface="Montserrat"/>
                <a:cs typeface="Montserrat"/>
                <a:sym typeface="Montserrat"/>
              </a:rPr>
              <a:t> -a</a:t>
            </a:r>
            <a:endParaRPr sz="2000" dirty="0"/>
          </a:p>
        </p:txBody>
      </p:sp>
    </p:spTree>
    <p:extLst>
      <p:ext uri="{BB962C8B-B14F-4D97-AF65-F5344CB8AC3E}">
        <p14:creationId xmlns:p14="http://schemas.microsoft.com/office/powerpoint/2010/main" val="2108714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3. </a:t>
            </a:r>
            <a:r>
              <a:rPr lang="en-GB" sz="3999" b="1" i="0" u="none" strike="noStrike" cap="none" dirty="0">
                <a:solidFill>
                  <a:srgbClr val="3A91B9"/>
                </a:solidFill>
                <a:latin typeface="Montserrat"/>
                <a:ea typeface="Montserrat"/>
                <a:cs typeface="Montserrat"/>
                <a:sym typeface="Montserrat"/>
              </a:rPr>
              <a:t>Service Status &amp; Logs Inspection</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79"/>
            <a:ext cx="16874289" cy="50576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Validate </a:t>
            </a:r>
            <a:r>
              <a:rPr lang="en-GB" sz="2400" b="1" dirty="0">
                <a:solidFill>
                  <a:schemeClr val="tx1"/>
                </a:solidFill>
                <a:latin typeface="Montserrat" pitchFamily="34" charset="0"/>
                <a:ea typeface="Montserrat" pitchFamily="34" charset="-122"/>
                <a:cs typeface="Montserrat" pitchFamily="34" charset="-120"/>
              </a:rPr>
              <a:t>critical services </a:t>
            </a:r>
            <a:r>
              <a:rPr lang="en-GB" sz="2400" dirty="0">
                <a:solidFill>
                  <a:schemeClr val="tx1"/>
                </a:solidFill>
                <a:latin typeface="Montserrat" pitchFamily="34" charset="0"/>
                <a:ea typeface="Montserrat" pitchFamily="34" charset="-122"/>
                <a:cs typeface="Montserrat" pitchFamily="34" charset="-120"/>
              </a:rPr>
              <a:t>are healthy</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Inspect </a:t>
            </a:r>
            <a:r>
              <a:rPr lang="en-GB" sz="2400" b="1" dirty="0">
                <a:solidFill>
                  <a:schemeClr val="tx1"/>
                </a:solidFill>
                <a:latin typeface="Montserrat" pitchFamily="34" charset="0"/>
                <a:ea typeface="Montserrat" pitchFamily="34" charset="-122"/>
                <a:cs typeface="Montserrat" pitchFamily="34" charset="-120"/>
              </a:rPr>
              <a:t>logs</a:t>
            </a:r>
            <a:r>
              <a:rPr lang="en-GB" sz="2400" dirty="0">
                <a:solidFill>
                  <a:schemeClr val="tx1"/>
                </a:solidFill>
                <a:latin typeface="Montserrat" pitchFamily="34" charset="0"/>
                <a:ea typeface="Montserrat" pitchFamily="34" charset="-122"/>
                <a:cs typeface="Montserrat" pitchFamily="34" charset="-120"/>
              </a:rPr>
              <a:t> for errors or warnings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Confirm that the </a:t>
            </a:r>
            <a:r>
              <a:rPr lang="en-GB" sz="2400" b="1" dirty="0">
                <a:solidFill>
                  <a:schemeClr val="tx1"/>
                </a:solidFill>
                <a:latin typeface="Montserrat" pitchFamily="34" charset="0"/>
                <a:ea typeface="Montserrat" pitchFamily="34" charset="-122"/>
                <a:cs typeface="Montserrat" pitchFamily="34" charset="-120"/>
              </a:rPr>
              <a:t>MEC app </a:t>
            </a:r>
            <a:r>
              <a:rPr lang="en-GB" sz="2400" dirty="0">
                <a:solidFill>
                  <a:schemeClr val="tx1"/>
                </a:solidFill>
                <a:latin typeface="Montserrat" pitchFamily="34" charset="0"/>
                <a:ea typeface="Montserrat" pitchFamily="34" charset="-122"/>
                <a:cs typeface="Montserrat" pitchFamily="34" charset="-120"/>
              </a:rPr>
              <a:t>and monitoring are functioning</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Check </a:t>
            </a:r>
            <a:r>
              <a:rPr lang="en-GB" sz="2400" b="1" dirty="0">
                <a:solidFill>
                  <a:schemeClr val="tx1"/>
                </a:solidFill>
                <a:latin typeface="Montserrat" pitchFamily="34" charset="0"/>
                <a:ea typeface="Montserrat" pitchFamily="34" charset="-122"/>
                <a:cs typeface="Montserrat" pitchFamily="34" charset="-120"/>
              </a:rPr>
              <a:t>data flow </a:t>
            </a:r>
            <a:r>
              <a:rPr lang="en-GB" sz="2400" dirty="0">
                <a:solidFill>
                  <a:schemeClr val="tx1"/>
                </a:solidFill>
                <a:latin typeface="Montserrat" pitchFamily="34" charset="0"/>
                <a:ea typeface="Montserrat" pitchFamily="34" charset="-122"/>
                <a:cs typeface="Montserrat" pitchFamily="34" charset="-120"/>
              </a:rPr>
              <a:t>between components (MQTT → MEC → Suricata)</a:t>
            </a:r>
          </a:p>
        </p:txBody>
      </p:sp>
      <p:pic>
        <p:nvPicPr>
          <p:cNvPr id="7" name="Imagen 6">
            <a:extLst>
              <a:ext uri="{FF2B5EF4-FFF2-40B4-BE49-F238E27FC236}">
                <a16:creationId xmlns:a16="http://schemas.microsoft.com/office/drawing/2014/main" id="{693D9645-E000-4528-9FDF-F2097090C20A}"/>
              </a:ext>
            </a:extLst>
          </p:cNvPr>
          <p:cNvPicPr>
            <a:picLocks noChangeAspect="1"/>
          </p:cNvPicPr>
          <p:nvPr/>
        </p:nvPicPr>
        <p:blipFill>
          <a:blip r:embed="rId5"/>
          <a:stretch>
            <a:fillRect/>
          </a:stretch>
        </p:blipFill>
        <p:spPr>
          <a:xfrm>
            <a:off x="1257145" y="5624763"/>
            <a:ext cx="6020109" cy="1803493"/>
          </a:xfrm>
          <a:prstGeom prst="rect">
            <a:avLst/>
          </a:prstGeom>
        </p:spPr>
      </p:pic>
      <p:pic>
        <p:nvPicPr>
          <p:cNvPr id="9" name="Imagen 8">
            <a:extLst>
              <a:ext uri="{FF2B5EF4-FFF2-40B4-BE49-F238E27FC236}">
                <a16:creationId xmlns:a16="http://schemas.microsoft.com/office/drawing/2014/main" id="{32F99309-6709-4296-9767-4CB73FB7CB58}"/>
              </a:ext>
            </a:extLst>
          </p:cNvPr>
          <p:cNvPicPr>
            <a:picLocks noChangeAspect="1"/>
          </p:cNvPicPr>
          <p:nvPr/>
        </p:nvPicPr>
        <p:blipFill>
          <a:blip r:embed="rId6"/>
          <a:stretch>
            <a:fillRect/>
          </a:stretch>
        </p:blipFill>
        <p:spPr>
          <a:xfrm>
            <a:off x="8393340" y="5624763"/>
            <a:ext cx="7372729" cy="1809843"/>
          </a:xfrm>
          <a:prstGeom prst="rect">
            <a:avLst/>
          </a:prstGeom>
        </p:spPr>
      </p:pic>
      <p:pic>
        <p:nvPicPr>
          <p:cNvPr id="11" name="Imagen 10">
            <a:extLst>
              <a:ext uri="{FF2B5EF4-FFF2-40B4-BE49-F238E27FC236}">
                <a16:creationId xmlns:a16="http://schemas.microsoft.com/office/drawing/2014/main" id="{BF879085-91D4-438A-BBBC-62A6FBFE100C}"/>
              </a:ext>
            </a:extLst>
          </p:cNvPr>
          <p:cNvPicPr>
            <a:picLocks noChangeAspect="1"/>
          </p:cNvPicPr>
          <p:nvPr/>
        </p:nvPicPr>
        <p:blipFill rotWithShape="1">
          <a:blip r:embed="rId7"/>
          <a:srcRect b="23961"/>
          <a:stretch/>
        </p:blipFill>
        <p:spPr>
          <a:xfrm>
            <a:off x="7277254" y="8262445"/>
            <a:ext cx="6127908" cy="1820358"/>
          </a:xfrm>
          <a:prstGeom prst="rect">
            <a:avLst/>
          </a:prstGeom>
        </p:spPr>
      </p:pic>
      <p:sp>
        <p:nvSpPr>
          <p:cNvPr id="15" name="Google Shape;421;p25">
            <a:extLst>
              <a:ext uri="{FF2B5EF4-FFF2-40B4-BE49-F238E27FC236}">
                <a16:creationId xmlns:a16="http://schemas.microsoft.com/office/drawing/2014/main" id="{ABF2EB76-475C-4472-9E15-5D9E866B3083}"/>
              </a:ext>
            </a:extLst>
          </p:cNvPr>
          <p:cNvSpPr txBox="1"/>
          <p:nvPr/>
        </p:nvSpPr>
        <p:spPr>
          <a:xfrm>
            <a:off x="1724527" y="5064034"/>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a:solidFill>
                  <a:srgbClr val="3A91B9"/>
                </a:solidFill>
                <a:latin typeface="Montserrat"/>
                <a:ea typeface="Montserrat"/>
                <a:cs typeface="Montserrat"/>
                <a:sym typeface="Montserrat"/>
              </a:rPr>
              <a:t>$ </a:t>
            </a:r>
            <a:r>
              <a:rPr lang="sv-SE" sz="2000" b="1" dirty="0">
                <a:solidFill>
                  <a:srgbClr val="3A91B9"/>
                </a:solidFill>
                <a:latin typeface="Montserrat"/>
                <a:ea typeface="Montserrat"/>
                <a:cs typeface="Montserrat"/>
                <a:sym typeface="Montserrat"/>
              </a:rPr>
              <a:t>docker logs mec-stub --tail 1</a:t>
            </a:r>
            <a:endParaRPr sz="2000" dirty="0"/>
          </a:p>
        </p:txBody>
      </p:sp>
      <p:sp>
        <p:nvSpPr>
          <p:cNvPr id="16" name="Google Shape;421;p25">
            <a:extLst>
              <a:ext uri="{FF2B5EF4-FFF2-40B4-BE49-F238E27FC236}">
                <a16:creationId xmlns:a16="http://schemas.microsoft.com/office/drawing/2014/main" id="{ABBB234D-7ACD-4D98-8E82-D8F5BAAC7F22}"/>
              </a:ext>
            </a:extLst>
          </p:cNvPr>
          <p:cNvSpPr txBox="1"/>
          <p:nvPr/>
        </p:nvSpPr>
        <p:spPr>
          <a:xfrm>
            <a:off x="7804484" y="7727784"/>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err="1">
                <a:solidFill>
                  <a:srgbClr val="3A91B9"/>
                </a:solidFill>
                <a:latin typeface="Montserrat"/>
                <a:ea typeface="Montserrat"/>
                <a:cs typeface="Montserrat"/>
                <a:sym typeface="Montserrat"/>
              </a:rPr>
              <a:t>Metric</a:t>
            </a:r>
            <a:r>
              <a:rPr lang="es-ES" sz="2000" b="1" dirty="0">
                <a:solidFill>
                  <a:srgbClr val="3A91B9"/>
                </a:solidFill>
                <a:latin typeface="Montserrat"/>
                <a:ea typeface="Montserrat"/>
                <a:cs typeface="Montserrat"/>
                <a:sym typeface="Montserrat"/>
              </a:rPr>
              <a:t> </a:t>
            </a:r>
            <a:r>
              <a:rPr lang="es-ES" sz="2000" b="1" dirty="0" err="1">
                <a:solidFill>
                  <a:srgbClr val="3A91B9"/>
                </a:solidFill>
                <a:latin typeface="Montserrat"/>
                <a:ea typeface="Montserrat"/>
                <a:cs typeface="Montserrat"/>
                <a:sym typeface="Montserrat"/>
              </a:rPr>
              <a:t>confirmation</a:t>
            </a:r>
            <a:endParaRPr sz="2000" dirty="0"/>
          </a:p>
        </p:txBody>
      </p:sp>
      <p:sp>
        <p:nvSpPr>
          <p:cNvPr id="17" name="Google Shape;421;p25">
            <a:extLst>
              <a:ext uri="{FF2B5EF4-FFF2-40B4-BE49-F238E27FC236}">
                <a16:creationId xmlns:a16="http://schemas.microsoft.com/office/drawing/2014/main" id="{F855BE7D-4E95-4AE0-8173-6E24A7CBA941}"/>
              </a:ext>
            </a:extLst>
          </p:cNvPr>
          <p:cNvSpPr txBox="1"/>
          <p:nvPr/>
        </p:nvSpPr>
        <p:spPr>
          <a:xfrm>
            <a:off x="9019391" y="5195426"/>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a:solidFill>
                  <a:srgbClr val="3A91B9"/>
                </a:solidFill>
                <a:latin typeface="Montserrat"/>
                <a:ea typeface="Montserrat"/>
                <a:cs typeface="Montserrat"/>
                <a:sym typeface="Montserrat"/>
              </a:rPr>
              <a:t>$ </a:t>
            </a:r>
            <a:r>
              <a:rPr lang="sv-SE" sz="2000" b="1" dirty="0">
                <a:solidFill>
                  <a:srgbClr val="3A91B9"/>
                </a:solidFill>
                <a:latin typeface="Montserrat"/>
                <a:ea typeface="Montserrat"/>
                <a:cs typeface="Montserrat"/>
                <a:sym typeface="Montserrat"/>
              </a:rPr>
              <a:t>docker logs suricata --tail 1</a:t>
            </a:r>
            <a:endParaRPr sz="2000" dirty="0"/>
          </a:p>
        </p:txBody>
      </p:sp>
    </p:spTree>
    <p:extLst>
      <p:ext uri="{BB962C8B-B14F-4D97-AF65-F5344CB8AC3E}">
        <p14:creationId xmlns:p14="http://schemas.microsoft.com/office/powerpoint/2010/main" val="812412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4. </a:t>
            </a:r>
            <a:r>
              <a:rPr lang="en-GB" sz="3999" b="1" i="0" u="none" strike="noStrike" cap="none" dirty="0">
                <a:solidFill>
                  <a:srgbClr val="3A91B9"/>
                </a:solidFill>
                <a:latin typeface="Montserrat"/>
                <a:ea typeface="Montserrat"/>
                <a:cs typeface="Montserrat"/>
                <a:sym typeface="Montserrat"/>
              </a:rPr>
              <a:t>Simulating Unauthorized Traffic (Attack Surface)</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79"/>
            <a:ext cx="16874289" cy="5057695"/>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The </a:t>
            </a:r>
            <a:r>
              <a:rPr lang="en-GB" sz="2400" b="1" dirty="0">
                <a:solidFill>
                  <a:schemeClr val="tx1"/>
                </a:solidFill>
                <a:latin typeface="Montserrat" pitchFamily="34" charset="0"/>
                <a:ea typeface="Montserrat" pitchFamily="34" charset="-122"/>
                <a:cs typeface="Montserrat" pitchFamily="34" charset="-120"/>
              </a:rPr>
              <a:t>attacker container </a:t>
            </a:r>
            <a:r>
              <a:rPr lang="en-GB" sz="2400" dirty="0">
                <a:solidFill>
                  <a:schemeClr val="tx1"/>
                </a:solidFill>
                <a:latin typeface="Montserrat" pitchFamily="34" charset="0"/>
                <a:ea typeface="Montserrat" pitchFamily="34" charset="-122"/>
                <a:cs typeface="Montserrat" pitchFamily="34" charset="-120"/>
              </a:rPr>
              <a:t>generates traffic </a:t>
            </a:r>
            <a:r>
              <a:rPr lang="en-GB" sz="2400" b="1" dirty="0">
                <a:solidFill>
                  <a:schemeClr val="tx1"/>
                </a:solidFill>
                <a:latin typeface="Montserrat" pitchFamily="34" charset="0"/>
                <a:ea typeface="Montserrat" pitchFamily="34" charset="-122"/>
                <a:cs typeface="Montserrat" pitchFamily="34" charset="-120"/>
              </a:rPr>
              <a:t>as an external adversary</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Two attack types targeting the MEC API:</a:t>
            </a:r>
          </a:p>
          <a:p>
            <a:pPr marL="457200" lvl="8" indent="-457200" algn="just">
              <a:lnSpc>
                <a:spcPct val="150000"/>
              </a:lnSpc>
              <a:buFont typeface="+mj-lt"/>
              <a:buAutoNum type="arabicParenR"/>
            </a:pPr>
            <a:r>
              <a:rPr lang="en-GB" sz="2400" b="1" dirty="0">
                <a:solidFill>
                  <a:schemeClr val="tx1"/>
                </a:solidFill>
                <a:latin typeface="Montserrat" pitchFamily="34" charset="0"/>
                <a:ea typeface="Montserrat" pitchFamily="34" charset="-122"/>
                <a:cs typeface="Montserrat" pitchFamily="34" charset="-120"/>
              </a:rPr>
              <a:t>Integrity</a:t>
            </a:r>
            <a:r>
              <a:rPr lang="en-GB" sz="2400" dirty="0">
                <a:solidFill>
                  <a:schemeClr val="tx1"/>
                </a:solidFill>
                <a:latin typeface="Montserrat" pitchFamily="34" charset="0"/>
                <a:ea typeface="Montserrat" pitchFamily="34" charset="-122"/>
                <a:cs typeface="Montserrat" pitchFamily="34" charset="-120"/>
              </a:rPr>
              <a:t>: unauthorized control commands (api_bypass.sh)</a:t>
            </a:r>
          </a:p>
          <a:p>
            <a:pPr marL="457200" lvl="8" indent="-457200" algn="just">
              <a:lnSpc>
                <a:spcPct val="150000"/>
              </a:lnSpc>
              <a:buFont typeface="+mj-lt"/>
              <a:buAutoNum type="arabicParenR"/>
            </a:pPr>
            <a:r>
              <a:rPr lang="en-GB" sz="2400" b="1" dirty="0">
                <a:solidFill>
                  <a:schemeClr val="tx1"/>
                </a:solidFill>
                <a:latin typeface="Montserrat" pitchFamily="34" charset="0"/>
                <a:ea typeface="Montserrat" pitchFamily="34" charset="-122"/>
                <a:cs typeface="Montserrat" pitchFamily="34" charset="-120"/>
              </a:rPr>
              <a:t>Availability</a:t>
            </a:r>
            <a:r>
              <a:rPr lang="en-GB" sz="2400" dirty="0">
                <a:solidFill>
                  <a:schemeClr val="tx1"/>
                </a:solidFill>
                <a:latin typeface="Montserrat" pitchFamily="34" charset="0"/>
                <a:ea typeface="Montserrat" pitchFamily="34" charset="-122"/>
                <a:cs typeface="Montserrat" pitchFamily="34" charset="-120"/>
              </a:rPr>
              <a:t>: flooding DoS traffic (dos_test.sh)</a:t>
            </a:r>
          </a:p>
          <a:p>
            <a:pPr marL="342900" lvl="3"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Helps evaluate how monitoring detects and responds to </a:t>
            </a:r>
            <a:r>
              <a:rPr lang="en-GB" sz="2400" b="1" dirty="0">
                <a:solidFill>
                  <a:schemeClr val="tx1"/>
                </a:solidFill>
                <a:latin typeface="Montserrat" pitchFamily="34" charset="0"/>
                <a:ea typeface="Montserrat" pitchFamily="34" charset="-122"/>
                <a:cs typeface="Montserrat" pitchFamily="34" charset="-120"/>
              </a:rPr>
              <a:t>malicious </a:t>
            </a:r>
            <a:r>
              <a:rPr lang="en-GB" sz="2400" b="1" dirty="0" err="1">
                <a:solidFill>
                  <a:schemeClr val="tx1"/>
                </a:solidFill>
                <a:latin typeface="Montserrat" pitchFamily="34" charset="0"/>
                <a:ea typeface="Montserrat" pitchFamily="34" charset="-122"/>
                <a:cs typeface="Montserrat" pitchFamily="34" charset="-120"/>
              </a:rPr>
              <a:t>behavior</a:t>
            </a:r>
            <a:endParaRPr lang="en-GB" sz="2400" b="1" dirty="0">
              <a:solidFill>
                <a:schemeClr val="tx1"/>
              </a:solidFill>
              <a:latin typeface="Montserrat" pitchFamily="34" charset="0"/>
              <a:ea typeface="Montserrat" pitchFamily="34" charset="-122"/>
              <a:cs typeface="Montserrat" pitchFamily="34" charset="-120"/>
            </a:endParaRPr>
          </a:p>
          <a:p>
            <a:pPr marL="342900" lvl="3"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Shows how </a:t>
            </a:r>
            <a:r>
              <a:rPr lang="en-GB" sz="2400" b="1" dirty="0">
                <a:solidFill>
                  <a:schemeClr val="tx1"/>
                </a:solidFill>
                <a:latin typeface="Montserrat" pitchFamily="34" charset="0"/>
                <a:ea typeface="Montserrat" pitchFamily="34" charset="-122"/>
                <a:cs typeface="Montserrat" pitchFamily="34" charset="-120"/>
              </a:rPr>
              <a:t>security failures </a:t>
            </a:r>
            <a:r>
              <a:rPr lang="en-GB" sz="2400" dirty="0">
                <a:solidFill>
                  <a:schemeClr val="tx1"/>
                </a:solidFill>
                <a:latin typeface="Montserrat" pitchFamily="34" charset="0"/>
                <a:ea typeface="Montserrat" pitchFamily="34" charset="-122"/>
                <a:cs typeface="Montserrat" pitchFamily="34" charset="-120"/>
              </a:rPr>
              <a:t>impact smart-city operations</a:t>
            </a:r>
          </a:p>
        </p:txBody>
      </p:sp>
      <p:sp>
        <p:nvSpPr>
          <p:cNvPr id="16" name="Google Shape;421;p25">
            <a:extLst>
              <a:ext uri="{FF2B5EF4-FFF2-40B4-BE49-F238E27FC236}">
                <a16:creationId xmlns:a16="http://schemas.microsoft.com/office/drawing/2014/main" id="{ABBB234D-7ACD-4D98-8E82-D8F5BAAC7F22}"/>
              </a:ext>
            </a:extLst>
          </p:cNvPr>
          <p:cNvSpPr txBox="1"/>
          <p:nvPr/>
        </p:nvSpPr>
        <p:spPr>
          <a:xfrm>
            <a:off x="5286894" y="9080167"/>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err="1">
                <a:solidFill>
                  <a:srgbClr val="3A91B9"/>
                </a:solidFill>
                <a:latin typeface="Montserrat"/>
                <a:ea typeface="Montserrat"/>
                <a:cs typeface="Montserrat"/>
                <a:sym typeface="Montserrat"/>
              </a:rPr>
              <a:t>Integrity</a:t>
            </a:r>
            <a:r>
              <a:rPr lang="es-ES" sz="2000" b="1" dirty="0">
                <a:solidFill>
                  <a:srgbClr val="3A91B9"/>
                </a:solidFill>
                <a:latin typeface="Montserrat"/>
                <a:ea typeface="Montserrat"/>
                <a:cs typeface="Montserrat"/>
                <a:sym typeface="Montserrat"/>
              </a:rPr>
              <a:t> </a:t>
            </a:r>
            <a:r>
              <a:rPr lang="es-ES" sz="2000" b="1" dirty="0" err="1">
                <a:solidFill>
                  <a:srgbClr val="3A91B9"/>
                </a:solidFill>
                <a:latin typeface="Montserrat"/>
                <a:ea typeface="Montserrat"/>
                <a:cs typeface="Montserrat"/>
                <a:sym typeface="Montserrat"/>
              </a:rPr>
              <a:t>attack</a:t>
            </a:r>
            <a:r>
              <a:rPr lang="es-ES" sz="2000" b="1" dirty="0">
                <a:solidFill>
                  <a:srgbClr val="3A91B9"/>
                </a:solidFill>
                <a:latin typeface="Montserrat"/>
                <a:ea typeface="Montserrat"/>
                <a:cs typeface="Montserrat"/>
                <a:sym typeface="Montserrat"/>
              </a:rPr>
              <a:t>, api_bypass.sh</a:t>
            </a:r>
            <a:endParaRPr sz="2000" dirty="0"/>
          </a:p>
        </p:txBody>
      </p:sp>
      <p:sp>
        <p:nvSpPr>
          <p:cNvPr id="17" name="Google Shape;421;p25">
            <a:extLst>
              <a:ext uri="{FF2B5EF4-FFF2-40B4-BE49-F238E27FC236}">
                <a16:creationId xmlns:a16="http://schemas.microsoft.com/office/drawing/2014/main" id="{F855BE7D-4E95-4AE0-8173-6E24A7CBA941}"/>
              </a:ext>
            </a:extLst>
          </p:cNvPr>
          <p:cNvSpPr txBox="1"/>
          <p:nvPr/>
        </p:nvSpPr>
        <p:spPr>
          <a:xfrm>
            <a:off x="12070080" y="6691477"/>
            <a:ext cx="5370662"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traffic flood, dos_test.sh</a:t>
            </a:r>
            <a:endParaRPr sz="2000" dirty="0"/>
          </a:p>
        </p:txBody>
      </p:sp>
      <p:pic>
        <p:nvPicPr>
          <p:cNvPr id="4" name="Imagen 3">
            <a:extLst>
              <a:ext uri="{FF2B5EF4-FFF2-40B4-BE49-F238E27FC236}">
                <a16:creationId xmlns:a16="http://schemas.microsoft.com/office/drawing/2014/main" id="{4977E746-F05C-4310-A9E0-D48AD4666613}"/>
              </a:ext>
            </a:extLst>
          </p:cNvPr>
          <p:cNvPicPr>
            <a:picLocks noChangeAspect="1"/>
          </p:cNvPicPr>
          <p:nvPr/>
        </p:nvPicPr>
        <p:blipFill>
          <a:blip r:embed="rId5"/>
          <a:stretch>
            <a:fillRect/>
          </a:stretch>
        </p:blipFill>
        <p:spPr>
          <a:xfrm>
            <a:off x="2854459" y="6464654"/>
            <a:ext cx="7766449" cy="2616334"/>
          </a:xfrm>
          <a:prstGeom prst="rect">
            <a:avLst/>
          </a:prstGeom>
        </p:spPr>
      </p:pic>
      <p:pic>
        <p:nvPicPr>
          <p:cNvPr id="7" name="Imagen 6">
            <a:extLst>
              <a:ext uri="{FF2B5EF4-FFF2-40B4-BE49-F238E27FC236}">
                <a16:creationId xmlns:a16="http://schemas.microsoft.com/office/drawing/2014/main" id="{6B809C94-8760-4DD4-8384-330DE003628B}"/>
              </a:ext>
            </a:extLst>
          </p:cNvPr>
          <p:cNvPicPr>
            <a:picLocks noChangeAspect="1"/>
          </p:cNvPicPr>
          <p:nvPr/>
        </p:nvPicPr>
        <p:blipFill>
          <a:blip r:embed="rId6"/>
          <a:stretch>
            <a:fillRect/>
          </a:stretch>
        </p:blipFill>
        <p:spPr>
          <a:xfrm>
            <a:off x="11012884" y="7270919"/>
            <a:ext cx="6890104" cy="1733639"/>
          </a:xfrm>
          <a:prstGeom prst="rect">
            <a:avLst/>
          </a:prstGeom>
        </p:spPr>
      </p:pic>
    </p:spTree>
    <p:extLst>
      <p:ext uri="{BB962C8B-B14F-4D97-AF65-F5344CB8AC3E}">
        <p14:creationId xmlns:p14="http://schemas.microsoft.com/office/powerpoint/2010/main" val="385830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5. </a:t>
            </a:r>
            <a:r>
              <a:rPr lang="en-GB" sz="3999" b="1" i="0" u="none" strike="noStrike" cap="none" dirty="0">
                <a:solidFill>
                  <a:srgbClr val="3A91B9"/>
                </a:solidFill>
                <a:latin typeface="Montserrat"/>
                <a:ea typeface="Montserrat"/>
                <a:cs typeface="Montserrat"/>
                <a:sym typeface="Montserrat"/>
              </a:rPr>
              <a:t>Baseline API Test (Legitimate-Like Command)</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80"/>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Send a </a:t>
            </a:r>
            <a:r>
              <a:rPr lang="en-GB" sz="2400" b="1" dirty="0">
                <a:solidFill>
                  <a:schemeClr val="tx1"/>
                </a:solidFill>
                <a:latin typeface="Montserrat" pitchFamily="34" charset="0"/>
                <a:ea typeface="Montserrat" pitchFamily="34" charset="-122"/>
                <a:cs typeface="Montserrat" pitchFamily="34" charset="-120"/>
              </a:rPr>
              <a:t>single</a:t>
            </a:r>
            <a:r>
              <a:rPr lang="en-GB" sz="2400" dirty="0">
                <a:solidFill>
                  <a:schemeClr val="tx1"/>
                </a:solidFill>
                <a:latin typeface="Montserrat" pitchFamily="34" charset="0"/>
                <a:ea typeface="Montserrat" pitchFamily="34" charset="-122"/>
                <a:cs typeface="Montserrat" pitchFamily="34" charset="-120"/>
              </a:rPr>
              <a:t> request to the MEC </a:t>
            </a:r>
            <a:r>
              <a:rPr lang="en-GB" sz="2400" b="1" dirty="0">
                <a:solidFill>
                  <a:schemeClr val="tx1"/>
                </a:solidFill>
                <a:latin typeface="Montserrat" pitchFamily="34" charset="0"/>
                <a:ea typeface="Montserrat" pitchFamily="34" charset="-122"/>
                <a:cs typeface="Montserrat" pitchFamily="34" charset="-120"/>
              </a:rPr>
              <a:t>control API</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Validate service </a:t>
            </a:r>
            <a:r>
              <a:rPr lang="en-GB" sz="2400" b="1" dirty="0">
                <a:solidFill>
                  <a:schemeClr val="tx1"/>
                </a:solidFill>
                <a:latin typeface="Montserrat" pitchFamily="34" charset="0"/>
                <a:ea typeface="Montserrat" pitchFamily="34" charset="-122"/>
                <a:cs typeface="Montserrat" pitchFamily="34" charset="-120"/>
              </a:rPr>
              <a:t>responsiveness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Observe </a:t>
            </a:r>
            <a:r>
              <a:rPr lang="en-GB" sz="2400" b="1" dirty="0">
                <a:solidFill>
                  <a:schemeClr val="tx1"/>
                </a:solidFill>
                <a:latin typeface="Montserrat" pitchFamily="34" charset="0"/>
                <a:ea typeface="Montserrat" pitchFamily="34" charset="-122"/>
                <a:cs typeface="Montserrat" pitchFamily="34" charset="-120"/>
              </a:rPr>
              <a:t>MEC logs </a:t>
            </a:r>
            <a:r>
              <a:rPr lang="en-GB" sz="2400" dirty="0">
                <a:solidFill>
                  <a:schemeClr val="tx1"/>
                </a:solidFill>
                <a:latin typeface="Montserrat" pitchFamily="34" charset="0"/>
                <a:ea typeface="Montserrat" pitchFamily="34" charset="-122"/>
                <a:cs typeface="Montserrat" pitchFamily="34" charset="-120"/>
              </a:rPr>
              <a:t>updating</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Establish a </a:t>
            </a:r>
            <a:r>
              <a:rPr lang="en-GB" sz="2400" b="1" dirty="0">
                <a:solidFill>
                  <a:schemeClr val="tx1"/>
                </a:solidFill>
                <a:latin typeface="Montserrat" pitchFamily="34" charset="0"/>
                <a:ea typeface="Montserrat" pitchFamily="34" charset="-122"/>
                <a:cs typeface="Montserrat" pitchFamily="34" charset="-120"/>
              </a:rPr>
              <a:t>baseline</a:t>
            </a:r>
            <a:r>
              <a:rPr lang="en-GB" sz="2400" dirty="0">
                <a:solidFill>
                  <a:schemeClr val="tx1"/>
                </a:solidFill>
                <a:latin typeface="Montserrat" pitchFamily="34" charset="0"/>
                <a:ea typeface="Montserrat" pitchFamily="34" charset="-122"/>
                <a:cs typeface="Montserrat" pitchFamily="34" charset="-120"/>
              </a:rPr>
              <a:t> before launching attacks</a:t>
            </a:r>
          </a:p>
        </p:txBody>
      </p:sp>
      <p:sp>
        <p:nvSpPr>
          <p:cNvPr id="16" name="Google Shape;421;p25">
            <a:extLst>
              <a:ext uri="{FF2B5EF4-FFF2-40B4-BE49-F238E27FC236}">
                <a16:creationId xmlns:a16="http://schemas.microsoft.com/office/drawing/2014/main" id="{ABBB234D-7ACD-4D98-8E82-D8F5BAAC7F22}"/>
              </a:ext>
            </a:extLst>
          </p:cNvPr>
          <p:cNvSpPr txBox="1"/>
          <p:nvPr/>
        </p:nvSpPr>
        <p:spPr>
          <a:xfrm>
            <a:off x="2793950" y="4928056"/>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err="1">
                <a:solidFill>
                  <a:srgbClr val="3A91B9"/>
                </a:solidFill>
                <a:latin typeface="Montserrat"/>
                <a:ea typeface="Montserrat"/>
                <a:cs typeface="Montserrat"/>
                <a:sym typeface="Montserrat"/>
              </a:rPr>
              <a:t>Request</a:t>
            </a:r>
            <a:r>
              <a:rPr lang="es-ES" sz="2000" b="1" dirty="0">
                <a:solidFill>
                  <a:srgbClr val="3A91B9"/>
                </a:solidFill>
                <a:latin typeface="Montserrat"/>
                <a:ea typeface="Montserrat"/>
                <a:cs typeface="Montserrat"/>
                <a:sym typeface="Montserrat"/>
              </a:rPr>
              <a:t> </a:t>
            </a:r>
            <a:r>
              <a:rPr lang="es-ES" sz="2000" b="1" dirty="0" err="1">
                <a:solidFill>
                  <a:srgbClr val="3A91B9"/>
                </a:solidFill>
                <a:latin typeface="Montserrat"/>
                <a:ea typeface="Montserrat"/>
                <a:cs typeface="Montserrat"/>
                <a:sym typeface="Montserrat"/>
              </a:rPr>
              <a:t>simulation</a:t>
            </a:r>
            <a:endParaRPr sz="2000" dirty="0"/>
          </a:p>
        </p:txBody>
      </p:sp>
      <p:sp>
        <p:nvSpPr>
          <p:cNvPr id="17" name="Google Shape;421;p25">
            <a:extLst>
              <a:ext uri="{FF2B5EF4-FFF2-40B4-BE49-F238E27FC236}">
                <a16:creationId xmlns:a16="http://schemas.microsoft.com/office/drawing/2014/main" id="{F855BE7D-4E95-4AE0-8173-6E24A7CBA941}"/>
              </a:ext>
            </a:extLst>
          </p:cNvPr>
          <p:cNvSpPr txBox="1"/>
          <p:nvPr/>
        </p:nvSpPr>
        <p:spPr>
          <a:xfrm>
            <a:off x="11589080" y="4928055"/>
            <a:ext cx="5370662"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Expected response</a:t>
            </a:r>
            <a:endParaRPr sz="2000" dirty="0"/>
          </a:p>
        </p:txBody>
      </p:sp>
      <p:pic>
        <p:nvPicPr>
          <p:cNvPr id="3" name="Imagen 2">
            <a:extLst>
              <a:ext uri="{FF2B5EF4-FFF2-40B4-BE49-F238E27FC236}">
                <a16:creationId xmlns:a16="http://schemas.microsoft.com/office/drawing/2014/main" id="{DCA02A00-8B23-407E-8C5E-3AFD8235D778}"/>
              </a:ext>
            </a:extLst>
          </p:cNvPr>
          <p:cNvPicPr>
            <a:picLocks noChangeAspect="1"/>
          </p:cNvPicPr>
          <p:nvPr/>
        </p:nvPicPr>
        <p:blipFill>
          <a:blip r:embed="rId5"/>
          <a:stretch>
            <a:fillRect/>
          </a:stretch>
        </p:blipFill>
        <p:spPr>
          <a:xfrm>
            <a:off x="2487256" y="5435325"/>
            <a:ext cx="8481602" cy="1934402"/>
          </a:xfrm>
          <a:prstGeom prst="rect">
            <a:avLst/>
          </a:prstGeom>
        </p:spPr>
      </p:pic>
      <p:pic>
        <p:nvPicPr>
          <p:cNvPr id="8" name="Imagen 7">
            <a:extLst>
              <a:ext uri="{FF2B5EF4-FFF2-40B4-BE49-F238E27FC236}">
                <a16:creationId xmlns:a16="http://schemas.microsoft.com/office/drawing/2014/main" id="{B2C83BBD-DC8A-4D25-BB3B-88DD84672E05}"/>
              </a:ext>
            </a:extLst>
          </p:cNvPr>
          <p:cNvPicPr>
            <a:picLocks noChangeAspect="1"/>
          </p:cNvPicPr>
          <p:nvPr/>
        </p:nvPicPr>
        <p:blipFill>
          <a:blip r:embed="rId6"/>
          <a:stretch>
            <a:fillRect/>
          </a:stretch>
        </p:blipFill>
        <p:spPr>
          <a:xfrm>
            <a:off x="11629199" y="5808158"/>
            <a:ext cx="5071363" cy="1016154"/>
          </a:xfrm>
          <a:prstGeom prst="rect">
            <a:avLst/>
          </a:prstGeom>
        </p:spPr>
      </p:pic>
    </p:spTree>
    <p:extLst>
      <p:ext uri="{BB962C8B-B14F-4D97-AF65-F5344CB8AC3E}">
        <p14:creationId xmlns:p14="http://schemas.microsoft.com/office/powerpoint/2010/main" val="3378938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6. </a:t>
            </a:r>
            <a:r>
              <a:rPr lang="en-GB" sz="3999" b="1" i="0" u="none" strike="noStrike" cap="none" dirty="0">
                <a:solidFill>
                  <a:srgbClr val="3A91B9"/>
                </a:solidFill>
                <a:latin typeface="Montserrat"/>
                <a:ea typeface="Montserrat"/>
                <a:cs typeface="Montserrat"/>
                <a:sym typeface="Montserrat"/>
              </a:rPr>
              <a:t>Suricata Detection Begins (Integrity Violation)</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80"/>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Execute initial </a:t>
            </a:r>
            <a:r>
              <a:rPr lang="en-GB" sz="2400" b="1" dirty="0">
                <a:solidFill>
                  <a:schemeClr val="tx1"/>
                </a:solidFill>
                <a:latin typeface="Montserrat" pitchFamily="34" charset="0"/>
                <a:ea typeface="Montserrat" pitchFamily="34" charset="-122"/>
                <a:cs typeface="Montserrat" pitchFamily="34" charset="-120"/>
              </a:rPr>
              <a:t>unauthorized control </a:t>
            </a:r>
            <a:r>
              <a:rPr lang="en-GB" sz="2400" dirty="0">
                <a:solidFill>
                  <a:schemeClr val="tx1"/>
                </a:solidFill>
                <a:latin typeface="Montserrat" pitchFamily="34" charset="0"/>
                <a:ea typeface="Montserrat" pitchFamily="34" charset="-122"/>
                <a:cs typeface="Montserrat" pitchFamily="34" charset="-120"/>
              </a:rPr>
              <a:t>sequence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Trigger </a:t>
            </a:r>
            <a:r>
              <a:rPr lang="en-GB" sz="2400" b="1" dirty="0">
                <a:solidFill>
                  <a:schemeClr val="tx1"/>
                </a:solidFill>
                <a:latin typeface="Montserrat" pitchFamily="34" charset="0"/>
                <a:ea typeface="Montserrat" pitchFamily="34" charset="-122"/>
                <a:cs typeface="Montserrat" pitchFamily="34" charset="-120"/>
              </a:rPr>
              <a:t>access-control misuse </a:t>
            </a:r>
            <a:r>
              <a:rPr lang="en-GB" sz="2400" dirty="0">
                <a:solidFill>
                  <a:schemeClr val="tx1"/>
                </a:solidFill>
                <a:latin typeface="Montserrat" pitchFamily="34" charset="0"/>
                <a:ea typeface="Montserrat" pitchFamily="34" charset="-122"/>
                <a:cs typeface="Montserrat" pitchFamily="34" charset="-120"/>
              </a:rPr>
              <a:t>indicators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Observe </a:t>
            </a:r>
            <a:r>
              <a:rPr lang="en-GB" sz="2400" b="1" dirty="0">
                <a:solidFill>
                  <a:schemeClr val="tx1"/>
                </a:solidFill>
                <a:latin typeface="Montserrat" pitchFamily="34" charset="0"/>
                <a:ea typeface="Montserrat" pitchFamily="34" charset="-122"/>
                <a:cs typeface="Montserrat" pitchFamily="34" charset="-120"/>
              </a:rPr>
              <a:t>MEC log anomalies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Check </a:t>
            </a:r>
            <a:r>
              <a:rPr lang="en-GB" sz="2400" b="1" dirty="0">
                <a:solidFill>
                  <a:schemeClr val="tx1"/>
                </a:solidFill>
                <a:latin typeface="Montserrat" pitchFamily="34" charset="0"/>
                <a:ea typeface="Montserrat" pitchFamily="34" charset="-122"/>
                <a:cs typeface="Montserrat" pitchFamily="34" charset="-120"/>
              </a:rPr>
              <a:t>Suricata alerts </a:t>
            </a:r>
            <a:r>
              <a:rPr lang="en-GB" sz="2400" dirty="0">
                <a:solidFill>
                  <a:schemeClr val="tx1"/>
                </a:solidFill>
                <a:latin typeface="Montserrat" pitchFamily="34" charset="0"/>
                <a:ea typeface="Montserrat" pitchFamily="34" charset="-122"/>
                <a:cs typeface="Montserrat" pitchFamily="34" charset="-120"/>
              </a:rPr>
              <a:t>start appearing</a:t>
            </a:r>
          </a:p>
        </p:txBody>
      </p:sp>
      <p:sp>
        <p:nvSpPr>
          <p:cNvPr id="16" name="Google Shape;421;p25">
            <a:extLst>
              <a:ext uri="{FF2B5EF4-FFF2-40B4-BE49-F238E27FC236}">
                <a16:creationId xmlns:a16="http://schemas.microsoft.com/office/drawing/2014/main" id="{ABBB234D-7ACD-4D98-8E82-D8F5BAAC7F22}"/>
              </a:ext>
            </a:extLst>
          </p:cNvPr>
          <p:cNvSpPr txBox="1"/>
          <p:nvPr/>
        </p:nvSpPr>
        <p:spPr>
          <a:xfrm>
            <a:off x="1869871" y="6810456"/>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err="1">
                <a:solidFill>
                  <a:srgbClr val="3A91B9"/>
                </a:solidFill>
                <a:latin typeface="Montserrat"/>
                <a:ea typeface="Montserrat"/>
                <a:cs typeface="Montserrat"/>
                <a:sym typeface="Montserrat"/>
              </a:rPr>
              <a:t>Attack</a:t>
            </a:r>
            <a:r>
              <a:rPr lang="es-ES" sz="2000" b="1" dirty="0">
                <a:solidFill>
                  <a:srgbClr val="3A91B9"/>
                </a:solidFill>
                <a:latin typeface="Montserrat"/>
                <a:ea typeface="Montserrat"/>
                <a:cs typeface="Montserrat"/>
                <a:sym typeface="Montserrat"/>
              </a:rPr>
              <a:t> </a:t>
            </a:r>
            <a:r>
              <a:rPr lang="es-ES" sz="2000" b="1" dirty="0" err="1">
                <a:solidFill>
                  <a:srgbClr val="3A91B9"/>
                </a:solidFill>
                <a:latin typeface="Montserrat"/>
                <a:ea typeface="Montserrat"/>
                <a:cs typeface="Montserrat"/>
                <a:sym typeface="Montserrat"/>
              </a:rPr>
              <a:t>simulation</a:t>
            </a:r>
            <a:endParaRPr sz="2000" dirty="0"/>
          </a:p>
        </p:txBody>
      </p:sp>
      <p:sp>
        <p:nvSpPr>
          <p:cNvPr id="17" name="Google Shape;421;p25">
            <a:extLst>
              <a:ext uri="{FF2B5EF4-FFF2-40B4-BE49-F238E27FC236}">
                <a16:creationId xmlns:a16="http://schemas.microsoft.com/office/drawing/2014/main" id="{F855BE7D-4E95-4AE0-8173-6E24A7CBA941}"/>
              </a:ext>
            </a:extLst>
          </p:cNvPr>
          <p:cNvSpPr txBox="1"/>
          <p:nvPr/>
        </p:nvSpPr>
        <p:spPr>
          <a:xfrm>
            <a:off x="7463338" y="4658859"/>
            <a:ext cx="3361323"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Docker logs –f mec-stub</a:t>
            </a:r>
            <a:endParaRPr sz="2000" dirty="0"/>
          </a:p>
        </p:txBody>
      </p:sp>
      <p:graphicFrame>
        <p:nvGraphicFramePr>
          <p:cNvPr id="11" name="Tabla 10">
            <a:extLst>
              <a:ext uri="{FF2B5EF4-FFF2-40B4-BE49-F238E27FC236}">
                <a16:creationId xmlns:a16="http://schemas.microsoft.com/office/drawing/2014/main" id="{32687EED-AB71-4005-8688-AC3D7B4EE3A8}"/>
              </a:ext>
            </a:extLst>
          </p:cNvPr>
          <p:cNvGraphicFramePr>
            <a:graphicFrameLocks noGrp="1"/>
          </p:cNvGraphicFramePr>
          <p:nvPr>
            <p:extLst>
              <p:ext uri="{D42A27DB-BD31-4B8C-83A1-F6EECF244321}">
                <p14:modId xmlns:p14="http://schemas.microsoft.com/office/powerpoint/2010/main" val="378701183"/>
              </p:ext>
            </p:extLst>
          </p:nvPr>
        </p:nvGraphicFramePr>
        <p:xfrm>
          <a:off x="6434487" y="8637036"/>
          <a:ext cx="11661006" cy="1463040"/>
        </p:xfrm>
        <a:graphic>
          <a:graphicData uri="http://schemas.openxmlformats.org/drawingml/2006/table">
            <a:tbl>
              <a:tblPr>
                <a:tableStyleId>{BDBED569-4797-4DF1-A0F4-6AAB3CD982D8}</a:tableStyleId>
              </a:tblPr>
              <a:tblGrid>
                <a:gridCol w="2979019">
                  <a:extLst>
                    <a:ext uri="{9D8B030D-6E8A-4147-A177-3AD203B41FA5}">
                      <a16:colId xmlns:a16="http://schemas.microsoft.com/office/drawing/2014/main" val="3392719398"/>
                    </a:ext>
                  </a:extLst>
                </a:gridCol>
                <a:gridCol w="4794985">
                  <a:extLst>
                    <a:ext uri="{9D8B030D-6E8A-4147-A177-3AD203B41FA5}">
                      <a16:colId xmlns:a16="http://schemas.microsoft.com/office/drawing/2014/main" val="1574373176"/>
                    </a:ext>
                  </a:extLst>
                </a:gridCol>
                <a:gridCol w="3887002">
                  <a:extLst>
                    <a:ext uri="{9D8B030D-6E8A-4147-A177-3AD203B41FA5}">
                      <a16:colId xmlns:a16="http://schemas.microsoft.com/office/drawing/2014/main" val="2012644540"/>
                    </a:ext>
                  </a:extLst>
                </a:gridCol>
              </a:tblGrid>
              <a:tr h="0">
                <a:tc>
                  <a:txBody>
                    <a:bodyPr/>
                    <a:lstStyle/>
                    <a:p>
                      <a:r>
                        <a:rPr lang="en-GB" sz="1800" b="1" dirty="0"/>
                        <a:t>Console windows</a:t>
                      </a:r>
                    </a:p>
                  </a:txBody>
                  <a:tcPr anchor="ctr">
                    <a:solidFill>
                      <a:schemeClr val="accent5">
                        <a:lumMod val="20000"/>
                        <a:lumOff val="80000"/>
                      </a:schemeClr>
                    </a:solidFill>
                  </a:tcPr>
                </a:tc>
                <a:tc>
                  <a:txBody>
                    <a:bodyPr/>
                    <a:lstStyle/>
                    <a:p>
                      <a:r>
                        <a:rPr lang="en-GB" sz="1800" b="1" dirty="0"/>
                        <a:t>What it shows</a:t>
                      </a:r>
                    </a:p>
                  </a:txBody>
                  <a:tcPr anchor="ctr">
                    <a:solidFill>
                      <a:schemeClr val="accent5">
                        <a:lumMod val="20000"/>
                        <a:lumOff val="80000"/>
                      </a:schemeClr>
                    </a:solidFill>
                  </a:tcPr>
                </a:tc>
                <a:tc>
                  <a:txBody>
                    <a:bodyPr/>
                    <a:lstStyle/>
                    <a:p>
                      <a:r>
                        <a:rPr lang="en-GB" sz="1800" b="1" dirty="0"/>
                        <a:t>Purpose</a:t>
                      </a:r>
                    </a:p>
                  </a:txBody>
                  <a:tcPr anchor="ctr">
                    <a:solidFill>
                      <a:schemeClr val="accent5">
                        <a:lumMod val="20000"/>
                        <a:lumOff val="80000"/>
                      </a:schemeClr>
                    </a:solidFill>
                  </a:tcPr>
                </a:tc>
                <a:extLst>
                  <a:ext uri="{0D108BD9-81ED-4DB2-BD59-A6C34878D82A}">
                    <a16:rowId xmlns:a16="http://schemas.microsoft.com/office/drawing/2014/main" val="2385612452"/>
                  </a:ext>
                </a:extLst>
              </a:tr>
              <a:tr h="0">
                <a:tc>
                  <a:txBody>
                    <a:bodyPr/>
                    <a:lstStyle/>
                    <a:p>
                      <a:r>
                        <a:rPr lang="en-GB" sz="1800" dirty="0"/>
                        <a:t>Terminal (attacker)</a:t>
                      </a:r>
                    </a:p>
                  </a:txBody>
                  <a:tcPr anchor="ctr">
                    <a:solidFill>
                      <a:schemeClr val="bg1"/>
                    </a:solidFill>
                  </a:tcPr>
                </a:tc>
                <a:tc>
                  <a:txBody>
                    <a:bodyPr/>
                    <a:lstStyle/>
                    <a:p>
                      <a:r>
                        <a:rPr lang="en-GB" sz="1800" dirty="0"/>
                        <a:t>api_bypass.sh sending 20 POSTs</a:t>
                      </a:r>
                    </a:p>
                  </a:txBody>
                  <a:tcPr anchor="ctr">
                    <a:solidFill>
                      <a:schemeClr val="bg1"/>
                    </a:solidFill>
                  </a:tcPr>
                </a:tc>
                <a:tc>
                  <a:txBody>
                    <a:bodyPr/>
                    <a:lstStyle/>
                    <a:p>
                      <a:r>
                        <a:rPr lang="en-GB" sz="1800"/>
                        <a:t>Evidence of malicious activity</a:t>
                      </a:r>
                    </a:p>
                  </a:txBody>
                  <a:tcPr anchor="ctr">
                    <a:solidFill>
                      <a:schemeClr val="bg1"/>
                    </a:solidFill>
                  </a:tcPr>
                </a:tc>
                <a:extLst>
                  <a:ext uri="{0D108BD9-81ED-4DB2-BD59-A6C34878D82A}">
                    <a16:rowId xmlns:a16="http://schemas.microsoft.com/office/drawing/2014/main" val="3097115922"/>
                  </a:ext>
                </a:extLst>
              </a:tr>
              <a:tr h="0">
                <a:tc>
                  <a:txBody>
                    <a:bodyPr/>
                    <a:lstStyle/>
                    <a:p>
                      <a:r>
                        <a:rPr lang="en-GB" sz="1800" dirty="0"/>
                        <a:t>MEC logs</a:t>
                      </a:r>
                    </a:p>
                  </a:txBody>
                  <a:tcPr anchor="ctr">
                    <a:solidFill>
                      <a:schemeClr val="bg1"/>
                    </a:solidFill>
                  </a:tcPr>
                </a:tc>
                <a:tc>
                  <a:txBody>
                    <a:bodyPr/>
                    <a:lstStyle/>
                    <a:p>
                      <a:r>
                        <a:rPr lang="en-GB" sz="1800" dirty="0"/>
                        <a:t>Multiple control requests processed rapidly</a:t>
                      </a:r>
                    </a:p>
                  </a:txBody>
                  <a:tcPr anchor="ctr">
                    <a:solidFill>
                      <a:schemeClr val="bg1"/>
                    </a:solidFill>
                  </a:tcPr>
                </a:tc>
                <a:tc>
                  <a:txBody>
                    <a:bodyPr/>
                    <a:lstStyle/>
                    <a:p>
                      <a:r>
                        <a:rPr lang="en-GB" sz="1800" dirty="0"/>
                        <a:t>Detect operational anomaly</a:t>
                      </a:r>
                    </a:p>
                  </a:txBody>
                  <a:tcPr anchor="ctr">
                    <a:solidFill>
                      <a:schemeClr val="bg1"/>
                    </a:solidFill>
                  </a:tcPr>
                </a:tc>
                <a:extLst>
                  <a:ext uri="{0D108BD9-81ED-4DB2-BD59-A6C34878D82A}">
                    <a16:rowId xmlns:a16="http://schemas.microsoft.com/office/drawing/2014/main" val="41987603"/>
                  </a:ext>
                </a:extLst>
              </a:tr>
              <a:tr h="0">
                <a:tc>
                  <a:txBody>
                    <a:bodyPr/>
                    <a:lstStyle/>
                    <a:p>
                      <a:r>
                        <a:rPr lang="en-GB" sz="1800"/>
                        <a:t>Suricata logs</a:t>
                      </a:r>
                    </a:p>
                  </a:txBody>
                  <a:tcPr anchor="ctr">
                    <a:solidFill>
                      <a:schemeClr val="bg1"/>
                    </a:solidFill>
                  </a:tcPr>
                </a:tc>
                <a:tc>
                  <a:txBody>
                    <a:bodyPr/>
                    <a:lstStyle/>
                    <a:p>
                      <a:r>
                        <a:rPr lang="en-GB" sz="1800"/>
                        <a:t>First alerts or warnings appearing</a:t>
                      </a:r>
                    </a:p>
                  </a:txBody>
                  <a:tcPr anchor="ctr">
                    <a:solidFill>
                      <a:schemeClr val="bg1"/>
                    </a:solidFill>
                  </a:tcPr>
                </a:tc>
                <a:tc>
                  <a:txBody>
                    <a:bodyPr/>
                    <a:lstStyle/>
                    <a:p>
                      <a:r>
                        <a:rPr lang="en-GB" sz="1800" dirty="0"/>
                        <a:t>Confirms monitoring pipeline works</a:t>
                      </a:r>
                    </a:p>
                  </a:txBody>
                  <a:tcPr anchor="ctr">
                    <a:solidFill>
                      <a:schemeClr val="bg1"/>
                    </a:solidFill>
                  </a:tcPr>
                </a:tc>
                <a:extLst>
                  <a:ext uri="{0D108BD9-81ED-4DB2-BD59-A6C34878D82A}">
                    <a16:rowId xmlns:a16="http://schemas.microsoft.com/office/drawing/2014/main" val="3859410696"/>
                  </a:ext>
                </a:extLst>
              </a:tr>
            </a:tbl>
          </a:graphicData>
        </a:graphic>
      </p:graphicFrame>
      <p:pic>
        <p:nvPicPr>
          <p:cNvPr id="13" name="Imagen 12">
            <a:extLst>
              <a:ext uri="{FF2B5EF4-FFF2-40B4-BE49-F238E27FC236}">
                <a16:creationId xmlns:a16="http://schemas.microsoft.com/office/drawing/2014/main" id="{2E4F329A-CD1E-44AD-98BF-CE8770127DC8}"/>
              </a:ext>
            </a:extLst>
          </p:cNvPr>
          <p:cNvPicPr>
            <a:picLocks noChangeAspect="1"/>
          </p:cNvPicPr>
          <p:nvPr/>
        </p:nvPicPr>
        <p:blipFill rotWithShape="1">
          <a:blip r:embed="rId5"/>
          <a:srcRect b="40254"/>
          <a:stretch/>
        </p:blipFill>
        <p:spPr>
          <a:xfrm>
            <a:off x="6272627" y="5186198"/>
            <a:ext cx="5287314" cy="1828878"/>
          </a:xfrm>
          <a:prstGeom prst="rect">
            <a:avLst/>
          </a:prstGeom>
        </p:spPr>
      </p:pic>
      <p:pic>
        <p:nvPicPr>
          <p:cNvPr id="15" name="Imagen 14">
            <a:extLst>
              <a:ext uri="{FF2B5EF4-FFF2-40B4-BE49-F238E27FC236}">
                <a16:creationId xmlns:a16="http://schemas.microsoft.com/office/drawing/2014/main" id="{7EA96105-EE88-4B97-B714-79947838210D}"/>
              </a:ext>
            </a:extLst>
          </p:cNvPr>
          <p:cNvPicPr>
            <a:picLocks noChangeAspect="1"/>
          </p:cNvPicPr>
          <p:nvPr/>
        </p:nvPicPr>
        <p:blipFill rotWithShape="1">
          <a:blip r:embed="rId6"/>
          <a:srcRect b="58114"/>
          <a:stretch/>
        </p:blipFill>
        <p:spPr>
          <a:xfrm>
            <a:off x="294776" y="5180670"/>
            <a:ext cx="5778766" cy="1539094"/>
          </a:xfrm>
          <a:prstGeom prst="rect">
            <a:avLst/>
          </a:prstGeom>
        </p:spPr>
      </p:pic>
      <p:pic>
        <p:nvPicPr>
          <p:cNvPr id="19" name="Imagen 18">
            <a:extLst>
              <a:ext uri="{FF2B5EF4-FFF2-40B4-BE49-F238E27FC236}">
                <a16:creationId xmlns:a16="http://schemas.microsoft.com/office/drawing/2014/main" id="{F5082C73-CEF0-4948-AA2A-7620F44DA2EE}"/>
              </a:ext>
            </a:extLst>
          </p:cNvPr>
          <p:cNvPicPr>
            <a:picLocks noChangeAspect="1"/>
          </p:cNvPicPr>
          <p:nvPr/>
        </p:nvPicPr>
        <p:blipFill>
          <a:blip r:embed="rId7"/>
          <a:stretch>
            <a:fillRect/>
          </a:stretch>
        </p:blipFill>
        <p:spPr>
          <a:xfrm>
            <a:off x="11687477" y="5180670"/>
            <a:ext cx="6408016" cy="1629786"/>
          </a:xfrm>
          <a:prstGeom prst="rect">
            <a:avLst/>
          </a:prstGeom>
        </p:spPr>
      </p:pic>
      <p:sp>
        <p:nvSpPr>
          <p:cNvPr id="23" name="Google Shape;421;p25">
            <a:extLst>
              <a:ext uri="{FF2B5EF4-FFF2-40B4-BE49-F238E27FC236}">
                <a16:creationId xmlns:a16="http://schemas.microsoft.com/office/drawing/2014/main" id="{1A857A02-3275-4AAC-9747-A73467EE9B92}"/>
              </a:ext>
            </a:extLst>
          </p:cNvPr>
          <p:cNvSpPr txBox="1"/>
          <p:nvPr/>
        </p:nvSpPr>
        <p:spPr>
          <a:xfrm>
            <a:off x="13112086" y="4658858"/>
            <a:ext cx="3361323"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Docker logs –f suricata</a:t>
            </a:r>
            <a:endParaRPr sz="2000" dirty="0"/>
          </a:p>
        </p:txBody>
      </p:sp>
    </p:spTree>
    <p:extLst>
      <p:ext uri="{BB962C8B-B14F-4D97-AF65-F5344CB8AC3E}">
        <p14:creationId xmlns:p14="http://schemas.microsoft.com/office/powerpoint/2010/main" val="287833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7. </a:t>
            </a:r>
            <a:r>
              <a:rPr lang="en-GB" sz="3999" b="1" i="0" u="none" strike="noStrike" cap="none" dirty="0">
                <a:solidFill>
                  <a:srgbClr val="3A91B9"/>
                </a:solidFill>
                <a:latin typeface="Montserrat"/>
                <a:ea typeface="Montserrat"/>
                <a:cs typeface="Montserrat"/>
                <a:sym typeface="Montserrat"/>
              </a:rPr>
              <a:t>Suricata Detection (II)</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699" y="2514180"/>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Create </a:t>
            </a:r>
            <a:r>
              <a:rPr lang="en-GB" sz="2400" b="1" dirty="0">
                <a:solidFill>
                  <a:schemeClr val="tx1"/>
                </a:solidFill>
                <a:latin typeface="Montserrat" pitchFamily="34" charset="0"/>
                <a:ea typeface="Montserrat" pitchFamily="34" charset="-122"/>
                <a:cs typeface="Montserrat" pitchFamily="34" charset="-120"/>
              </a:rPr>
              <a:t>proper </a:t>
            </a:r>
            <a:r>
              <a:rPr lang="en-GB" sz="2400" dirty="0">
                <a:solidFill>
                  <a:schemeClr val="tx1"/>
                </a:solidFill>
                <a:latin typeface="Montserrat" pitchFamily="34" charset="0"/>
                <a:ea typeface="Montserrat" pitchFamily="34" charset="-122"/>
                <a:cs typeface="Montserrat" pitchFamily="34" charset="-120"/>
              </a:rPr>
              <a:t>IDS rules to detect attack patterns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Launch a </a:t>
            </a:r>
            <a:r>
              <a:rPr lang="en-GB" sz="2400" b="1" dirty="0">
                <a:solidFill>
                  <a:schemeClr val="tx1"/>
                </a:solidFill>
                <a:latin typeface="Montserrat" pitchFamily="34" charset="0"/>
                <a:ea typeface="Montserrat" pitchFamily="34" charset="-122"/>
                <a:cs typeface="Montserrat" pitchFamily="34" charset="-120"/>
              </a:rPr>
              <a:t>DoS</a:t>
            </a:r>
            <a:r>
              <a:rPr lang="en-GB" sz="2400" dirty="0">
                <a:solidFill>
                  <a:schemeClr val="tx1"/>
                </a:solidFill>
                <a:latin typeface="Montserrat" pitchFamily="34" charset="0"/>
                <a:ea typeface="Montserrat" pitchFamily="34" charset="-122"/>
                <a:cs typeface="Montserrat" pitchFamily="34" charset="-120"/>
              </a:rPr>
              <a:t> </a:t>
            </a:r>
            <a:r>
              <a:rPr lang="en-GB" sz="2400" b="1" dirty="0">
                <a:solidFill>
                  <a:schemeClr val="tx1"/>
                </a:solidFill>
                <a:latin typeface="Montserrat" pitchFamily="34" charset="0"/>
                <a:ea typeface="Montserrat" pitchFamily="34" charset="-122"/>
                <a:cs typeface="Montserrat" pitchFamily="34" charset="-120"/>
              </a:rPr>
              <a:t>flood </a:t>
            </a:r>
            <a:r>
              <a:rPr lang="en-GB" sz="2400" dirty="0">
                <a:solidFill>
                  <a:schemeClr val="tx1"/>
                </a:solidFill>
                <a:latin typeface="Montserrat" pitchFamily="34" charset="0"/>
                <a:ea typeface="Montserrat" pitchFamily="34" charset="-122"/>
                <a:cs typeface="Montserrat" pitchFamily="34" charset="-120"/>
              </a:rPr>
              <a:t>simulation from attacker</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Observe </a:t>
            </a:r>
            <a:r>
              <a:rPr lang="en-GB" sz="2400" b="1" dirty="0">
                <a:solidFill>
                  <a:schemeClr val="tx1"/>
                </a:solidFill>
                <a:latin typeface="Montserrat" pitchFamily="34" charset="0"/>
                <a:ea typeface="Montserrat" pitchFamily="34" charset="-122"/>
                <a:cs typeface="Montserrat" pitchFamily="34" charset="-120"/>
              </a:rPr>
              <a:t>flow emergency mode </a:t>
            </a:r>
            <a:r>
              <a:rPr lang="en-GB" sz="2400" dirty="0">
                <a:solidFill>
                  <a:schemeClr val="tx1"/>
                </a:solidFill>
                <a:latin typeface="Montserrat" pitchFamily="34" charset="0"/>
                <a:ea typeface="Montserrat" pitchFamily="34" charset="-122"/>
                <a:cs typeface="Montserrat" pitchFamily="34" charset="-120"/>
              </a:rPr>
              <a:t>being triggered</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Confirm </a:t>
            </a:r>
            <a:r>
              <a:rPr lang="en-GB" sz="2400" b="1" dirty="0">
                <a:solidFill>
                  <a:schemeClr val="tx1"/>
                </a:solidFill>
                <a:latin typeface="Montserrat" pitchFamily="34" charset="0"/>
                <a:ea typeface="Montserrat" pitchFamily="34" charset="-122"/>
                <a:cs typeface="Montserrat" pitchFamily="34" charset="-120"/>
              </a:rPr>
              <a:t>Suricata alerts </a:t>
            </a:r>
            <a:r>
              <a:rPr lang="en-GB" sz="2400" dirty="0">
                <a:solidFill>
                  <a:schemeClr val="tx1"/>
                </a:solidFill>
                <a:latin typeface="Montserrat" pitchFamily="34" charset="0"/>
                <a:ea typeface="Montserrat" pitchFamily="34" charset="-122"/>
                <a:cs typeface="Montserrat" pitchFamily="34" charset="-120"/>
              </a:rPr>
              <a:t>are generated in logs </a:t>
            </a:r>
          </a:p>
        </p:txBody>
      </p:sp>
      <p:sp>
        <p:nvSpPr>
          <p:cNvPr id="16" name="Google Shape;421;p25">
            <a:extLst>
              <a:ext uri="{FF2B5EF4-FFF2-40B4-BE49-F238E27FC236}">
                <a16:creationId xmlns:a16="http://schemas.microsoft.com/office/drawing/2014/main" id="{ABBB234D-7ACD-4D98-8E82-D8F5BAAC7F22}"/>
              </a:ext>
            </a:extLst>
          </p:cNvPr>
          <p:cNvSpPr txBox="1"/>
          <p:nvPr/>
        </p:nvSpPr>
        <p:spPr>
          <a:xfrm>
            <a:off x="3093468" y="4667062"/>
            <a:ext cx="4275220"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s-ES" sz="2000" b="1" dirty="0" err="1">
                <a:solidFill>
                  <a:srgbClr val="3A91B9"/>
                </a:solidFill>
                <a:latin typeface="Montserrat"/>
                <a:ea typeface="Montserrat"/>
                <a:cs typeface="Montserrat"/>
                <a:sym typeface="Montserrat"/>
              </a:rPr>
              <a:t>Attack</a:t>
            </a:r>
            <a:r>
              <a:rPr lang="es-ES" sz="2000" b="1" dirty="0">
                <a:solidFill>
                  <a:srgbClr val="3A91B9"/>
                </a:solidFill>
                <a:latin typeface="Montserrat"/>
                <a:ea typeface="Montserrat"/>
                <a:cs typeface="Montserrat"/>
                <a:sym typeface="Montserrat"/>
              </a:rPr>
              <a:t> </a:t>
            </a:r>
            <a:r>
              <a:rPr lang="es-ES" sz="2000" b="1" dirty="0" err="1">
                <a:solidFill>
                  <a:srgbClr val="3A91B9"/>
                </a:solidFill>
                <a:latin typeface="Montserrat"/>
                <a:ea typeface="Montserrat"/>
                <a:cs typeface="Montserrat"/>
                <a:sym typeface="Montserrat"/>
              </a:rPr>
              <a:t>simulation</a:t>
            </a:r>
            <a:endParaRPr sz="2000" dirty="0"/>
          </a:p>
        </p:txBody>
      </p:sp>
      <p:sp>
        <p:nvSpPr>
          <p:cNvPr id="17" name="Google Shape;421;p25">
            <a:extLst>
              <a:ext uri="{FF2B5EF4-FFF2-40B4-BE49-F238E27FC236}">
                <a16:creationId xmlns:a16="http://schemas.microsoft.com/office/drawing/2014/main" id="{F855BE7D-4E95-4AE0-8173-6E24A7CBA941}"/>
              </a:ext>
            </a:extLst>
          </p:cNvPr>
          <p:cNvSpPr txBox="1"/>
          <p:nvPr/>
        </p:nvSpPr>
        <p:spPr>
          <a:xfrm>
            <a:off x="11294193" y="6160238"/>
            <a:ext cx="3361323"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Docker logs –f suricata</a:t>
            </a:r>
            <a:endParaRPr sz="2000" dirty="0"/>
          </a:p>
        </p:txBody>
      </p:sp>
      <p:sp>
        <p:nvSpPr>
          <p:cNvPr id="23" name="Google Shape;421;p25">
            <a:extLst>
              <a:ext uri="{FF2B5EF4-FFF2-40B4-BE49-F238E27FC236}">
                <a16:creationId xmlns:a16="http://schemas.microsoft.com/office/drawing/2014/main" id="{1A857A02-3275-4AAC-9747-A73467EE9B92}"/>
              </a:ext>
            </a:extLst>
          </p:cNvPr>
          <p:cNvSpPr txBox="1"/>
          <p:nvPr/>
        </p:nvSpPr>
        <p:spPr>
          <a:xfrm>
            <a:off x="12490109" y="2212479"/>
            <a:ext cx="3361323"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Suricata.rules</a:t>
            </a:r>
            <a:endParaRPr sz="2000" dirty="0"/>
          </a:p>
        </p:txBody>
      </p:sp>
      <p:pic>
        <p:nvPicPr>
          <p:cNvPr id="6" name="Imagen 5">
            <a:extLst>
              <a:ext uri="{FF2B5EF4-FFF2-40B4-BE49-F238E27FC236}">
                <a16:creationId xmlns:a16="http://schemas.microsoft.com/office/drawing/2014/main" id="{9500C2F1-F71A-4DB2-8C29-B7F8266A18C8}"/>
              </a:ext>
            </a:extLst>
          </p:cNvPr>
          <p:cNvPicPr>
            <a:picLocks noChangeAspect="1"/>
          </p:cNvPicPr>
          <p:nvPr/>
        </p:nvPicPr>
        <p:blipFill>
          <a:blip r:embed="rId5"/>
          <a:stretch>
            <a:fillRect/>
          </a:stretch>
        </p:blipFill>
        <p:spPr>
          <a:xfrm>
            <a:off x="6591962" y="6694468"/>
            <a:ext cx="10956096" cy="1308167"/>
          </a:xfrm>
          <a:prstGeom prst="rect">
            <a:avLst/>
          </a:prstGeom>
        </p:spPr>
      </p:pic>
      <p:pic>
        <p:nvPicPr>
          <p:cNvPr id="8" name="Imagen 7">
            <a:extLst>
              <a:ext uri="{FF2B5EF4-FFF2-40B4-BE49-F238E27FC236}">
                <a16:creationId xmlns:a16="http://schemas.microsoft.com/office/drawing/2014/main" id="{056812CD-7B3A-48C1-AE9E-02B45E7452E4}"/>
              </a:ext>
            </a:extLst>
          </p:cNvPr>
          <p:cNvPicPr>
            <a:picLocks noChangeAspect="1"/>
          </p:cNvPicPr>
          <p:nvPr/>
        </p:nvPicPr>
        <p:blipFill>
          <a:blip r:embed="rId6"/>
          <a:stretch>
            <a:fillRect/>
          </a:stretch>
        </p:blipFill>
        <p:spPr>
          <a:xfrm>
            <a:off x="6591962" y="8209321"/>
            <a:ext cx="10956096" cy="1041454"/>
          </a:xfrm>
          <a:prstGeom prst="rect">
            <a:avLst/>
          </a:prstGeom>
        </p:spPr>
      </p:pic>
      <p:sp>
        <p:nvSpPr>
          <p:cNvPr id="20" name="CuadroTexto 19">
            <a:extLst>
              <a:ext uri="{FF2B5EF4-FFF2-40B4-BE49-F238E27FC236}">
                <a16:creationId xmlns:a16="http://schemas.microsoft.com/office/drawing/2014/main" id="{B45F7D27-08BD-430B-BA7D-7872C87B1190}"/>
              </a:ext>
            </a:extLst>
          </p:cNvPr>
          <p:cNvSpPr txBox="1"/>
          <p:nvPr/>
        </p:nvSpPr>
        <p:spPr>
          <a:xfrm>
            <a:off x="10735733" y="2757883"/>
            <a:ext cx="6870076" cy="1384995"/>
          </a:xfrm>
          <a:prstGeom prst="rect">
            <a:avLst/>
          </a:prstGeom>
          <a:solidFill>
            <a:schemeClr val="accent3">
              <a:lumMod val="20000"/>
              <a:lumOff val="80000"/>
            </a:schemeClr>
          </a:solidFill>
        </p:spPr>
        <p:txBody>
          <a:bodyPr wrap="square">
            <a:spAutoFit/>
          </a:bodyPr>
          <a:lstStyle/>
          <a:p>
            <a:r>
              <a:rPr lang="en-US" dirty="0"/>
              <a:t>#alert </a:t>
            </a:r>
            <a:r>
              <a:rPr lang="en-US" dirty="0" err="1"/>
              <a:t>tcp</a:t>
            </a:r>
            <a:r>
              <a:rPr lang="en-US" dirty="0"/>
              <a:t> any </a:t>
            </a:r>
            <a:r>
              <a:rPr lang="en-US" dirty="0" err="1"/>
              <a:t>any</a:t>
            </a:r>
            <a:r>
              <a:rPr lang="en-US" dirty="0"/>
              <a:t> -&gt; any 8080 (msg:"</a:t>
            </a:r>
            <a:r>
              <a:rPr lang="en-US" dirty="0" err="1"/>
              <a:t>NeoCity</a:t>
            </a:r>
            <a:r>
              <a:rPr lang="en-US" dirty="0"/>
              <a:t> MEC control access"; sid:1000001; rev:1;)</a:t>
            </a:r>
          </a:p>
          <a:p>
            <a:r>
              <a:rPr lang="en-US" dirty="0"/>
              <a:t>alert </a:t>
            </a:r>
            <a:r>
              <a:rPr lang="en-US" dirty="0" err="1"/>
              <a:t>tcp</a:t>
            </a:r>
            <a:r>
              <a:rPr lang="en-US" dirty="0"/>
              <a:t> any </a:t>
            </a:r>
            <a:r>
              <a:rPr lang="en-US" dirty="0" err="1"/>
              <a:t>any</a:t>
            </a:r>
            <a:r>
              <a:rPr lang="en-US" dirty="0"/>
              <a:t> -&gt; any 8080 (msg:"</a:t>
            </a:r>
            <a:r>
              <a:rPr lang="en-US" dirty="0" err="1"/>
              <a:t>NeoCity</a:t>
            </a:r>
            <a:r>
              <a:rPr lang="en-US" dirty="0"/>
              <a:t> possible DoS flood to MEC API";  </a:t>
            </a:r>
            <a:r>
              <a:rPr lang="en-US" dirty="0" err="1"/>
              <a:t>threshold:type</a:t>
            </a:r>
            <a:r>
              <a:rPr lang="en-US" dirty="0"/>
              <a:t> both, track </a:t>
            </a:r>
            <a:r>
              <a:rPr lang="en-US" dirty="0" err="1"/>
              <a:t>by_dst</a:t>
            </a:r>
            <a:r>
              <a:rPr lang="en-US" dirty="0"/>
              <a:t>, count 50, seconds 5; sid:1000002; rev:1;)</a:t>
            </a:r>
          </a:p>
          <a:p>
            <a:r>
              <a:rPr lang="en-US" dirty="0"/>
              <a:t>alert </a:t>
            </a:r>
            <a:r>
              <a:rPr lang="en-US" dirty="0" err="1"/>
              <a:t>tcp</a:t>
            </a:r>
            <a:r>
              <a:rPr lang="en-US" dirty="0"/>
              <a:t> any </a:t>
            </a:r>
            <a:r>
              <a:rPr lang="en-US" dirty="0" err="1"/>
              <a:t>any</a:t>
            </a:r>
            <a:r>
              <a:rPr lang="en-US" dirty="0"/>
              <a:t> -&gt; any 1883 (msg:"</a:t>
            </a:r>
            <a:r>
              <a:rPr lang="en-US" dirty="0" err="1"/>
              <a:t>NeoCity</a:t>
            </a:r>
            <a:r>
              <a:rPr lang="en-US" dirty="0"/>
              <a:t> possible DoS flood to MQTT broker";  </a:t>
            </a:r>
            <a:r>
              <a:rPr lang="en-US" dirty="0" err="1"/>
              <a:t>threshold:type</a:t>
            </a:r>
            <a:r>
              <a:rPr lang="en-US" dirty="0"/>
              <a:t> both, track </a:t>
            </a:r>
            <a:r>
              <a:rPr lang="en-US" dirty="0" err="1"/>
              <a:t>by_dst</a:t>
            </a:r>
            <a:r>
              <a:rPr lang="en-US" dirty="0"/>
              <a:t>, count 50, seconds 5; sid:1000003; rev:1;)</a:t>
            </a:r>
          </a:p>
        </p:txBody>
      </p:sp>
      <p:pic>
        <p:nvPicPr>
          <p:cNvPr id="12" name="Imagen 11">
            <a:extLst>
              <a:ext uri="{FF2B5EF4-FFF2-40B4-BE49-F238E27FC236}">
                <a16:creationId xmlns:a16="http://schemas.microsoft.com/office/drawing/2014/main" id="{C6B225C8-0DF8-434A-9895-8CB0669120F1}"/>
              </a:ext>
            </a:extLst>
          </p:cNvPr>
          <p:cNvPicPr>
            <a:picLocks noChangeAspect="1"/>
          </p:cNvPicPr>
          <p:nvPr/>
        </p:nvPicPr>
        <p:blipFill>
          <a:blip r:embed="rId7"/>
          <a:stretch>
            <a:fillRect/>
          </a:stretch>
        </p:blipFill>
        <p:spPr>
          <a:xfrm>
            <a:off x="1369493" y="5160038"/>
            <a:ext cx="7868054" cy="1041454"/>
          </a:xfrm>
          <a:prstGeom prst="rect">
            <a:avLst/>
          </a:prstGeom>
        </p:spPr>
      </p:pic>
      <p:sp>
        <p:nvSpPr>
          <p:cNvPr id="24" name="Google Shape;421;p25">
            <a:extLst>
              <a:ext uri="{FF2B5EF4-FFF2-40B4-BE49-F238E27FC236}">
                <a16:creationId xmlns:a16="http://schemas.microsoft.com/office/drawing/2014/main" id="{8916B59B-DD62-44E0-9979-D9120AEE75B5}"/>
              </a:ext>
            </a:extLst>
          </p:cNvPr>
          <p:cNvSpPr txBox="1"/>
          <p:nvPr/>
        </p:nvSpPr>
        <p:spPr>
          <a:xfrm>
            <a:off x="6591962" y="9368557"/>
            <a:ext cx="6893032" cy="430887"/>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tail –f /var/log/suricata/eve.json | grep ”\”alert\””</a:t>
            </a:r>
            <a:endParaRPr sz="2000" dirty="0"/>
          </a:p>
        </p:txBody>
      </p:sp>
    </p:spTree>
    <p:extLst>
      <p:ext uri="{BB962C8B-B14F-4D97-AF65-F5344CB8AC3E}">
        <p14:creationId xmlns:p14="http://schemas.microsoft.com/office/powerpoint/2010/main" val="2904954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5"/>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420" name="Google Shape;420;p25"/>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8. </a:t>
            </a:r>
            <a:r>
              <a:rPr lang="en-GB" sz="3999" b="1" i="0" u="none" strike="noStrike" cap="none" dirty="0">
                <a:solidFill>
                  <a:srgbClr val="3A91B9"/>
                </a:solidFill>
                <a:latin typeface="Montserrat"/>
                <a:ea typeface="Montserrat"/>
                <a:cs typeface="Montserrat"/>
                <a:sym typeface="Montserrat"/>
              </a:rPr>
              <a:t>Monitoring Security Metrics in Grafana </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144471"/>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Open Grafana in your browser  (http://localhost:3001 and log using default credentials: &lt;admin, admin&gt;) </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Configure </a:t>
            </a:r>
            <a:r>
              <a:rPr lang="en-GB" sz="2400" b="1" dirty="0">
                <a:solidFill>
                  <a:schemeClr val="tx1"/>
                </a:solidFill>
                <a:latin typeface="Montserrat" pitchFamily="34" charset="0"/>
                <a:ea typeface="Montserrat" pitchFamily="34" charset="-122"/>
                <a:cs typeface="Montserrat" pitchFamily="34" charset="-120"/>
              </a:rPr>
              <a:t>Prometheus</a:t>
            </a:r>
            <a:r>
              <a:rPr lang="en-GB" sz="2400" dirty="0">
                <a:solidFill>
                  <a:schemeClr val="tx1"/>
                </a:solidFill>
                <a:latin typeface="Montserrat" pitchFamily="34" charset="0"/>
                <a:ea typeface="Montserrat" pitchFamily="34" charset="-122"/>
                <a:cs typeface="Montserrat" pitchFamily="34" charset="-120"/>
              </a:rPr>
              <a:t> as the Data Source (set URL to </a:t>
            </a:r>
            <a:r>
              <a:rPr lang="en-GB" sz="2400" dirty="0">
                <a:solidFill>
                  <a:schemeClr val="tx1"/>
                </a:solidFill>
                <a:latin typeface="Montserrat" pitchFamily="34" charset="0"/>
                <a:ea typeface="Montserrat" pitchFamily="34" charset="-122"/>
                <a:cs typeface="Montserrat" pitchFamily="34" charset="-120"/>
                <a:hlinkClick r:id="rId5"/>
              </a:rPr>
              <a:t>http://Prometheus:9090</a:t>
            </a:r>
            <a:r>
              <a:rPr lang="en-GB" sz="2400" dirty="0">
                <a:solidFill>
                  <a:schemeClr val="tx1"/>
                </a:solidFill>
                <a:latin typeface="Montserrat" pitchFamily="34" charset="0"/>
                <a:ea typeface="Montserrat" pitchFamily="34" charset="-122"/>
                <a:cs typeface="Montserrat" pitchFamily="34" charset="-120"/>
              </a:rPr>
              <a:t>, then click ‘Save &amp; Test’)</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Create a </a:t>
            </a:r>
            <a:r>
              <a:rPr lang="en-GB" sz="2400" b="1" dirty="0">
                <a:solidFill>
                  <a:schemeClr val="tx1"/>
                </a:solidFill>
                <a:latin typeface="Montserrat" pitchFamily="34" charset="0"/>
                <a:ea typeface="Montserrat" pitchFamily="34" charset="-122"/>
                <a:cs typeface="Montserrat" pitchFamily="34" charset="-120"/>
              </a:rPr>
              <a:t>new Dashboard </a:t>
            </a:r>
            <a:r>
              <a:rPr lang="en-GB" sz="2400" dirty="0">
                <a:solidFill>
                  <a:schemeClr val="tx1"/>
                </a:solidFill>
                <a:latin typeface="Montserrat" pitchFamily="34" charset="0"/>
                <a:ea typeface="Montserrat" pitchFamily="34" charset="-122"/>
                <a:cs typeface="Montserrat" pitchFamily="34" charset="-120"/>
              </a:rPr>
              <a:t>and add a </a:t>
            </a:r>
            <a:r>
              <a:rPr lang="en-GB" sz="2400" b="1" dirty="0">
                <a:solidFill>
                  <a:schemeClr val="tx1"/>
                </a:solidFill>
                <a:latin typeface="Montserrat" pitchFamily="34" charset="0"/>
                <a:ea typeface="Montserrat" pitchFamily="34" charset="-122"/>
                <a:cs typeface="Montserrat" pitchFamily="34" charset="-120"/>
              </a:rPr>
              <a:t>new Panel </a:t>
            </a:r>
            <a:r>
              <a:rPr lang="en-GB" sz="2400" dirty="0">
                <a:solidFill>
                  <a:schemeClr val="tx1"/>
                </a:solidFill>
                <a:latin typeface="Montserrat" pitchFamily="34" charset="0"/>
                <a:ea typeface="Montserrat" pitchFamily="34" charset="-122"/>
                <a:cs typeface="Montserrat" pitchFamily="34" charset="-120"/>
              </a:rPr>
              <a:t>(Select Prometheus as </a:t>
            </a:r>
            <a:r>
              <a:rPr lang="en-GB" sz="2400" b="1" dirty="0">
                <a:solidFill>
                  <a:schemeClr val="tx1"/>
                </a:solidFill>
                <a:latin typeface="Montserrat" pitchFamily="34" charset="0"/>
                <a:ea typeface="Montserrat" pitchFamily="34" charset="-122"/>
                <a:cs typeface="Montserrat" pitchFamily="34" charset="-120"/>
              </a:rPr>
              <a:t>Query source </a:t>
            </a:r>
            <a:r>
              <a:rPr lang="en-GB" sz="2400" dirty="0">
                <a:solidFill>
                  <a:schemeClr val="tx1"/>
                </a:solidFill>
                <a:latin typeface="Montserrat" pitchFamily="34" charset="0"/>
                <a:ea typeface="Montserrat" pitchFamily="34" charset="-122"/>
                <a:cs typeface="Montserrat" pitchFamily="34" charset="-120"/>
              </a:rPr>
              <a:t>and choose </a:t>
            </a:r>
            <a:r>
              <a:rPr lang="en-GB" sz="2400" b="1" dirty="0">
                <a:solidFill>
                  <a:schemeClr val="tx1"/>
                </a:solidFill>
                <a:latin typeface="Montserrat" pitchFamily="34" charset="0"/>
                <a:ea typeface="Montserrat" pitchFamily="34" charset="-122"/>
                <a:cs typeface="Montserrat" pitchFamily="34" charset="-120"/>
              </a:rPr>
              <a:t>Code</a:t>
            </a:r>
            <a:r>
              <a:rPr lang="en-GB" sz="2400" dirty="0">
                <a:solidFill>
                  <a:schemeClr val="tx1"/>
                </a:solidFill>
                <a:latin typeface="Montserrat" pitchFamily="34" charset="0"/>
                <a:ea typeface="Montserrat" pitchFamily="34" charset="-122"/>
                <a:cs typeface="Montserrat" pitchFamily="34" charset="-120"/>
              </a:rPr>
              <a:t>   mode). Set </a:t>
            </a:r>
            <a:r>
              <a:rPr lang="en-GB" sz="2400" b="1" dirty="0">
                <a:solidFill>
                  <a:schemeClr val="tx1"/>
                </a:solidFill>
                <a:latin typeface="Montserrat" pitchFamily="34" charset="0"/>
                <a:ea typeface="Montserrat" pitchFamily="34" charset="-122"/>
                <a:cs typeface="Montserrat" pitchFamily="34" charset="-120"/>
              </a:rPr>
              <a:t>rate(</a:t>
            </a:r>
            <a:r>
              <a:rPr lang="en-GB" sz="2400" b="1" dirty="0" err="1">
                <a:solidFill>
                  <a:schemeClr val="tx1"/>
                </a:solidFill>
                <a:latin typeface="Montserrat" pitchFamily="34" charset="0"/>
                <a:ea typeface="Montserrat" pitchFamily="34" charset="-122"/>
                <a:cs typeface="Montserrat" pitchFamily="34" charset="-120"/>
              </a:rPr>
              <a:t>python_gc_objects_collected_total</a:t>
            </a:r>
            <a:r>
              <a:rPr lang="en-GB" sz="2400" b="1" dirty="0">
                <a:solidFill>
                  <a:schemeClr val="tx1"/>
                </a:solidFill>
                <a:latin typeface="Montserrat" pitchFamily="34" charset="0"/>
                <a:ea typeface="Montserrat" pitchFamily="34" charset="-122"/>
                <a:cs typeface="Montserrat" pitchFamily="34" charset="-120"/>
              </a:rPr>
              <a:t>{job="</a:t>
            </a:r>
            <a:r>
              <a:rPr lang="en-GB" sz="2400" b="1" dirty="0" err="1">
                <a:solidFill>
                  <a:schemeClr val="tx1"/>
                </a:solidFill>
                <a:latin typeface="Montserrat" pitchFamily="34" charset="0"/>
                <a:ea typeface="Montserrat" pitchFamily="34" charset="-122"/>
                <a:cs typeface="Montserrat" pitchFamily="34" charset="-120"/>
              </a:rPr>
              <a:t>mec</a:t>
            </a:r>
            <a:r>
              <a:rPr lang="en-GB" sz="2400" b="1" dirty="0">
                <a:solidFill>
                  <a:schemeClr val="tx1"/>
                </a:solidFill>
                <a:latin typeface="Montserrat" pitchFamily="34" charset="0"/>
                <a:ea typeface="Montserrat" pitchFamily="34" charset="-122"/>
                <a:cs typeface="Montserrat" pitchFamily="34" charset="-120"/>
              </a:rPr>
              <a:t>-stub"}[1m])</a:t>
            </a:r>
            <a:r>
              <a:rPr lang="en-GB" sz="2400" dirty="0">
                <a:solidFill>
                  <a:schemeClr val="tx1"/>
                </a:solidFill>
                <a:latin typeface="Montserrat" pitchFamily="34" charset="0"/>
                <a:ea typeface="Montserrat" pitchFamily="34" charset="-122"/>
                <a:cs typeface="Montserrat" pitchFamily="34" charset="-120"/>
              </a:rPr>
              <a:t> and visualization to </a:t>
            </a:r>
            <a:r>
              <a:rPr lang="en-GB" sz="2400" b="1" dirty="0" err="1">
                <a:solidFill>
                  <a:schemeClr val="tx1"/>
                </a:solidFill>
                <a:latin typeface="Montserrat" pitchFamily="34" charset="0"/>
                <a:ea typeface="Montserrat" pitchFamily="34" charset="-122"/>
                <a:cs typeface="Montserrat" pitchFamily="34" charset="-120"/>
              </a:rPr>
              <a:t>TimeSeries</a:t>
            </a:r>
            <a:endParaRPr lang="en-GB" sz="2400" b="1" dirty="0">
              <a:solidFill>
                <a:schemeClr val="tx1"/>
              </a:solidFill>
              <a:latin typeface="Montserrat" pitchFamily="34" charset="0"/>
              <a:ea typeface="Montserrat" pitchFamily="34" charset="-122"/>
              <a:cs typeface="Montserrat" pitchFamily="34" charset="-120"/>
            </a:endParaRPr>
          </a:p>
        </p:txBody>
      </p:sp>
      <p:pic>
        <p:nvPicPr>
          <p:cNvPr id="4" name="Imagen 3">
            <a:extLst>
              <a:ext uri="{FF2B5EF4-FFF2-40B4-BE49-F238E27FC236}">
                <a16:creationId xmlns:a16="http://schemas.microsoft.com/office/drawing/2014/main" id="{0C86B109-191B-4A6B-9752-16EF30CC458B}"/>
              </a:ext>
            </a:extLst>
          </p:cNvPr>
          <p:cNvPicPr>
            <a:picLocks noChangeAspect="1"/>
          </p:cNvPicPr>
          <p:nvPr/>
        </p:nvPicPr>
        <p:blipFill>
          <a:blip r:embed="rId6"/>
          <a:stretch>
            <a:fillRect/>
          </a:stretch>
        </p:blipFill>
        <p:spPr>
          <a:xfrm>
            <a:off x="310484" y="4955143"/>
            <a:ext cx="5207256" cy="2531304"/>
          </a:xfrm>
          <a:prstGeom prst="rect">
            <a:avLst/>
          </a:prstGeom>
        </p:spPr>
      </p:pic>
      <p:pic>
        <p:nvPicPr>
          <p:cNvPr id="7" name="Imagen 6">
            <a:extLst>
              <a:ext uri="{FF2B5EF4-FFF2-40B4-BE49-F238E27FC236}">
                <a16:creationId xmlns:a16="http://schemas.microsoft.com/office/drawing/2014/main" id="{063D3E38-23FC-4F84-A323-CCC4FFD96985}"/>
              </a:ext>
            </a:extLst>
          </p:cNvPr>
          <p:cNvPicPr>
            <a:picLocks noChangeAspect="1"/>
          </p:cNvPicPr>
          <p:nvPr/>
        </p:nvPicPr>
        <p:blipFill>
          <a:blip r:embed="rId7"/>
          <a:stretch>
            <a:fillRect/>
          </a:stretch>
        </p:blipFill>
        <p:spPr>
          <a:xfrm>
            <a:off x="5684268" y="4978166"/>
            <a:ext cx="5041336" cy="2531304"/>
          </a:xfrm>
          <a:prstGeom prst="rect">
            <a:avLst/>
          </a:prstGeom>
        </p:spPr>
      </p:pic>
      <p:pic>
        <p:nvPicPr>
          <p:cNvPr id="9" name="Imagen 8">
            <a:extLst>
              <a:ext uri="{FF2B5EF4-FFF2-40B4-BE49-F238E27FC236}">
                <a16:creationId xmlns:a16="http://schemas.microsoft.com/office/drawing/2014/main" id="{33F4D930-76A6-4211-8FEF-1C0A08E91D0E}"/>
              </a:ext>
            </a:extLst>
          </p:cNvPr>
          <p:cNvPicPr>
            <a:picLocks noChangeAspect="1"/>
          </p:cNvPicPr>
          <p:nvPr/>
        </p:nvPicPr>
        <p:blipFill>
          <a:blip r:embed="rId8"/>
          <a:stretch>
            <a:fillRect/>
          </a:stretch>
        </p:blipFill>
        <p:spPr>
          <a:xfrm>
            <a:off x="10892132" y="5001189"/>
            <a:ext cx="6978830" cy="3014934"/>
          </a:xfrm>
          <a:prstGeom prst="rect">
            <a:avLst/>
          </a:prstGeom>
        </p:spPr>
      </p:pic>
      <p:pic>
        <p:nvPicPr>
          <p:cNvPr id="11" name="Imagen 10">
            <a:extLst>
              <a:ext uri="{FF2B5EF4-FFF2-40B4-BE49-F238E27FC236}">
                <a16:creationId xmlns:a16="http://schemas.microsoft.com/office/drawing/2014/main" id="{3411FBCA-494B-4024-9F4E-4BA411BCFE27}"/>
              </a:ext>
            </a:extLst>
          </p:cNvPr>
          <p:cNvPicPr>
            <a:picLocks noChangeAspect="1"/>
          </p:cNvPicPr>
          <p:nvPr/>
        </p:nvPicPr>
        <p:blipFill>
          <a:blip r:embed="rId9"/>
          <a:stretch>
            <a:fillRect/>
          </a:stretch>
        </p:blipFill>
        <p:spPr>
          <a:xfrm>
            <a:off x="11264094" y="8401148"/>
            <a:ext cx="5382884" cy="1229508"/>
          </a:xfrm>
          <a:prstGeom prst="rect">
            <a:avLst/>
          </a:prstGeom>
        </p:spPr>
      </p:pic>
      <p:sp>
        <p:nvSpPr>
          <p:cNvPr id="12" name="Flecha: a la derecha 11">
            <a:extLst>
              <a:ext uri="{FF2B5EF4-FFF2-40B4-BE49-F238E27FC236}">
                <a16:creationId xmlns:a16="http://schemas.microsoft.com/office/drawing/2014/main" id="{50EEF544-AB85-4076-AD25-4BDBCC427CCD}"/>
              </a:ext>
            </a:extLst>
          </p:cNvPr>
          <p:cNvSpPr/>
          <p:nvPr/>
        </p:nvSpPr>
        <p:spPr>
          <a:xfrm>
            <a:off x="5194467" y="6801043"/>
            <a:ext cx="646546" cy="490568"/>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echa: a la derecha 24">
            <a:extLst>
              <a:ext uri="{FF2B5EF4-FFF2-40B4-BE49-F238E27FC236}">
                <a16:creationId xmlns:a16="http://schemas.microsoft.com/office/drawing/2014/main" id="{04F0B3D4-C31A-4E15-86C9-C322247049F3}"/>
              </a:ext>
            </a:extLst>
          </p:cNvPr>
          <p:cNvSpPr/>
          <p:nvPr/>
        </p:nvSpPr>
        <p:spPr>
          <a:xfrm>
            <a:off x="10401723" y="6890481"/>
            <a:ext cx="646546" cy="490568"/>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echa: a la derecha 25">
            <a:extLst>
              <a:ext uri="{FF2B5EF4-FFF2-40B4-BE49-F238E27FC236}">
                <a16:creationId xmlns:a16="http://schemas.microsoft.com/office/drawing/2014/main" id="{18CAFB4C-FE64-4431-8C8E-36E94729AB03}"/>
              </a:ext>
            </a:extLst>
          </p:cNvPr>
          <p:cNvSpPr/>
          <p:nvPr/>
        </p:nvSpPr>
        <p:spPr>
          <a:xfrm rot="5400000">
            <a:off x="13729759" y="7950901"/>
            <a:ext cx="646546" cy="490568"/>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n 19">
            <a:extLst>
              <a:ext uri="{FF2B5EF4-FFF2-40B4-BE49-F238E27FC236}">
                <a16:creationId xmlns:a16="http://schemas.microsoft.com/office/drawing/2014/main" id="{D4DA12A1-3AD1-486C-8234-6F8FBC53A176}"/>
              </a:ext>
            </a:extLst>
          </p:cNvPr>
          <p:cNvPicPr>
            <a:picLocks noChangeAspect="1"/>
          </p:cNvPicPr>
          <p:nvPr/>
        </p:nvPicPr>
        <p:blipFill>
          <a:blip r:embed="rId10"/>
          <a:stretch>
            <a:fillRect/>
          </a:stretch>
        </p:blipFill>
        <p:spPr>
          <a:xfrm>
            <a:off x="5822784" y="7771535"/>
            <a:ext cx="4412318" cy="2488734"/>
          </a:xfrm>
          <a:prstGeom prst="rect">
            <a:avLst/>
          </a:prstGeom>
        </p:spPr>
      </p:pic>
      <p:sp>
        <p:nvSpPr>
          <p:cNvPr id="29" name="Flecha: a la derecha 28">
            <a:extLst>
              <a:ext uri="{FF2B5EF4-FFF2-40B4-BE49-F238E27FC236}">
                <a16:creationId xmlns:a16="http://schemas.microsoft.com/office/drawing/2014/main" id="{88697594-89DC-465E-89E7-F43435E1DB91}"/>
              </a:ext>
            </a:extLst>
          </p:cNvPr>
          <p:cNvSpPr/>
          <p:nvPr/>
        </p:nvSpPr>
        <p:spPr>
          <a:xfrm rot="10800000">
            <a:off x="10568859" y="8734802"/>
            <a:ext cx="646546" cy="490568"/>
          </a:xfrm>
          <a:prstGeom prst="righ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0239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9. </a:t>
            </a:r>
            <a:r>
              <a:rPr lang="en-GB" sz="3999" b="1" i="0" u="none" strike="noStrike" cap="none" dirty="0">
                <a:solidFill>
                  <a:srgbClr val="3A91B9"/>
                </a:solidFill>
                <a:latin typeface="Montserrat"/>
                <a:ea typeface="Montserrat"/>
                <a:cs typeface="Montserrat"/>
                <a:sym typeface="Montserrat"/>
              </a:rPr>
              <a:t>Correlating Security Evidence in </a:t>
            </a:r>
            <a:r>
              <a:rPr lang="en-GB" sz="3999" b="1" i="0" u="none" strike="noStrike" cap="none" dirty="0" err="1">
                <a:solidFill>
                  <a:srgbClr val="3A91B9"/>
                </a:solidFill>
                <a:latin typeface="Montserrat"/>
                <a:ea typeface="Montserrat"/>
                <a:cs typeface="Montserrat"/>
                <a:sym typeface="Montserrat"/>
              </a:rPr>
              <a:t>NeoCity</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144471"/>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DoS flood </a:t>
            </a:r>
            <a:r>
              <a:rPr lang="en-GB" sz="2400" dirty="0">
                <a:solidFill>
                  <a:schemeClr val="tx1"/>
                </a:solidFill>
                <a:latin typeface="Montserrat" pitchFamily="34" charset="0"/>
                <a:ea typeface="Montserrat" pitchFamily="34" charset="-122"/>
                <a:cs typeface="Montserrat" pitchFamily="34" charset="-120"/>
              </a:rPr>
              <a:t>generates measurable </a:t>
            </a:r>
            <a:r>
              <a:rPr lang="en-GB" sz="2400" b="1" dirty="0">
                <a:solidFill>
                  <a:schemeClr val="tx1"/>
                </a:solidFill>
                <a:latin typeface="Montserrat" pitchFamily="34" charset="0"/>
                <a:ea typeface="Montserrat" pitchFamily="34" charset="-122"/>
                <a:cs typeface="Montserrat" pitchFamily="34" charset="-120"/>
              </a:rPr>
              <a:t>impact</a:t>
            </a:r>
            <a:r>
              <a:rPr lang="en-GB" sz="2400" dirty="0">
                <a:solidFill>
                  <a:schemeClr val="tx1"/>
                </a:solidFill>
                <a:latin typeface="Montserrat" pitchFamily="34" charset="0"/>
                <a:ea typeface="Montserrat" pitchFamily="34" charset="-122"/>
                <a:cs typeface="Montserrat" pitchFamily="34" charset="-120"/>
              </a:rPr>
              <a:t> on the MEC system</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Performance metrics </a:t>
            </a:r>
            <a:r>
              <a:rPr lang="en-GB" sz="2400" dirty="0">
                <a:solidFill>
                  <a:schemeClr val="tx1"/>
                </a:solidFill>
                <a:latin typeface="Montserrat" pitchFamily="34" charset="0"/>
                <a:ea typeface="Montserrat" pitchFamily="34" charset="-122"/>
                <a:cs typeface="Montserrat" pitchFamily="34" charset="-120"/>
              </a:rPr>
              <a:t>in Grafana show </a:t>
            </a:r>
            <a:r>
              <a:rPr lang="en-GB" sz="2400" b="1" dirty="0">
                <a:solidFill>
                  <a:schemeClr val="tx1"/>
                </a:solidFill>
                <a:latin typeface="Montserrat" pitchFamily="34" charset="0"/>
                <a:ea typeface="Montserrat" pitchFamily="34" charset="-122"/>
                <a:cs typeface="Montserrat" pitchFamily="34" charset="-120"/>
              </a:rPr>
              <a:t>spikes</a:t>
            </a:r>
            <a:r>
              <a:rPr lang="en-GB" sz="2400" dirty="0">
                <a:solidFill>
                  <a:schemeClr val="tx1"/>
                </a:solidFill>
                <a:latin typeface="Montserrat" pitchFamily="34" charset="0"/>
                <a:ea typeface="Montserrat" pitchFamily="34" charset="-122"/>
                <a:cs typeface="Montserrat" pitchFamily="34" charset="-120"/>
              </a:rPr>
              <a:t> linked to attack activity</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Suricata alerts </a:t>
            </a:r>
            <a:r>
              <a:rPr lang="en-GB" sz="2400" dirty="0">
                <a:solidFill>
                  <a:schemeClr val="tx1"/>
                </a:solidFill>
                <a:latin typeface="Montserrat" pitchFamily="34" charset="0"/>
                <a:ea typeface="Montserrat" pitchFamily="34" charset="-122"/>
                <a:cs typeface="Montserrat" pitchFamily="34" charset="-120"/>
              </a:rPr>
              <a:t>confirm </a:t>
            </a:r>
            <a:r>
              <a:rPr lang="en-GB" sz="2400" b="1" dirty="0">
                <a:solidFill>
                  <a:schemeClr val="tx1"/>
                </a:solidFill>
                <a:latin typeface="Montserrat" pitchFamily="34" charset="0"/>
                <a:ea typeface="Montserrat" pitchFamily="34" charset="-122"/>
                <a:cs typeface="Montserrat" pitchFamily="34" charset="-120"/>
              </a:rPr>
              <a:t>malicious traffic patterns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Security observations now feed the </a:t>
            </a:r>
            <a:r>
              <a:rPr lang="en-GB" sz="2400" b="1" dirty="0">
                <a:solidFill>
                  <a:schemeClr val="tx1"/>
                </a:solidFill>
                <a:latin typeface="Montserrat" pitchFamily="34" charset="0"/>
                <a:ea typeface="Montserrat" pitchFamily="34" charset="-122"/>
                <a:cs typeface="Montserrat" pitchFamily="34" charset="-120"/>
              </a:rPr>
              <a:t>risk evaluat</a:t>
            </a:r>
            <a:r>
              <a:rPr lang="en-GB" sz="2400" dirty="0">
                <a:solidFill>
                  <a:schemeClr val="tx1"/>
                </a:solidFill>
                <a:latin typeface="Montserrat" pitchFamily="34" charset="0"/>
                <a:ea typeface="Montserrat" pitchFamily="34" charset="-122"/>
                <a:cs typeface="Montserrat" pitchFamily="34" charset="-120"/>
              </a:rPr>
              <a:t>ion</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Next step: propose </a:t>
            </a:r>
            <a:r>
              <a:rPr lang="en-GB" sz="2400" b="1" dirty="0">
                <a:solidFill>
                  <a:schemeClr val="tx1"/>
                </a:solidFill>
                <a:latin typeface="Montserrat" pitchFamily="34" charset="0"/>
                <a:ea typeface="Montserrat" pitchFamily="34" charset="-122"/>
                <a:cs typeface="Montserrat" pitchFamily="34" charset="-120"/>
              </a:rPr>
              <a:t>mitigations</a:t>
            </a:r>
            <a:r>
              <a:rPr lang="en-GB" sz="2400" dirty="0">
                <a:solidFill>
                  <a:schemeClr val="tx1"/>
                </a:solidFill>
                <a:latin typeface="Montserrat" pitchFamily="34" charset="0"/>
                <a:ea typeface="Montserrat" pitchFamily="34" charset="-122"/>
                <a:cs typeface="Montserrat" pitchFamily="34" charset="-120"/>
              </a:rPr>
              <a:t> and validate residual risk</a:t>
            </a:r>
            <a:endParaRPr lang="en-GB" sz="2400" b="1" dirty="0">
              <a:solidFill>
                <a:schemeClr val="tx1"/>
              </a:solidFill>
              <a:latin typeface="Montserrat" pitchFamily="34" charset="0"/>
              <a:ea typeface="Montserrat" pitchFamily="34" charset="-122"/>
              <a:cs typeface="Montserrat" pitchFamily="34" charset="-120"/>
            </a:endParaRPr>
          </a:p>
        </p:txBody>
      </p:sp>
      <p:pic>
        <p:nvPicPr>
          <p:cNvPr id="15" name="Imagen 14">
            <a:extLst>
              <a:ext uri="{FF2B5EF4-FFF2-40B4-BE49-F238E27FC236}">
                <a16:creationId xmlns:a16="http://schemas.microsoft.com/office/drawing/2014/main" id="{65053CE2-4F0C-4818-9217-FBFDB5FA331E}"/>
              </a:ext>
            </a:extLst>
          </p:cNvPr>
          <p:cNvPicPr>
            <a:picLocks noChangeAspect="1"/>
          </p:cNvPicPr>
          <p:nvPr/>
        </p:nvPicPr>
        <p:blipFill>
          <a:blip r:embed="rId3"/>
          <a:stretch>
            <a:fillRect/>
          </a:stretch>
        </p:blipFill>
        <p:spPr>
          <a:xfrm>
            <a:off x="12670748" y="5653794"/>
            <a:ext cx="5424946" cy="3059899"/>
          </a:xfrm>
          <a:prstGeom prst="rect">
            <a:avLst/>
          </a:prstGeom>
        </p:spPr>
      </p:pic>
      <p:pic>
        <p:nvPicPr>
          <p:cNvPr id="16" name="Imagen 15">
            <a:extLst>
              <a:ext uri="{FF2B5EF4-FFF2-40B4-BE49-F238E27FC236}">
                <a16:creationId xmlns:a16="http://schemas.microsoft.com/office/drawing/2014/main" id="{3E18972C-4066-44BE-9E24-81D00582BCF6}"/>
              </a:ext>
            </a:extLst>
          </p:cNvPr>
          <p:cNvPicPr>
            <a:picLocks noChangeAspect="1"/>
          </p:cNvPicPr>
          <p:nvPr/>
        </p:nvPicPr>
        <p:blipFill>
          <a:blip r:embed="rId4"/>
          <a:stretch>
            <a:fillRect/>
          </a:stretch>
        </p:blipFill>
        <p:spPr>
          <a:xfrm>
            <a:off x="344323" y="6306399"/>
            <a:ext cx="12251392" cy="1164581"/>
          </a:xfrm>
          <a:prstGeom prst="rect">
            <a:avLst/>
          </a:prstGeom>
        </p:spPr>
      </p:pic>
      <p:sp>
        <p:nvSpPr>
          <p:cNvPr id="17" name="Google Shape;419;p25">
            <a:extLst>
              <a:ext uri="{FF2B5EF4-FFF2-40B4-BE49-F238E27FC236}">
                <a16:creationId xmlns:a16="http://schemas.microsoft.com/office/drawing/2014/main" id="{52F72BBB-E180-47D2-AA9A-BA1B6F34210F}"/>
              </a:ext>
            </a:extLst>
          </p:cNvPr>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5">
              <a:alphaModFix/>
            </a:blip>
            <a:stretch>
              <a:fillRect/>
            </a:stretch>
          </a:blipFill>
          <a:ln>
            <a:noFill/>
          </a:ln>
        </p:spPr>
      </p:sp>
      <p:sp>
        <p:nvSpPr>
          <p:cNvPr id="18" name="Google Shape;420;p25">
            <a:extLst>
              <a:ext uri="{FF2B5EF4-FFF2-40B4-BE49-F238E27FC236}">
                <a16:creationId xmlns:a16="http://schemas.microsoft.com/office/drawing/2014/main" id="{FCF1FCB2-71B0-4573-9768-2D4E907877F0}"/>
              </a:ext>
            </a:extLst>
          </p:cNvPr>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6">
              <a:alphaModFix/>
            </a:blip>
            <a:stretch>
              <a:fillRect/>
            </a:stretch>
          </a:blipFill>
          <a:ln>
            <a:noFill/>
          </a:ln>
        </p:spPr>
      </p:sp>
      <p:sp>
        <p:nvSpPr>
          <p:cNvPr id="19" name="Google Shape;421;p25">
            <a:extLst>
              <a:ext uri="{FF2B5EF4-FFF2-40B4-BE49-F238E27FC236}">
                <a16:creationId xmlns:a16="http://schemas.microsoft.com/office/drawing/2014/main" id="{FE6776AE-6B1E-4573-9EB6-F04E96BDFCF0}"/>
              </a:ext>
            </a:extLst>
          </p:cNvPr>
          <p:cNvSpPr txBox="1"/>
          <p:nvPr/>
        </p:nvSpPr>
        <p:spPr>
          <a:xfrm>
            <a:off x="4581268" y="7711642"/>
            <a:ext cx="8014447" cy="861774"/>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sv-SE" sz="2000" b="1" dirty="0">
                <a:solidFill>
                  <a:srgbClr val="3A91B9"/>
                </a:solidFill>
                <a:latin typeface="Montserrat"/>
                <a:ea typeface="Montserrat"/>
                <a:cs typeface="Montserrat"/>
                <a:sym typeface="Montserrat"/>
              </a:rPr>
              <a:t>Correlation between the events detected in Suricata and the metrics observed in the MEC from Grafana   </a:t>
            </a:r>
            <a:endParaRPr sz="2000" dirty="0"/>
          </a:p>
        </p:txBody>
      </p:sp>
    </p:spTree>
    <p:extLst>
      <p:ext uri="{BB962C8B-B14F-4D97-AF65-F5344CB8AC3E}">
        <p14:creationId xmlns:p14="http://schemas.microsoft.com/office/powerpoint/2010/main" val="180819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1" name="Google Shape;421;p25"/>
          <p:cNvSpPr txBox="1"/>
          <p:nvPr/>
        </p:nvSpPr>
        <p:spPr>
          <a:xfrm>
            <a:off x="1028700" y="962025"/>
            <a:ext cx="16230600"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10. </a:t>
            </a:r>
            <a:r>
              <a:rPr lang="en-GB" sz="3999" b="1" i="0" u="none" strike="noStrike" cap="none" dirty="0">
                <a:solidFill>
                  <a:srgbClr val="3A91B9"/>
                </a:solidFill>
                <a:latin typeface="Montserrat"/>
                <a:ea typeface="Montserrat"/>
                <a:cs typeface="Montserrat"/>
                <a:sym typeface="Montserrat"/>
              </a:rPr>
              <a:t>Risk Evaluation</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144471"/>
            <a:ext cx="16874289" cy="285671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Threat considered</a:t>
            </a:r>
            <a:r>
              <a:rPr lang="en-GB" sz="2400" dirty="0">
                <a:solidFill>
                  <a:schemeClr val="tx1"/>
                </a:solidFill>
                <a:latin typeface="Montserrat" pitchFamily="34" charset="0"/>
                <a:ea typeface="Montserrat" pitchFamily="34" charset="-122"/>
                <a:cs typeface="Montserrat" pitchFamily="34" charset="-120"/>
              </a:rPr>
              <a:t>: DoS flood against MEC control API</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Target impact</a:t>
            </a:r>
            <a:r>
              <a:rPr lang="en-GB" sz="2400" dirty="0">
                <a:solidFill>
                  <a:schemeClr val="tx1"/>
                </a:solidFill>
                <a:latin typeface="Montserrat" pitchFamily="34" charset="0"/>
                <a:ea typeface="Montserrat" pitchFamily="34" charset="-122"/>
                <a:cs typeface="Montserrat" pitchFamily="34" charset="-120"/>
              </a:rPr>
              <a:t>: Traffic signal service availability</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Likelihood</a:t>
            </a:r>
            <a:r>
              <a:rPr lang="en-GB" sz="2400" dirty="0">
                <a:solidFill>
                  <a:schemeClr val="tx1"/>
                </a:solidFill>
                <a:latin typeface="Montserrat" pitchFamily="34" charset="0"/>
                <a:ea typeface="Montserrat" pitchFamily="34" charset="-122"/>
                <a:cs typeface="Montserrat" pitchFamily="34" charset="-120"/>
              </a:rPr>
              <a:t>: Demonstrated viable under current conditions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Impact severity</a:t>
            </a:r>
            <a:r>
              <a:rPr lang="en-GB" sz="2400" dirty="0">
                <a:solidFill>
                  <a:schemeClr val="tx1"/>
                </a:solidFill>
                <a:latin typeface="Montserrat" pitchFamily="34" charset="0"/>
                <a:ea typeface="Montserrat" pitchFamily="34" charset="-122"/>
                <a:cs typeface="Montserrat" pitchFamily="34" charset="-120"/>
              </a:rPr>
              <a:t>: Disruption to Smart City operations</a:t>
            </a:r>
          </a:p>
          <a:p>
            <a:pPr marL="342900" indent="-342900" algn="just">
              <a:lnSpc>
                <a:spcPct val="150000"/>
              </a:lnSpc>
              <a:buFont typeface="Arial" panose="020B0604020202020204" pitchFamily="34" charset="0"/>
              <a:buChar char="•"/>
            </a:pPr>
            <a:r>
              <a:rPr lang="en-GB" sz="2400" b="1" dirty="0">
                <a:solidFill>
                  <a:schemeClr val="tx1"/>
                </a:solidFill>
                <a:latin typeface="Montserrat" pitchFamily="34" charset="0"/>
                <a:ea typeface="Montserrat" pitchFamily="34" charset="-122"/>
                <a:cs typeface="Montserrat" pitchFamily="34" charset="-120"/>
              </a:rPr>
              <a:t>Risk level</a:t>
            </a:r>
            <a:r>
              <a:rPr lang="en-GB" sz="2400" dirty="0">
                <a:solidFill>
                  <a:schemeClr val="tx1"/>
                </a:solidFill>
                <a:latin typeface="Montserrat" pitchFamily="34" charset="0"/>
                <a:ea typeface="Montserrat" pitchFamily="34" charset="-122"/>
                <a:cs typeface="Montserrat" pitchFamily="34" charset="-120"/>
              </a:rPr>
              <a:t>: Prioritized for mitigation</a:t>
            </a:r>
          </a:p>
        </p:txBody>
      </p:sp>
      <p:sp>
        <p:nvSpPr>
          <p:cNvPr id="17" name="Google Shape;419;p25">
            <a:extLst>
              <a:ext uri="{FF2B5EF4-FFF2-40B4-BE49-F238E27FC236}">
                <a16:creationId xmlns:a16="http://schemas.microsoft.com/office/drawing/2014/main" id="{52F72BBB-E180-47D2-AA9A-BA1B6F34210F}"/>
              </a:ext>
            </a:extLst>
          </p:cNvPr>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18" name="Google Shape;420;p25">
            <a:extLst>
              <a:ext uri="{FF2B5EF4-FFF2-40B4-BE49-F238E27FC236}">
                <a16:creationId xmlns:a16="http://schemas.microsoft.com/office/drawing/2014/main" id="{FCF1FCB2-71B0-4573-9768-2D4E907877F0}"/>
              </a:ext>
            </a:extLst>
          </p:cNvPr>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graphicFrame>
        <p:nvGraphicFramePr>
          <p:cNvPr id="3" name="Tabla 2">
            <a:extLst>
              <a:ext uri="{FF2B5EF4-FFF2-40B4-BE49-F238E27FC236}">
                <a16:creationId xmlns:a16="http://schemas.microsoft.com/office/drawing/2014/main" id="{3EFB8173-69CD-4C0D-87FF-C53E74A42F2C}"/>
              </a:ext>
            </a:extLst>
          </p:cNvPr>
          <p:cNvGraphicFramePr>
            <a:graphicFrameLocks noGrp="1"/>
          </p:cNvGraphicFramePr>
          <p:nvPr>
            <p:extLst>
              <p:ext uri="{D42A27DB-BD31-4B8C-83A1-F6EECF244321}">
                <p14:modId xmlns:p14="http://schemas.microsoft.com/office/powerpoint/2010/main" val="3544415212"/>
              </p:ext>
            </p:extLst>
          </p:nvPr>
        </p:nvGraphicFramePr>
        <p:xfrm>
          <a:off x="3397906" y="6685630"/>
          <a:ext cx="12855390" cy="1097280"/>
        </p:xfrm>
        <a:graphic>
          <a:graphicData uri="http://schemas.openxmlformats.org/drawingml/2006/table">
            <a:tbl>
              <a:tblPr>
                <a:tableStyleId>{BDBED569-4797-4DF1-A0F4-6AAB3CD982D8}</a:tableStyleId>
              </a:tblPr>
              <a:tblGrid>
                <a:gridCol w="2571078">
                  <a:extLst>
                    <a:ext uri="{9D8B030D-6E8A-4147-A177-3AD203B41FA5}">
                      <a16:colId xmlns:a16="http://schemas.microsoft.com/office/drawing/2014/main" val="1218755151"/>
                    </a:ext>
                  </a:extLst>
                </a:gridCol>
                <a:gridCol w="2571078">
                  <a:extLst>
                    <a:ext uri="{9D8B030D-6E8A-4147-A177-3AD203B41FA5}">
                      <a16:colId xmlns:a16="http://schemas.microsoft.com/office/drawing/2014/main" val="495290212"/>
                    </a:ext>
                  </a:extLst>
                </a:gridCol>
                <a:gridCol w="2571078">
                  <a:extLst>
                    <a:ext uri="{9D8B030D-6E8A-4147-A177-3AD203B41FA5}">
                      <a16:colId xmlns:a16="http://schemas.microsoft.com/office/drawing/2014/main" val="1054225000"/>
                    </a:ext>
                  </a:extLst>
                </a:gridCol>
                <a:gridCol w="2571078">
                  <a:extLst>
                    <a:ext uri="{9D8B030D-6E8A-4147-A177-3AD203B41FA5}">
                      <a16:colId xmlns:a16="http://schemas.microsoft.com/office/drawing/2014/main" val="2886687851"/>
                    </a:ext>
                  </a:extLst>
                </a:gridCol>
                <a:gridCol w="2571078">
                  <a:extLst>
                    <a:ext uri="{9D8B030D-6E8A-4147-A177-3AD203B41FA5}">
                      <a16:colId xmlns:a16="http://schemas.microsoft.com/office/drawing/2014/main" val="2979999939"/>
                    </a:ext>
                  </a:extLst>
                </a:gridCol>
              </a:tblGrid>
              <a:tr h="361082">
                <a:tc>
                  <a:txBody>
                    <a:bodyPr/>
                    <a:lstStyle/>
                    <a:p>
                      <a:r>
                        <a:rPr lang="en-GB" sz="2000" dirty="0"/>
                        <a:t>Threat</a:t>
                      </a:r>
                    </a:p>
                  </a:txBody>
                  <a:tcPr anchor="ctr">
                    <a:solidFill>
                      <a:schemeClr val="bg2">
                        <a:lumMod val="20000"/>
                        <a:lumOff val="80000"/>
                      </a:schemeClr>
                    </a:solidFill>
                  </a:tcPr>
                </a:tc>
                <a:tc>
                  <a:txBody>
                    <a:bodyPr/>
                    <a:lstStyle/>
                    <a:p>
                      <a:pPr algn="r"/>
                      <a:r>
                        <a:rPr lang="en-GB" sz="2000" dirty="0"/>
                        <a:t>Likelihood (1–5)</a:t>
                      </a:r>
                    </a:p>
                  </a:txBody>
                  <a:tcPr anchor="ctr">
                    <a:solidFill>
                      <a:schemeClr val="bg2">
                        <a:lumMod val="20000"/>
                        <a:lumOff val="80000"/>
                      </a:schemeClr>
                    </a:solidFill>
                  </a:tcPr>
                </a:tc>
                <a:tc>
                  <a:txBody>
                    <a:bodyPr/>
                    <a:lstStyle/>
                    <a:p>
                      <a:pPr algn="r"/>
                      <a:r>
                        <a:rPr lang="en-GB" sz="2000" dirty="0"/>
                        <a:t>Impact (1–5)</a:t>
                      </a:r>
                    </a:p>
                  </a:txBody>
                  <a:tcPr anchor="ctr">
                    <a:solidFill>
                      <a:schemeClr val="bg2">
                        <a:lumMod val="20000"/>
                        <a:lumOff val="80000"/>
                      </a:schemeClr>
                    </a:solidFill>
                  </a:tcPr>
                </a:tc>
                <a:tc>
                  <a:txBody>
                    <a:bodyPr/>
                    <a:lstStyle/>
                    <a:p>
                      <a:pPr algn="r"/>
                      <a:r>
                        <a:rPr lang="en-GB" sz="2000" dirty="0"/>
                        <a:t>Risk = L × I</a:t>
                      </a:r>
                    </a:p>
                  </a:txBody>
                  <a:tcPr anchor="ctr">
                    <a:solidFill>
                      <a:schemeClr val="bg2">
                        <a:lumMod val="20000"/>
                        <a:lumOff val="80000"/>
                      </a:schemeClr>
                    </a:solidFill>
                  </a:tcPr>
                </a:tc>
                <a:tc>
                  <a:txBody>
                    <a:bodyPr/>
                    <a:lstStyle/>
                    <a:p>
                      <a:r>
                        <a:rPr lang="en-GB" sz="2000" dirty="0"/>
                        <a:t>Priority</a:t>
                      </a:r>
                    </a:p>
                  </a:txBody>
                  <a:tcPr anchor="ctr">
                    <a:solidFill>
                      <a:schemeClr val="bg2">
                        <a:lumMod val="20000"/>
                        <a:lumOff val="80000"/>
                      </a:schemeClr>
                    </a:solidFill>
                  </a:tcPr>
                </a:tc>
                <a:extLst>
                  <a:ext uri="{0D108BD9-81ED-4DB2-BD59-A6C34878D82A}">
                    <a16:rowId xmlns:a16="http://schemas.microsoft.com/office/drawing/2014/main" val="354069379"/>
                  </a:ext>
                </a:extLst>
              </a:tr>
              <a:tr h="613839">
                <a:tc>
                  <a:txBody>
                    <a:bodyPr/>
                    <a:lstStyle/>
                    <a:p>
                      <a:r>
                        <a:rPr lang="en-GB" sz="2000"/>
                        <a:t>DoS attack on MEC control API</a:t>
                      </a:r>
                    </a:p>
                  </a:txBody>
                  <a:tcPr anchor="ctr"/>
                </a:tc>
                <a:tc>
                  <a:txBody>
                    <a:bodyPr/>
                    <a:lstStyle/>
                    <a:p>
                      <a:pPr algn="r"/>
                      <a:r>
                        <a:rPr lang="en-GB" sz="2000" dirty="0"/>
                        <a:t>4</a:t>
                      </a:r>
                    </a:p>
                  </a:txBody>
                  <a:tcPr anchor="ctr"/>
                </a:tc>
                <a:tc>
                  <a:txBody>
                    <a:bodyPr/>
                    <a:lstStyle/>
                    <a:p>
                      <a:pPr algn="r"/>
                      <a:r>
                        <a:rPr lang="en-GB" sz="2000" dirty="0"/>
                        <a:t>5</a:t>
                      </a:r>
                    </a:p>
                  </a:txBody>
                  <a:tcPr anchor="ctr"/>
                </a:tc>
                <a:tc>
                  <a:txBody>
                    <a:bodyPr/>
                    <a:lstStyle/>
                    <a:p>
                      <a:pPr algn="r"/>
                      <a:r>
                        <a:rPr lang="en-GB" sz="2000" b="1" dirty="0"/>
                        <a:t>20 (High)</a:t>
                      </a:r>
                      <a:endParaRPr lang="en-GB" sz="2000" dirty="0"/>
                    </a:p>
                  </a:txBody>
                  <a:tcPr anchor="ctr"/>
                </a:tc>
                <a:tc>
                  <a:txBody>
                    <a:bodyPr/>
                    <a:lstStyle/>
                    <a:p>
                      <a:r>
                        <a:rPr lang="en-GB" sz="2000" dirty="0"/>
                        <a:t>Mitigate immediately</a:t>
                      </a:r>
                    </a:p>
                  </a:txBody>
                  <a:tcPr anchor="ctr"/>
                </a:tc>
                <a:extLst>
                  <a:ext uri="{0D108BD9-81ED-4DB2-BD59-A6C34878D82A}">
                    <a16:rowId xmlns:a16="http://schemas.microsoft.com/office/drawing/2014/main" val="1494512823"/>
                  </a:ext>
                </a:extLst>
              </a:tr>
            </a:tbl>
          </a:graphicData>
        </a:graphic>
      </p:graphicFrame>
      <p:pic>
        <p:nvPicPr>
          <p:cNvPr id="6" name="Imagen 5">
            <a:extLst>
              <a:ext uri="{FF2B5EF4-FFF2-40B4-BE49-F238E27FC236}">
                <a16:creationId xmlns:a16="http://schemas.microsoft.com/office/drawing/2014/main" id="{7575F84A-763E-48CE-990D-95D7B85140C7}"/>
              </a:ext>
            </a:extLst>
          </p:cNvPr>
          <p:cNvPicPr>
            <a:picLocks noChangeAspect="1"/>
          </p:cNvPicPr>
          <p:nvPr/>
        </p:nvPicPr>
        <p:blipFill>
          <a:blip r:embed="rId5"/>
          <a:stretch>
            <a:fillRect/>
          </a:stretch>
        </p:blipFill>
        <p:spPr>
          <a:xfrm>
            <a:off x="12487552" y="2285463"/>
            <a:ext cx="3765744" cy="3911801"/>
          </a:xfrm>
          <a:prstGeom prst="rect">
            <a:avLst/>
          </a:prstGeom>
        </p:spPr>
      </p:pic>
    </p:spTree>
    <p:extLst>
      <p:ext uri="{BB962C8B-B14F-4D97-AF65-F5344CB8AC3E}">
        <p14:creationId xmlns:p14="http://schemas.microsoft.com/office/powerpoint/2010/main" val="535709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1" name="Google Shape;421;p25"/>
          <p:cNvSpPr txBox="1"/>
          <p:nvPr/>
        </p:nvSpPr>
        <p:spPr>
          <a:xfrm>
            <a:off x="1028699" y="962025"/>
            <a:ext cx="16658665" cy="861583"/>
          </a:xfrm>
          <a:prstGeom prst="rect">
            <a:avLst/>
          </a:prstGeom>
          <a:noFill/>
          <a:ln>
            <a:noFill/>
          </a:ln>
        </p:spPr>
        <p:txBody>
          <a:bodyPr spcFirstLastPara="1" wrap="square" lIns="0" tIns="0" rIns="0" bIns="0" anchor="t" anchorCtr="0">
            <a:spAutoFit/>
          </a:bodyPr>
          <a:lstStyle/>
          <a:p>
            <a:pPr marL="0" marR="0" lvl="0" indent="0" algn="l" rtl="0">
              <a:lnSpc>
                <a:spcPct val="140010"/>
              </a:lnSpc>
              <a:spcBef>
                <a:spcPts val="0"/>
              </a:spcBef>
              <a:spcAft>
                <a:spcPts val="0"/>
              </a:spcAft>
              <a:buNone/>
            </a:pPr>
            <a:r>
              <a:rPr lang="en-US" sz="3999" b="1" i="0" u="none" strike="noStrike" cap="none" dirty="0">
                <a:solidFill>
                  <a:srgbClr val="3A91B9"/>
                </a:solidFill>
                <a:latin typeface="Montserrat"/>
                <a:ea typeface="Montserrat"/>
                <a:cs typeface="Montserrat"/>
                <a:sym typeface="Montserrat"/>
              </a:rPr>
              <a:t>11. </a:t>
            </a:r>
            <a:r>
              <a:rPr lang="en-GB" sz="3999" b="1" i="0" u="none" strike="noStrike" cap="none" dirty="0">
                <a:solidFill>
                  <a:srgbClr val="3A91B9"/>
                </a:solidFill>
                <a:latin typeface="Montserrat"/>
                <a:ea typeface="Montserrat"/>
                <a:cs typeface="Montserrat"/>
                <a:sym typeface="Montserrat"/>
              </a:rPr>
              <a:t>Implement &amp; Validate Mitigation Against Detected Threats</a:t>
            </a:r>
            <a:endParaRPr dirty="0"/>
          </a:p>
        </p:txBody>
      </p:sp>
      <p:sp>
        <p:nvSpPr>
          <p:cNvPr id="5" name="Text 1">
            <a:extLst>
              <a:ext uri="{FF2B5EF4-FFF2-40B4-BE49-F238E27FC236}">
                <a16:creationId xmlns:a16="http://schemas.microsoft.com/office/drawing/2014/main" id="{A953AF25-15D9-476A-B79A-EA26230FA113}"/>
              </a:ext>
            </a:extLst>
          </p:cNvPr>
          <p:cNvSpPr/>
          <p:nvPr/>
        </p:nvSpPr>
        <p:spPr>
          <a:xfrm>
            <a:off x="1028700" y="2144471"/>
            <a:ext cx="16874289" cy="3969458"/>
          </a:xfrm>
          <a:prstGeom prst="rect">
            <a:avLst/>
          </a:prstGeom>
          <a:noFill/>
          <a:ln/>
        </p:spPr>
        <p:txBody>
          <a:bodyPr wrap="square" lIns="0" tIns="0" rIns="0" bIns="0" rtlCol="0" anchor="t"/>
          <a:lstStyle/>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Identify </a:t>
            </a:r>
            <a:r>
              <a:rPr lang="en-GB" sz="2400" b="1" dirty="0">
                <a:solidFill>
                  <a:schemeClr val="tx1"/>
                </a:solidFill>
                <a:latin typeface="Montserrat" pitchFamily="34" charset="0"/>
                <a:ea typeface="Montserrat" pitchFamily="34" charset="-122"/>
                <a:cs typeface="Montserrat" pitchFamily="34" charset="-120"/>
              </a:rPr>
              <a:t>critical services </a:t>
            </a:r>
            <a:r>
              <a:rPr lang="en-GB" sz="2400" dirty="0">
                <a:solidFill>
                  <a:schemeClr val="tx1"/>
                </a:solidFill>
                <a:latin typeface="Montserrat" pitchFamily="34" charset="0"/>
                <a:ea typeface="Montserrat" pitchFamily="34" charset="-122"/>
                <a:cs typeface="Montserrat" pitchFamily="34" charset="-120"/>
              </a:rPr>
              <a:t>that require protection (MEC API)</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Automatically </a:t>
            </a:r>
            <a:r>
              <a:rPr lang="en-GB" sz="2400" b="1" dirty="0">
                <a:solidFill>
                  <a:schemeClr val="tx1"/>
                </a:solidFill>
                <a:latin typeface="Montserrat" pitchFamily="34" charset="0"/>
                <a:ea typeface="Montserrat" pitchFamily="34" charset="-122"/>
                <a:cs typeface="Montserrat" pitchFamily="34" charset="-120"/>
              </a:rPr>
              <a:t>detect and block </a:t>
            </a:r>
            <a:r>
              <a:rPr lang="en-GB" sz="2400" dirty="0">
                <a:solidFill>
                  <a:schemeClr val="tx1"/>
                </a:solidFill>
                <a:latin typeface="Montserrat" pitchFamily="34" charset="0"/>
                <a:ea typeface="Montserrat" pitchFamily="34" charset="-122"/>
                <a:cs typeface="Montserrat" pitchFamily="34" charset="-120"/>
              </a:rPr>
              <a:t>malicious flows at the edge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Maintain </a:t>
            </a:r>
            <a:r>
              <a:rPr lang="en-GB" sz="2400" b="1" dirty="0">
                <a:solidFill>
                  <a:schemeClr val="tx1"/>
                </a:solidFill>
                <a:latin typeface="Montserrat" pitchFamily="34" charset="0"/>
                <a:ea typeface="Montserrat" pitchFamily="34" charset="-122"/>
                <a:cs typeface="Montserrat" pitchFamily="34" charset="-120"/>
              </a:rPr>
              <a:t>system availability </a:t>
            </a:r>
            <a:r>
              <a:rPr lang="en-GB" sz="2400" dirty="0">
                <a:solidFill>
                  <a:schemeClr val="tx1"/>
                </a:solidFill>
                <a:latin typeface="Montserrat" pitchFamily="34" charset="0"/>
                <a:ea typeface="Montserrat" pitchFamily="34" charset="-122"/>
                <a:cs typeface="Montserrat" pitchFamily="34" charset="-120"/>
              </a:rPr>
              <a:t>even under attack</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Reduce </a:t>
            </a:r>
            <a:r>
              <a:rPr lang="en-GB" sz="2400" b="1" dirty="0">
                <a:solidFill>
                  <a:schemeClr val="tx1"/>
                </a:solidFill>
                <a:latin typeface="Montserrat" pitchFamily="34" charset="0"/>
                <a:ea typeface="Montserrat" pitchFamily="34" charset="-122"/>
                <a:cs typeface="Montserrat" pitchFamily="34" charset="-120"/>
              </a:rPr>
              <a:t>impact</a:t>
            </a:r>
            <a:r>
              <a:rPr lang="en-GB" sz="2400" dirty="0">
                <a:solidFill>
                  <a:schemeClr val="tx1"/>
                </a:solidFill>
                <a:latin typeface="Montserrat" pitchFamily="34" charset="0"/>
                <a:ea typeface="Montserrat" pitchFamily="34" charset="-122"/>
                <a:cs typeface="Montserrat" pitchFamily="34" charset="-120"/>
              </a:rPr>
              <a:t> through rate limiting or traffic filtering</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Continuously </a:t>
            </a:r>
            <a:r>
              <a:rPr lang="en-GB" sz="2400" b="1" dirty="0">
                <a:solidFill>
                  <a:schemeClr val="tx1"/>
                </a:solidFill>
                <a:latin typeface="Montserrat" pitchFamily="34" charset="0"/>
                <a:ea typeface="Montserrat" pitchFamily="34" charset="-122"/>
                <a:cs typeface="Montserrat" pitchFamily="34" charset="-120"/>
              </a:rPr>
              <a:t>monitor alerts and system KPIs</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Reassess </a:t>
            </a:r>
            <a:r>
              <a:rPr lang="en-GB" sz="2400" b="1" dirty="0">
                <a:solidFill>
                  <a:schemeClr val="tx1"/>
                </a:solidFill>
                <a:latin typeface="Montserrat" pitchFamily="34" charset="0"/>
                <a:ea typeface="Montserrat" pitchFamily="34" charset="-122"/>
                <a:cs typeface="Montserrat" pitchFamily="34" charset="-120"/>
              </a:rPr>
              <a:t>risk level </a:t>
            </a:r>
            <a:r>
              <a:rPr lang="en-GB" sz="2400" dirty="0">
                <a:solidFill>
                  <a:schemeClr val="tx1"/>
                </a:solidFill>
                <a:latin typeface="Montserrat" pitchFamily="34" charset="0"/>
                <a:ea typeface="Montserrat" pitchFamily="34" charset="-122"/>
                <a:cs typeface="Montserrat" pitchFamily="34" charset="-120"/>
              </a:rPr>
              <a:t>after mitigation is active</a:t>
            </a:r>
          </a:p>
          <a:p>
            <a:pPr marL="342900" indent="-342900" algn="just">
              <a:lnSpc>
                <a:spcPct val="150000"/>
              </a:lnSpc>
              <a:buFont typeface="Arial" panose="020B0604020202020204" pitchFamily="34" charset="0"/>
              <a:buChar char="•"/>
            </a:pPr>
            <a:r>
              <a:rPr lang="en-GB" sz="2400" dirty="0">
                <a:solidFill>
                  <a:schemeClr val="tx1"/>
                </a:solidFill>
                <a:latin typeface="Montserrat" pitchFamily="34" charset="0"/>
                <a:ea typeface="Montserrat" pitchFamily="34" charset="-122"/>
                <a:cs typeface="Montserrat" pitchFamily="34" charset="-120"/>
              </a:rPr>
              <a:t>Document </a:t>
            </a:r>
            <a:r>
              <a:rPr lang="en-GB" sz="2400" b="1" dirty="0">
                <a:solidFill>
                  <a:schemeClr val="tx1"/>
                </a:solidFill>
                <a:latin typeface="Montserrat" pitchFamily="34" charset="0"/>
                <a:ea typeface="Montserrat" pitchFamily="34" charset="-122"/>
                <a:cs typeface="Montserrat" pitchFamily="34" charset="-120"/>
              </a:rPr>
              <a:t>residual risk </a:t>
            </a:r>
            <a:r>
              <a:rPr lang="en-GB" sz="2400" dirty="0">
                <a:solidFill>
                  <a:schemeClr val="tx1"/>
                </a:solidFill>
                <a:latin typeface="Montserrat" pitchFamily="34" charset="0"/>
                <a:ea typeface="Montserrat" pitchFamily="34" charset="-122"/>
                <a:cs typeface="Montserrat" pitchFamily="34" charset="-120"/>
              </a:rPr>
              <a:t>and validate an acceptable security posture</a:t>
            </a:r>
          </a:p>
        </p:txBody>
      </p:sp>
      <p:sp>
        <p:nvSpPr>
          <p:cNvPr id="17" name="Google Shape;419;p25">
            <a:extLst>
              <a:ext uri="{FF2B5EF4-FFF2-40B4-BE49-F238E27FC236}">
                <a16:creationId xmlns:a16="http://schemas.microsoft.com/office/drawing/2014/main" id="{52F72BBB-E180-47D2-AA9A-BA1B6F34210F}"/>
              </a:ext>
            </a:extLst>
          </p:cNvPr>
          <p:cNvSpPr/>
          <p:nvPr/>
        </p:nvSpPr>
        <p:spPr>
          <a:xfrm>
            <a:off x="14902042" y="9368556"/>
            <a:ext cx="3271658" cy="727944"/>
          </a:xfrm>
          <a:custGeom>
            <a:avLst/>
            <a:gdLst/>
            <a:ahLst/>
            <a:cxnLst/>
            <a:rect l="l" t="t" r="r" b="b"/>
            <a:pathLst>
              <a:path w="3271658" h="727944" extrusionOk="0">
                <a:moveTo>
                  <a:pt x="0" y="0"/>
                </a:moveTo>
                <a:lnTo>
                  <a:pt x="3271658" y="0"/>
                </a:lnTo>
                <a:lnTo>
                  <a:pt x="3271658" y="727944"/>
                </a:lnTo>
                <a:lnTo>
                  <a:pt x="0" y="727944"/>
                </a:lnTo>
                <a:lnTo>
                  <a:pt x="0" y="0"/>
                </a:lnTo>
                <a:close/>
              </a:path>
            </a:pathLst>
          </a:custGeom>
          <a:blipFill rotWithShape="1">
            <a:blip r:embed="rId3">
              <a:alphaModFix/>
            </a:blip>
            <a:stretch>
              <a:fillRect/>
            </a:stretch>
          </a:blipFill>
          <a:ln>
            <a:noFill/>
          </a:ln>
        </p:spPr>
      </p:sp>
      <p:sp>
        <p:nvSpPr>
          <p:cNvPr id="18" name="Google Shape;420;p25">
            <a:extLst>
              <a:ext uri="{FF2B5EF4-FFF2-40B4-BE49-F238E27FC236}">
                <a16:creationId xmlns:a16="http://schemas.microsoft.com/office/drawing/2014/main" id="{FCF1FCB2-71B0-4573-9768-2D4E907877F0}"/>
              </a:ext>
            </a:extLst>
          </p:cNvPr>
          <p:cNvSpPr/>
          <p:nvPr/>
        </p:nvSpPr>
        <p:spPr>
          <a:xfrm>
            <a:off x="13204023" y="9368556"/>
            <a:ext cx="1698018" cy="727944"/>
          </a:xfrm>
          <a:custGeom>
            <a:avLst/>
            <a:gdLst/>
            <a:ahLst/>
            <a:cxnLst/>
            <a:rect l="l" t="t" r="r" b="b"/>
            <a:pathLst>
              <a:path w="1698018" h="727944" extrusionOk="0">
                <a:moveTo>
                  <a:pt x="0" y="0"/>
                </a:moveTo>
                <a:lnTo>
                  <a:pt x="1698019" y="0"/>
                </a:lnTo>
                <a:lnTo>
                  <a:pt x="1698019" y="727944"/>
                </a:lnTo>
                <a:lnTo>
                  <a:pt x="0" y="727944"/>
                </a:lnTo>
                <a:lnTo>
                  <a:pt x="0" y="0"/>
                </a:lnTo>
                <a:close/>
              </a:path>
            </a:pathLst>
          </a:custGeom>
          <a:blipFill rotWithShape="1">
            <a:blip r:embed="rId4">
              <a:alphaModFix/>
            </a:blip>
            <a:stretch>
              <a:fillRect/>
            </a:stretch>
          </a:blipFill>
          <a:ln>
            <a:noFill/>
          </a:ln>
        </p:spPr>
      </p:sp>
    </p:spTree>
    <p:extLst>
      <p:ext uri="{BB962C8B-B14F-4D97-AF65-F5344CB8AC3E}">
        <p14:creationId xmlns:p14="http://schemas.microsoft.com/office/powerpoint/2010/main" val="20891365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4399</TotalTime>
  <Words>4983</Words>
  <Application>Microsoft Office PowerPoint</Application>
  <PresentationFormat>Personalizado</PresentationFormat>
  <Paragraphs>199</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Montserrat</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Álex SATRD</dc:creator>
  <cp:lastModifiedBy>Benjamin Molina Moreno</cp:lastModifiedBy>
  <cp:revision>221</cp:revision>
  <dcterms:created xsi:type="dcterms:W3CDTF">2006-08-16T00:00:00Z</dcterms:created>
  <dcterms:modified xsi:type="dcterms:W3CDTF">2025-12-06T20:15:08Z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0x01010072C04B74EAD8E9439FAD3EE2FEDD4B27</vt:lpwstr>
  </property>
</Properties>
</file>